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72" r:id="rId3"/>
    <p:sldId id="271" r:id="rId4"/>
    <p:sldId id="280" r:id="rId5"/>
    <p:sldId id="305" r:id="rId6"/>
    <p:sldId id="306" r:id="rId7"/>
    <p:sldId id="313" r:id="rId8"/>
    <p:sldId id="314" r:id="rId9"/>
    <p:sldId id="307" r:id="rId10"/>
    <p:sldId id="308" r:id="rId11"/>
    <p:sldId id="319" r:id="rId12"/>
    <p:sldId id="326" r:id="rId13"/>
    <p:sldId id="281" r:id="rId14"/>
    <p:sldId id="316" r:id="rId15"/>
    <p:sldId id="330" r:id="rId16"/>
    <p:sldId id="325" r:id="rId17"/>
    <p:sldId id="327" r:id="rId18"/>
    <p:sldId id="328" r:id="rId19"/>
    <p:sldId id="320" r:id="rId20"/>
    <p:sldId id="321" r:id="rId21"/>
    <p:sldId id="302" r:id="rId22"/>
    <p:sldId id="301" r:id="rId23"/>
    <p:sldId id="331" r:id="rId24"/>
    <p:sldId id="332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DD573E-9BB5-41D0-BB2B-D6C260D90B3D}" v="3" dt="2025-11-24T10:42:55.115"/>
    <p1510:client id="{A7D09D0D-1E36-05AD-9758-F55EA15F7DB5}" v="812" dt="2025-11-24T10:57:34.558"/>
    <p1510:client id="{D4EAFD63-6BF9-246C-F29E-199065CAAB40}" v="11" dt="2025-11-24T10:46:13.3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7" d="100"/>
          <a:sy n="147" d="100"/>
        </p:scale>
        <p:origin x="69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525C98-7F71-4B45-AC70-93B35C985B8C}" type="datetimeFigureOut">
              <a:rPr lang="en-IE" smtClean="0"/>
              <a:t>25/11/2025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154516-EF1C-4918-B28D-D88E10175B50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9824669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F6D66-9B0C-8870-3152-306A2AFDD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A3FDAC-9ECA-98AB-83BD-7EDD57FE30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6D2BDB-8D31-76EE-01BF-5D7243F291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/>
              <a:t>https://www.garda.ie/en/about-us/our-departments/garda-national-crime-security-intelligence-service1/</a:t>
            </a:r>
          </a:p>
          <a:p>
            <a:r>
              <a:rPr lang="en-IE"/>
              <a:t>https://digital.jmpublishing.ie/i/1539308-an-cosantoir-july-august-2025/5?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E71F13-E788-5419-12DC-5330896CF8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154516-EF1C-4918-B28D-D88E10175B50}" type="slidenum">
              <a:rPr lang="en-IE" smtClean="0"/>
              <a:t>4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530718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8F163-0032-B3A5-5E70-1533749AC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5CF82E-AA69-2775-BAE6-24A21E42AE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FAF26A-7C20-7406-F8E2-B0B139953B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D488AB-327E-82CD-1993-F985F22AB8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154516-EF1C-4918-B28D-D88E10175B50}" type="slidenum">
              <a:rPr lang="en-IE" smtClean="0"/>
              <a:t>5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232546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69425-903B-48D1-9406-7CA2BF6C0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F13CCE-AD44-CC54-5B49-62762AD746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27C088-DC9B-CB7F-D62B-F6CF97D589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EB03D0-F5FB-AE4B-5560-2E1BBFA843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154516-EF1C-4918-B28D-D88E10175B50}" type="slidenum">
              <a:rPr lang="en-IE" smtClean="0"/>
              <a:t>6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5137387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365AE-BD01-F102-3A9D-3FE0D6DB8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800159-1F04-0AF5-1E6C-81978B71D7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8201C3-18AF-4AC8-8E8D-F2817C070D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B87850-3421-E524-45C7-A136EE9DAE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154516-EF1C-4918-B28D-D88E10175B50}" type="slidenum">
              <a:rPr lang="en-IE" smtClean="0"/>
              <a:t>7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6505905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88E91-7E87-D2D9-B142-116B66B5C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336E73-6FF0-3B17-045C-61CB9FA0EC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E9D198-C0AA-4008-BD55-EE8DA39B71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4BF9FC-BD70-2B34-31FC-624A570409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154516-EF1C-4918-B28D-D88E10175B50}" type="slidenum">
              <a:rPr lang="en-IE" smtClean="0"/>
              <a:t>8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6443468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65837-4BD2-B4B6-C827-208C4AB55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8878EC-5FA2-AFA3-996B-9E1F68D3CA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6C4802-9160-3D04-19CC-633DD3030E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64A45A-FCD4-173D-6206-56269679D3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154516-EF1C-4918-B28D-D88E10175B50}" type="slidenum">
              <a:rPr lang="en-IE" smtClean="0"/>
              <a:t>9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222137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918F2-ABF6-1FB3-30E3-39D8B358B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63FEF7-75C2-4E4D-B5E9-D8B66CCC86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AD93E3-412B-2F9F-7326-C462B16974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05752F-2CF3-507C-EB9C-8E0B1A889B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154516-EF1C-4918-B28D-D88E10175B50}" type="slidenum">
              <a:rPr lang="en-IE" smtClean="0"/>
              <a:t>10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5154419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729FE-99B7-56A7-4316-0CEADDDCB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5767AE-937B-9586-F788-CCC50D6330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D7023A-0DC8-0B14-ECE6-45E6859759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601653-D45D-5E31-F778-9745BD4583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154516-EF1C-4918-B28D-D88E10175B50}" type="slidenum">
              <a:rPr lang="en-IE" smtClean="0"/>
              <a:t>11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8017627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0F8BF6-24FB-65E4-5B6F-A2A86FD1F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9D667E-E062-447A-E250-9F4708E83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1FDC9C-640A-D846-25BF-7349C2DEA7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05B92-9471-E9F3-3B2C-FEAE87EA14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154516-EF1C-4918-B28D-D88E10175B50}" type="slidenum">
              <a:rPr lang="en-IE" smtClean="0"/>
              <a:t>12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5954538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A3850B-B05E-FBF5-B754-90B7C1E8E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C46D91-6301-939B-4654-6713EEDD7F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3402A7-209D-8FE5-CAB7-093F1B99BF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69CC6E-6521-F36A-5438-E2C9BF2F9E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154516-EF1C-4918-B28D-D88E10175B50}" type="slidenum">
              <a:rPr lang="en-IE" smtClean="0"/>
              <a:t>13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2924791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A3850B-B05E-FBF5-B754-90B7C1E8E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C46D91-6301-939B-4654-6713EEDD7F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3402A7-209D-8FE5-CAB7-093F1B99BF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69CC6E-6521-F36A-5438-E2C9BF2F9E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154516-EF1C-4918-B28D-D88E10175B50}" type="slidenum">
              <a:rPr lang="en-IE" smtClean="0"/>
              <a:t>14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2924791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A88FE-F89F-B234-43F1-30CF44DDF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E9CB7F-6842-901A-E26A-184E50D884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D16FEA-A832-FDA3-3CE0-AC9D1A908E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/>
              <a:t>https://www.garda.ie/en/about-us/our-departments/garda-national-crime-security-intelligence-service1/</a:t>
            </a:r>
          </a:p>
          <a:p>
            <a:r>
              <a:rPr lang="en-IE"/>
              <a:t>https://digital.jmpublishing.ie/i/1539308-an-cosantoir-july-august-2025/5?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1D20BD-E821-79AA-EB31-E4EB3DBDF5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154516-EF1C-4918-B28D-D88E10175B50}" type="slidenum">
              <a:rPr lang="en-IE" smtClean="0"/>
              <a:t>15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2102667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41DC6-AC17-70D9-8C21-09D66A1D7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8CF750-BA8E-0AA9-A4AD-D4D385BFB5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2D5F21-5E91-E7A2-39E1-59B0A1115C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528311-7A22-5F2C-137B-2E972AF4F7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154516-EF1C-4918-B28D-D88E10175B50}" type="slidenum">
              <a:rPr lang="en-IE" smtClean="0"/>
              <a:t>16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88707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AF4A2-24B6-5594-BFD5-A5F4814E7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A8A723-02E6-F673-6C67-11565D1A07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93D8CF-304D-C1BD-E879-A4D4CA8673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822CF4-E246-8C0A-1350-CEA8117622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154516-EF1C-4918-B28D-D88E10175B50}" type="slidenum">
              <a:rPr lang="en-IE" smtClean="0"/>
              <a:t>17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1710199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65C69-4CE7-7B2D-6C6B-75E3C0457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1A270D-B6DB-FA24-AD52-A9786EF372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CD9CEB-A0B4-9A35-E420-DFACA1DD3E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/>
              <a:t>FOI = Freedom of </a:t>
            </a:r>
            <a:r>
              <a:rPr lang="en-IE" err="1"/>
              <a:t>Infromation</a:t>
            </a:r>
          </a:p>
          <a:p>
            <a:r>
              <a:rPr lang="en-IE"/>
              <a:t>NAB = National Assessments Bureau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C897AD-9216-C73C-AF94-290626D8BC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154516-EF1C-4918-B28D-D88E10175B50}" type="slidenum">
              <a:rPr lang="en-IE" smtClean="0"/>
              <a:t>18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01012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A27E82-AF5B-677A-3242-AFE1AD53A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A8CE2E-0715-E4D6-83AF-AAC5EB9D42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240294-BED4-2A0A-EE44-4DEB45031A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60267B-CA7D-6927-B7C1-908F4B0072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154516-EF1C-4918-B28D-D88E10175B50}" type="slidenum">
              <a:rPr lang="en-IE" smtClean="0"/>
              <a:t>19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8156652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02873-4995-A915-D443-8041CC47F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A1CCA7-03E7-806B-A567-B5B64C0C6F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7ACD0D-713E-16D5-B4B6-B2929198B8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E0B17B-2F84-0AB1-2798-A44E846958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154516-EF1C-4918-B28D-D88E10175B50}" type="slidenum">
              <a:rPr lang="en-IE" smtClean="0"/>
              <a:t>20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7413778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9BF20-963A-9B6F-D862-6052165C2A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BD73E5-4512-163B-08FD-CC218478B6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612B3A-0227-7981-BD13-E8369FBE8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EEBC2-4A3A-401B-AD01-F985D672D69A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01CF30-4126-B402-42F8-1091935CD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3FFA8-D4FA-4E6A-82CE-BC60A6B8B6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2340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5617C-31B7-F69E-A190-6119CD746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78C49E-E8D6-54F4-6F21-4E11A474CE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5D2D5D-EC4F-1A65-DB1D-66C3423F7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EEBC2-4A3A-401B-AD01-F985D672D69A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C338FF-A504-0D49-7CCC-AB985DF15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Restricted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6CBB6E-EEB6-C3AD-02A3-42C5DFD49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3FFA8-D4FA-4E6A-82CE-BC60A6B8B6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1804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D67D9-62AA-FCA0-565A-E8D84A74A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F06C2E-B404-0E94-EF90-A8C8FF219C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2C870C-CD5C-99DC-BCE7-E8BDE3167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EEBC2-4A3A-401B-AD01-F985D672D69A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8730EB-4498-06BA-9F0C-431CC2C68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Restricted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AD073A-C239-AF78-A48F-C5EF5CDAB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3FFA8-D4FA-4E6A-82CE-BC60A6B8B6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8479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A6343-B1E0-8CDB-7600-63CE596D7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FDFEB-11D9-9F60-95C4-848F6D70E1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36A552-17AB-7688-145F-A3B8D0F8C3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87839C-B4AF-1BD6-F3B3-1F3D5AD4F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EEBC2-4A3A-401B-AD01-F985D672D69A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1CF237-3629-D8BC-332F-44152A0A6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Restricted</a:t>
            </a:r>
          </a:p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FCED0D-E236-180C-6391-E18D4B15D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3FFA8-D4FA-4E6A-82CE-BC60A6B8B6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30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EA2D7-5A25-D1FB-4533-B4A7870FC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2C31AA-B8BE-ABF5-42FE-DFB5404621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B75A14-775C-2EFC-2EB6-434BBFED81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FDAD7E-E4A5-61C0-8C6C-D834E5C4BE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2E9854-423B-1941-2032-E3856C54E7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CBF208-60A5-2DA2-8F44-A68E1CCDD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EEBC2-4A3A-401B-AD01-F985D672D69A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46C02B-9CDB-F9E4-7491-602D8D885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Restricted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4EE94C-EE5D-2C2E-6B67-63E52D557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3FFA8-D4FA-4E6A-82CE-BC60A6B8B6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81298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23F55-C788-431C-AD0D-A0FCB8E53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27BE60-6B2C-EF69-2B38-B7A903497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EEBC2-4A3A-401B-AD01-F985D672D69A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7B6AF7-5240-2DEC-28E3-2017F1FF8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Restricted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3D169A-7D28-E0E9-3682-3A3E3CAA5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3FFA8-D4FA-4E6A-82CE-BC60A6B8B6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9692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204615-BCE4-386C-9449-BA4A16D40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EEBC2-4A3A-401B-AD01-F985D672D69A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B30E44-BCCB-A75A-F013-0B24595D5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Restricted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51A2CB-D6F2-979A-D78E-C69B6D26C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3FFA8-D4FA-4E6A-82CE-BC60A6B8B6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75105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7A1A0-8409-496F-6DB4-F8FD1F111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13151D-E089-01A8-625F-2272EA255D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7BB287-75EE-DB88-420B-11D10CA1EA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732EE5-3E71-CE9D-3CBF-EF439814F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EEBC2-4A3A-401B-AD01-F985D672D69A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4B9FE9-B32E-6390-77F8-421F52D44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Restricted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5FAF3A-698A-4384-44E1-7CF8A13C6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3FFA8-D4FA-4E6A-82CE-BC60A6B8B6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4264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F44FD-EF0B-E506-3C25-4204CEF52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A31B7D-30E9-9466-CF7D-33AE4C5738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AEDE72-D229-A2AA-0487-4DA1DDBBCE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2054BB-24C6-1747-2AAD-068ED2814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EEBC2-4A3A-401B-AD01-F985D672D69A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C1E021-AC09-C537-39CD-B63AF56EC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D249ED-7476-CB5D-6AF0-396DA7356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3FFA8-D4FA-4E6A-82CE-BC60A6B8B6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97304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1C5F1-6341-0914-207B-3B88832A9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B38DC7-D49B-3CBB-2804-350A2B8B90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CFC55-6055-00F1-0E91-D48F0A179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EEBC2-4A3A-401B-AD01-F985D672D69A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1E0E63-71BC-1E15-37AF-04340BAD5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D11366-C4DD-C114-F39C-1D94C4C98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3FFA8-D4FA-4E6A-82CE-BC60A6B8B6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6204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3156EE-0F7E-1478-72C1-98AC224A0E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A16C28-49F2-1202-D2CE-6E4E9C9CC5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BA3DBA-CAF0-A609-3D98-8448B1FB9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EEBC2-4A3A-401B-AD01-F985D672D69A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85B7E4-D86E-1BAF-1549-E998E5184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1916A7-A92E-83D1-8639-0D44E3733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3FFA8-D4FA-4E6A-82CE-BC60A6B8B6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1051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F79EBA-A871-3829-7272-5FC6A54CC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F23538-A597-5A80-B4BF-47EE3A7999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F35482-BCD2-578B-304F-863D741D96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6EEBC2-4A3A-401B-AD01-F985D672D69A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7EABD-3DDC-6CEF-43E3-E5C596C1AE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Restricted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741671-DD66-1303-F257-FC34DF97F3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A3FFA8-D4FA-4E6A-82CE-BC60A6B8B6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5808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gi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gi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70EE4-AA8B-16B6-F2E6-D944BCE598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0186" y="646011"/>
            <a:ext cx="11611627" cy="1539464"/>
          </a:xfrm>
        </p:spPr>
        <p:txBody>
          <a:bodyPr>
            <a:normAutofit/>
          </a:bodyPr>
          <a:lstStyle/>
          <a:p>
            <a:r>
              <a:rPr lang="en-GB" sz="4800" b="1"/>
              <a:t>Securing Tomorrow, Today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D4D08B-0D46-AAA5-19E4-8E74E8B7D9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3984" y="2017386"/>
            <a:ext cx="11073008" cy="4320784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GB"/>
          </a:p>
          <a:p>
            <a:endParaRPr lang="en-GB"/>
          </a:p>
          <a:p>
            <a:r>
              <a:rPr lang="en-GB" sz="2800"/>
              <a:t>How well is </a:t>
            </a:r>
            <a:r>
              <a:rPr lang="en-GB" sz="2800">
                <a:solidFill>
                  <a:srgbClr val="FF0000"/>
                </a:solidFill>
              </a:rPr>
              <a:t>Ireland’s intelligence structures</a:t>
            </a:r>
            <a:r>
              <a:rPr lang="en-GB" sz="2800">
                <a:solidFill>
                  <a:srgbClr val="FFC000"/>
                </a:solidFill>
              </a:rPr>
              <a:t> </a:t>
            </a:r>
            <a:r>
              <a:rPr lang="en-GB" sz="2800"/>
              <a:t>responding to 21st-century threats like cyberattacks, espionage, and terrorism, and what are the key </a:t>
            </a:r>
            <a:r>
              <a:rPr lang="en-GB" sz="2800">
                <a:solidFill>
                  <a:srgbClr val="FF0000"/>
                </a:solidFill>
              </a:rPr>
              <a:t>challenges and opportunities</a:t>
            </a:r>
            <a:r>
              <a:rPr lang="en-GB" sz="2800"/>
              <a:t> in building a modern, effective intelligence capability?</a:t>
            </a:r>
            <a:endParaRPr lang="en-GB"/>
          </a:p>
          <a:p>
            <a:endParaRPr lang="en-GB" sz="2000"/>
          </a:p>
          <a:p>
            <a:r>
              <a:rPr lang="en-GB" sz="2000"/>
              <a:t>Commandant Adam Beatty, Major Romin Pousson</a:t>
            </a:r>
            <a:endParaRPr lang="en-GB"/>
          </a:p>
          <a:p>
            <a:endParaRPr lang="en-GB" sz="2000"/>
          </a:p>
          <a:p>
            <a:r>
              <a:rPr lang="en-GB" sz="2000"/>
              <a:t>25 November 2025 </a:t>
            </a:r>
          </a:p>
          <a:p>
            <a:endParaRPr lang="en-GB"/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34013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17266-8F19-EA47-2CC0-C91CB0629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55902-65D8-4623-4066-5311D2F40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399" y="93728"/>
            <a:ext cx="10515600" cy="576457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/>
              <a:t>EXECUTIVE SUMMARY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F292045-2771-6B8B-2B06-94FC9494686E}"/>
              </a:ext>
            </a:extLst>
          </p:cNvPr>
          <p:cNvSpPr/>
          <p:nvPr/>
        </p:nvSpPr>
        <p:spPr>
          <a:xfrm>
            <a:off x="984052" y="815439"/>
            <a:ext cx="10588776" cy="494807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AAA6919-4835-2494-7319-E6E47416FB9B}"/>
              </a:ext>
            </a:extLst>
          </p:cNvPr>
          <p:cNvSpPr txBox="1"/>
          <p:nvPr/>
        </p:nvSpPr>
        <p:spPr>
          <a:xfrm>
            <a:off x="1317604" y="915824"/>
            <a:ext cx="10119702" cy="489364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2400">
                <a:solidFill>
                  <a:schemeClr val="bg1"/>
                </a:solidFill>
              </a:rPr>
              <a:t>While Garda NCSIS is legislated as the "security services", in practice IMIS ICCW NSAC are the defensive intelligence arms of the state</a:t>
            </a:r>
          </a:p>
          <a:p>
            <a:pPr algn="ctr"/>
            <a:endParaRPr lang="en-GB" sz="2400">
              <a:solidFill>
                <a:schemeClr val="bg1"/>
              </a:solidFill>
            </a:endParaRPr>
          </a:p>
          <a:p>
            <a:pPr algn="ctr"/>
            <a:r>
              <a:rPr lang="en-GB" sz="2400">
                <a:solidFill>
                  <a:schemeClr val="bg1"/>
                </a:solidFill>
              </a:rPr>
              <a:t>Decisive lacuna: </a:t>
            </a:r>
            <a:r>
              <a:rPr lang="en-GB" sz="2400">
                <a:solidFill>
                  <a:srgbClr val="FFC000"/>
                </a:solidFill>
              </a:rPr>
              <a:t>Irelands' structures are internationally-comparable, the absence of a national security strategy cripples 'direction'</a:t>
            </a:r>
          </a:p>
          <a:p>
            <a:pPr algn="ctr"/>
            <a:endParaRPr lang="en-GB" sz="2400">
              <a:solidFill>
                <a:schemeClr val="bg1"/>
              </a:solidFill>
            </a:endParaRPr>
          </a:p>
          <a:p>
            <a:pPr algn="ctr"/>
            <a:r>
              <a:rPr lang="en-GB" sz="2400">
                <a:solidFill>
                  <a:schemeClr val="bg1"/>
                </a:solidFill>
              </a:rPr>
              <a:t>A notable lacuna exists pertaining to the collection of metadata </a:t>
            </a:r>
            <a:endParaRPr lang="en-GB">
              <a:solidFill>
                <a:schemeClr val="bg1"/>
              </a:solidFill>
            </a:endParaRPr>
          </a:p>
          <a:p>
            <a:pPr algn="ctr"/>
            <a:endParaRPr lang="en-GB" sz="2400">
              <a:solidFill>
                <a:srgbClr val="FFFFFF"/>
              </a:solidFill>
            </a:endParaRPr>
          </a:p>
          <a:p>
            <a:pPr algn="ctr"/>
            <a:r>
              <a:rPr lang="en-GB" sz="2400">
                <a:solidFill>
                  <a:srgbClr val="FFFFFF"/>
                </a:solidFill>
              </a:rPr>
              <a:t>Ireland has no dedicated civil service career stream or National Security Adviser role – unlike the UK system we otherwise follow</a:t>
            </a:r>
            <a:endParaRPr lang="en-GB"/>
          </a:p>
          <a:p>
            <a:pPr algn="ctr"/>
            <a:endParaRPr lang="en-GB" sz="2400">
              <a:solidFill>
                <a:schemeClr val="bg1"/>
              </a:solidFill>
            </a:endParaRPr>
          </a:p>
          <a:p>
            <a:pPr algn="ctr"/>
            <a:r>
              <a:rPr lang="en-GB" sz="2400">
                <a:solidFill>
                  <a:schemeClr val="bg1"/>
                </a:solidFill>
              </a:rPr>
              <a:t>Ireland's secretive approach is immature and in contrast to others' Janowitzian approach to CMR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C839E9-6988-3C14-DC03-928A41DCCFE0}"/>
              </a:ext>
            </a:extLst>
          </p:cNvPr>
          <p:cNvSpPr txBox="1"/>
          <p:nvPr/>
        </p:nvSpPr>
        <p:spPr>
          <a:xfrm>
            <a:off x="693" y="6162386"/>
            <a:ext cx="5098472" cy="9541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/>
              <a:t>National Crime &amp; Security Intelligence Service (</a:t>
            </a:r>
            <a:r>
              <a:rPr lang="en-GB" sz="1400">
                <a:solidFill>
                  <a:srgbClr val="FF0000"/>
                </a:solidFill>
              </a:rPr>
              <a:t>NCSIS</a:t>
            </a:r>
            <a:r>
              <a:rPr lang="en-GB" sz="1400"/>
              <a:t>)</a:t>
            </a:r>
            <a:endParaRPr lang="en-IE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/>
              <a:t>Irish Military Intelligence Service (</a:t>
            </a:r>
            <a:r>
              <a:rPr lang="en-GB" sz="1400">
                <a:solidFill>
                  <a:srgbClr val="FF0000"/>
                </a:solidFill>
              </a:rPr>
              <a:t>IMIS</a:t>
            </a:r>
            <a:r>
              <a:rPr lang="en-GB" sz="1400"/>
              <a:t>)</a:t>
            </a:r>
            <a:endParaRPr lang="en-IE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/>
              <a:t>National Security Analysis Centre (</a:t>
            </a:r>
            <a:r>
              <a:rPr lang="en-GB" sz="1400">
                <a:solidFill>
                  <a:srgbClr val="FF0000"/>
                </a:solidFill>
              </a:rPr>
              <a:t>NSAC</a:t>
            </a:r>
            <a:r>
              <a:rPr lang="en-GB" sz="1400"/>
              <a:t>)</a:t>
            </a:r>
          </a:p>
          <a:p>
            <a:endParaRPr lang="en-GB" sz="1400"/>
          </a:p>
        </p:txBody>
      </p:sp>
    </p:spTree>
    <p:extLst>
      <p:ext uri="{BB962C8B-B14F-4D97-AF65-F5344CB8AC3E}">
        <p14:creationId xmlns:p14="http://schemas.microsoft.com/office/powerpoint/2010/main" val="20574823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F985D-1100-E4B2-29E9-C8B51199B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399" y="93728"/>
            <a:ext cx="10515600" cy="845398"/>
          </a:xfrm>
        </p:spPr>
        <p:txBody>
          <a:bodyPr/>
          <a:lstStyle/>
          <a:p>
            <a:pPr algn="ctr"/>
            <a:r>
              <a:rPr lang="en-GB" b="1"/>
              <a:t>Presentation Structure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2739E03-CA1E-EA76-38C2-A71E66B8AD6E}"/>
              </a:ext>
            </a:extLst>
          </p:cNvPr>
          <p:cNvSpPr/>
          <p:nvPr/>
        </p:nvSpPr>
        <p:spPr>
          <a:xfrm>
            <a:off x="534997" y="1023805"/>
            <a:ext cx="11433617" cy="84494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5D6C0A-45B9-549E-781B-D7630B8F5EDA}"/>
              </a:ext>
            </a:extLst>
          </p:cNvPr>
          <p:cNvSpPr txBox="1"/>
          <p:nvPr/>
        </p:nvSpPr>
        <p:spPr>
          <a:xfrm>
            <a:off x="1269152" y="1079794"/>
            <a:ext cx="9649055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4000">
                <a:solidFill>
                  <a:schemeClr val="bg1"/>
                </a:solidFill>
              </a:rPr>
              <a:t>Executive Summary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87C3124-37CD-4351-7FF2-5E745D5392D0}"/>
              </a:ext>
            </a:extLst>
          </p:cNvPr>
          <p:cNvSpPr/>
          <p:nvPr/>
        </p:nvSpPr>
        <p:spPr>
          <a:xfrm>
            <a:off x="645644" y="5622945"/>
            <a:ext cx="11433617" cy="84494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A4FCF93-C7DA-774F-DB70-E377DDA5F4E1}"/>
              </a:ext>
            </a:extLst>
          </p:cNvPr>
          <p:cNvSpPr txBox="1"/>
          <p:nvPr/>
        </p:nvSpPr>
        <p:spPr>
          <a:xfrm>
            <a:off x="1269152" y="5690657"/>
            <a:ext cx="9649055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400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0E2F440-258A-7B0C-C36B-31F2CB6CCF12}"/>
              </a:ext>
            </a:extLst>
          </p:cNvPr>
          <p:cNvSpPr/>
          <p:nvPr/>
        </p:nvSpPr>
        <p:spPr>
          <a:xfrm>
            <a:off x="592944" y="2145134"/>
            <a:ext cx="5585581" cy="294641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6F4BF78-1561-7FF3-159A-1D39EB876145}"/>
              </a:ext>
            </a:extLst>
          </p:cNvPr>
          <p:cNvSpPr txBox="1"/>
          <p:nvPr/>
        </p:nvSpPr>
        <p:spPr>
          <a:xfrm>
            <a:off x="630912" y="1699536"/>
            <a:ext cx="5556431" cy="440704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en-GB" sz="2800">
              <a:solidFill>
                <a:schemeClr val="bg1"/>
              </a:solidFill>
            </a:endParaRPr>
          </a:p>
          <a:p>
            <a:pPr marL="342900" indent="-342900" algn="ctr">
              <a:buFont typeface="Arial"/>
              <a:buChar char="•"/>
            </a:pPr>
            <a:endParaRPr lang="en-GB" sz="2400">
              <a:solidFill>
                <a:schemeClr val="bg1"/>
              </a:solidFill>
            </a:endParaRPr>
          </a:p>
          <a:p>
            <a:pPr marL="342900" indent="-342900" algn="ctr">
              <a:buFont typeface="Arial"/>
              <a:buChar char="•"/>
            </a:pPr>
            <a:r>
              <a:rPr lang="en-GB" sz="2800">
                <a:solidFill>
                  <a:schemeClr val="bg1"/>
                </a:solidFill>
              </a:rPr>
              <a:t>Existing structures</a:t>
            </a:r>
          </a:p>
          <a:p>
            <a:pPr marL="342900" indent="-342900" algn="ctr">
              <a:buFont typeface="Arial"/>
              <a:buChar char="•"/>
            </a:pPr>
            <a:endParaRPr lang="en-GB" sz="2800">
              <a:solidFill>
                <a:schemeClr val="bg1"/>
              </a:solidFill>
            </a:endParaRPr>
          </a:p>
          <a:p>
            <a:pPr marL="342900" indent="-342900" algn="ctr">
              <a:buFont typeface="Arial"/>
              <a:buChar char="•"/>
            </a:pPr>
            <a:r>
              <a:rPr lang="en-GB" sz="2800">
                <a:solidFill>
                  <a:schemeClr val="bg1"/>
                </a:solidFill>
              </a:rPr>
              <a:t>Key legislation</a:t>
            </a:r>
          </a:p>
          <a:p>
            <a:pPr marL="342900" indent="-342900" algn="ctr">
              <a:buFont typeface="Arial"/>
              <a:buChar char="•"/>
            </a:pPr>
            <a:endParaRPr lang="en-GB" sz="2800">
              <a:solidFill>
                <a:schemeClr val="bg1"/>
              </a:solidFill>
            </a:endParaRPr>
          </a:p>
          <a:p>
            <a:pPr marL="342900" indent="-342900" algn="ctr">
              <a:buFont typeface="Arial"/>
              <a:buChar char="•"/>
            </a:pPr>
            <a:r>
              <a:rPr lang="en-GB" sz="2800">
                <a:solidFill>
                  <a:schemeClr val="bg1"/>
                </a:solidFill>
              </a:rPr>
              <a:t>Civil servants</a:t>
            </a:r>
          </a:p>
          <a:p>
            <a:pPr algn="ctr"/>
            <a:endParaRPr lang="en-GB" sz="2800">
              <a:solidFill>
                <a:schemeClr val="bg1"/>
              </a:solidFill>
            </a:endParaRPr>
          </a:p>
          <a:p>
            <a:pPr algn="ctr"/>
            <a:endParaRPr lang="en-GB" sz="2800">
              <a:solidFill>
                <a:schemeClr val="bg1"/>
              </a:solidFill>
            </a:endParaRPr>
          </a:p>
          <a:p>
            <a:pPr algn="ctr"/>
            <a:endParaRPr lang="en-GB" sz="2400">
              <a:solidFill>
                <a:schemeClr val="bg1"/>
              </a:solidFill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782D6B2-6880-65CC-86D6-0C0E2731D742}"/>
              </a:ext>
            </a:extLst>
          </p:cNvPr>
          <p:cNvSpPr/>
          <p:nvPr/>
        </p:nvSpPr>
        <p:spPr>
          <a:xfrm>
            <a:off x="6365170" y="2143578"/>
            <a:ext cx="5210442" cy="294641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8FD4B52-32CA-8196-42BF-24C0557EB703}"/>
              </a:ext>
            </a:extLst>
          </p:cNvPr>
          <p:cNvSpPr txBox="1"/>
          <p:nvPr/>
        </p:nvSpPr>
        <p:spPr>
          <a:xfrm>
            <a:off x="6367969" y="1406264"/>
            <a:ext cx="5203239" cy="455509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en-GB" sz="2400">
              <a:solidFill>
                <a:schemeClr val="bg1"/>
              </a:solidFill>
            </a:endParaRPr>
          </a:p>
          <a:p>
            <a:pPr marL="342900" indent="-342900" algn="ctr">
              <a:buFont typeface="Arial" panose="020B0604020202020204" pitchFamily="34" charset="0"/>
              <a:buChar char="•"/>
            </a:pPr>
            <a:endParaRPr lang="en-GB" sz="2400">
              <a:solidFill>
                <a:schemeClr val="bg1"/>
              </a:solidFill>
            </a:endParaRPr>
          </a:p>
          <a:p>
            <a:pPr marL="342900" indent="-342900" algn="ctr">
              <a:buFont typeface="Arial" panose="020B0604020202020204" pitchFamily="34" charset="0"/>
              <a:buChar char="•"/>
            </a:pPr>
            <a:endParaRPr lang="en-GB" sz="2800">
              <a:solidFill>
                <a:schemeClr val="bg1"/>
              </a:solidFill>
            </a:endParaRP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GB" sz="2800">
                <a:solidFill>
                  <a:schemeClr val="bg1"/>
                </a:solidFill>
              </a:rPr>
              <a:t>Ireland's threat evolution</a:t>
            </a:r>
            <a:endParaRPr lang="en-GB">
              <a:solidFill>
                <a:schemeClr val="bg1"/>
              </a:solidFill>
            </a:endParaRPr>
          </a:p>
          <a:p>
            <a:pPr marL="342900" indent="-342900" algn="ctr">
              <a:buFont typeface="Arial" panose="020B0604020202020204" pitchFamily="34" charset="0"/>
              <a:buChar char="•"/>
            </a:pPr>
            <a:endParaRPr lang="en-GB" sz="2800">
              <a:solidFill>
                <a:schemeClr val="bg1"/>
              </a:solidFill>
            </a:endParaRP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GB" sz="2800">
                <a:solidFill>
                  <a:schemeClr val="bg1"/>
                </a:solidFill>
              </a:rPr>
              <a:t>Country Comparison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endParaRPr lang="en-GB" sz="2800">
              <a:solidFill>
                <a:schemeClr val="bg1"/>
              </a:solidFill>
            </a:endParaRP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GB" sz="2800">
                <a:solidFill>
                  <a:schemeClr val="bg1"/>
                </a:solidFill>
              </a:rPr>
              <a:t>A way forward</a:t>
            </a:r>
          </a:p>
          <a:p>
            <a:endParaRPr lang="en-GB" sz="2000">
              <a:solidFill>
                <a:schemeClr val="bg1"/>
              </a:solidFill>
            </a:endParaRPr>
          </a:p>
          <a:p>
            <a:pPr algn="ctr"/>
            <a:endParaRPr lang="en-GB">
              <a:solidFill>
                <a:schemeClr val="bg1"/>
              </a:solidFill>
            </a:endParaRPr>
          </a:p>
          <a:p>
            <a:pPr algn="ctr"/>
            <a:endParaRPr lang="en-GB">
              <a:solidFill>
                <a:schemeClr val="bg1"/>
              </a:solidFill>
            </a:endParaRPr>
          </a:p>
          <a:p>
            <a:pPr algn="ctr"/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2411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E72F1-101D-0546-9F49-7B238C6A8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62174-0526-5680-10DB-85EEC05D8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45920"/>
            <a:ext cx="12068783" cy="615755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/>
              <a:t>Irish Intelligence Structures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E4B1A7E-D444-BA96-7A6B-FD563951ECFC}"/>
              </a:ext>
            </a:extLst>
          </p:cNvPr>
          <p:cNvGrpSpPr/>
          <p:nvPr/>
        </p:nvGrpSpPr>
        <p:grpSpPr>
          <a:xfrm>
            <a:off x="769105" y="2867878"/>
            <a:ext cx="5538280" cy="2343151"/>
            <a:chOff x="769105" y="2867878"/>
            <a:chExt cx="5538280" cy="2343151"/>
          </a:xfrm>
        </p:grpSpPr>
        <p:pic>
          <p:nvPicPr>
            <p:cNvPr id="1026" name="Picture 2" descr="Garda National Crime &amp; Security Intelligence Service - Garda">
              <a:extLst>
                <a:ext uri="{FF2B5EF4-FFF2-40B4-BE49-F238E27FC236}">
                  <a16:creationId xmlns:a16="http://schemas.microsoft.com/office/drawing/2014/main" id="{6DC34080-16A7-5254-E4AA-AC0D7F65EBB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14" t="13393" r="6835" b="13393"/>
            <a:stretch>
              <a:fillRect/>
            </a:stretch>
          </p:blipFill>
          <p:spPr bwMode="auto">
            <a:xfrm>
              <a:off x="769105" y="2867878"/>
              <a:ext cx="5538280" cy="23431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CF6CA410-4E44-DEE2-F47B-185AE78B0F6F}"/>
                </a:ext>
              </a:extLst>
            </p:cNvPr>
            <p:cNvSpPr txBox="1"/>
            <p:nvPr/>
          </p:nvSpPr>
          <p:spPr>
            <a:xfrm>
              <a:off x="769105" y="4964808"/>
              <a:ext cx="16191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000"/>
                <a:t>(An Garda Síochána, n.d.)</a:t>
              </a:r>
              <a:endParaRPr lang="en-IE" sz="100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DA92D883-0F82-617B-2E81-D11B13E2C10A}"/>
              </a:ext>
            </a:extLst>
          </p:cNvPr>
          <p:cNvSpPr txBox="1"/>
          <p:nvPr/>
        </p:nvSpPr>
        <p:spPr>
          <a:xfrm>
            <a:off x="2194161" y="1196531"/>
            <a:ext cx="777767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Peers task – Ireland liaises</a:t>
            </a:r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D839254-E74E-BA1A-C8A6-D4E734B15FA8}"/>
              </a:ext>
            </a:extLst>
          </p:cNvPr>
          <p:cNvGrpSpPr/>
          <p:nvPr/>
        </p:nvGrpSpPr>
        <p:grpSpPr>
          <a:xfrm>
            <a:off x="8051879" y="2867879"/>
            <a:ext cx="2381250" cy="2589371"/>
            <a:chOff x="8051879" y="2867879"/>
            <a:chExt cx="2381250" cy="2589371"/>
          </a:xfrm>
        </p:grpSpPr>
        <p:pic>
          <p:nvPicPr>
            <p:cNvPr id="1028" name="Picture 4">
              <a:extLst>
                <a:ext uri="{FF2B5EF4-FFF2-40B4-BE49-F238E27FC236}">
                  <a16:creationId xmlns:a16="http://schemas.microsoft.com/office/drawing/2014/main" id="{2CE1556E-A718-4B91-2E95-AA1EC4F64EC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51879" y="2867879"/>
              <a:ext cx="2381250" cy="23431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0E0DF16-B90F-9EC1-93BB-6D75E0E141B6}"/>
                </a:ext>
              </a:extLst>
            </p:cNvPr>
            <p:cNvSpPr txBox="1"/>
            <p:nvPr/>
          </p:nvSpPr>
          <p:spPr>
            <a:xfrm>
              <a:off x="8694269" y="5211029"/>
              <a:ext cx="142715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000"/>
                <a:t>(An Cosantóir, 2025)</a:t>
              </a:r>
              <a:endParaRPr lang="en-IE" sz="1000"/>
            </a:p>
          </p:txBody>
        </p:sp>
      </p:grpSp>
    </p:spTree>
    <p:extLst>
      <p:ext uri="{BB962C8B-B14F-4D97-AF65-F5344CB8AC3E}">
        <p14:creationId xmlns:p14="http://schemas.microsoft.com/office/powerpoint/2010/main" val="32532863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CE261-2E19-AC66-DB74-C77556291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72C65-6A43-462F-67DA-513581495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45920"/>
            <a:ext cx="12068783" cy="615755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/>
              <a:t>Mapping Existing Structures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6BDD35A-A033-628A-F199-AE1141BF81EC}"/>
              </a:ext>
            </a:extLst>
          </p:cNvPr>
          <p:cNvSpPr/>
          <p:nvPr/>
        </p:nvSpPr>
        <p:spPr>
          <a:xfrm>
            <a:off x="129958" y="769265"/>
            <a:ext cx="11938824" cy="265973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3EF8B2-F0A8-053C-CDFC-FAB8B97F7098}"/>
              </a:ext>
            </a:extLst>
          </p:cNvPr>
          <p:cNvSpPr txBox="1"/>
          <p:nvPr/>
        </p:nvSpPr>
        <p:spPr>
          <a:xfrm>
            <a:off x="495316" y="1176947"/>
            <a:ext cx="11325455" cy="214084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GB" sz="2000" dirty="0">
                <a:solidFill>
                  <a:srgbClr val="FFC000"/>
                </a:solidFill>
              </a:rPr>
              <a:t>Key Deficiency</a:t>
            </a:r>
            <a:r>
              <a:rPr lang="en-GB" sz="2000" dirty="0">
                <a:solidFill>
                  <a:schemeClr val="bg1"/>
                </a:solidFill>
              </a:rPr>
              <a:t>: Unlike other states, Ireland doesn't publish a map of its Intelligence Community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GB" sz="2000" dirty="0">
                <a:solidFill>
                  <a:schemeClr val="bg1"/>
                </a:solidFill>
              </a:rPr>
              <a:t>Cannot analyse research question or present our conclusions without elucidation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GB" sz="2000" dirty="0">
                <a:solidFill>
                  <a:srgbClr val="FFC000"/>
                </a:solidFill>
              </a:rPr>
              <a:t>Research Methodology</a:t>
            </a:r>
            <a:r>
              <a:rPr lang="en-GB" sz="2000" dirty="0">
                <a:solidFill>
                  <a:schemeClr val="bg1"/>
                </a:solidFill>
              </a:rPr>
              <a:t>: We sourced and analysed 37 publications and 9 legislative Acts to map and understand the existing structures</a:t>
            </a:r>
          </a:p>
          <a:p>
            <a:pPr marL="742950" lvl="1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GB" sz="2000" dirty="0">
                <a:solidFill>
                  <a:schemeClr val="bg1"/>
                </a:solidFill>
              </a:rPr>
              <a:t>Dáil records, legislation, academic articles &amp; books, government websites, Defence Forces’ officers and newspaper articles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34BE19E-DD66-6C09-8E6C-B348B70EA6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20541" y="3436590"/>
            <a:ext cx="4423887" cy="338412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7E79982-8AD9-B4FA-C765-825C6A4CBEA1}"/>
              </a:ext>
            </a:extLst>
          </p:cNvPr>
          <p:cNvSpPr txBox="1"/>
          <p:nvPr/>
        </p:nvSpPr>
        <p:spPr>
          <a:xfrm>
            <a:off x="-68580" y="5220278"/>
            <a:ext cx="335280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/>
              <a:t>National Crime &amp; Security Intelligence Service (</a:t>
            </a:r>
            <a:r>
              <a:rPr lang="en-GB" sz="1400">
                <a:solidFill>
                  <a:srgbClr val="FF0000"/>
                </a:solidFill>
              </a:rPr>
              <a:t>NCSIS</a:t>
            </a:r>
            <a:r>
              <a:rPr lang="en-GB" sz="1400"/>
              <a:t>)</a:t>
            </a:r>
            <a:endParaRPr lang="en-IE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/>
              <a:t>Irish Military Intelligence Service (</a:t>
            </a:r>
            <a:r>
              <a:rPr lang="en-GB" sz="1400">
                <a:solidFill>
                  <a:srgbClr val="FF0000"/>
                </a:solidFill>
              </a:rPr>
              <a:t>IMIS</a:t>
            </a:r>
            <a:r>
              <a:rPr lang="en-GB" sz="140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/>
              <a:t>National Security Analysis Centre (</a:t>
            </a:r>
            <a:r>
              <a:rPr lang="en-GB" sz="1400">
                <a:solidFill>
                  <a:srgbClr val="FF0000"/>
                </a:solidFill>
              </a:rPr>
              <a:t>NSAC</a:t>
            </a:r>
            <a:r>
              <a:rPr lang="en-GB" sz="1400"/>
              <a:t>)</a:t>
            </a:r>
          </a:p>
          <a:p>
            <a:r>
              <a:rPr lang="en-GB" sz="1400"/>
              <a:t>(Dáil Éireann, 2022)</a:t>
            </a:r>
          </a:p>
        </p:txBody>
      </p:sp>
    </p:spTree>
    <p:extLst>
      <p:ext uri="{BB962C8B-B14F-4D97-AF65-F5344CB8AC3E}">
        <p14:creationId xmlns:p14="http://schemas.microsoft.com/office/powerpoint/2010/main" val="21173400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7688C-06C8-45C2-BD70-CC58F2735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2DBC9-0B24-72C2-7B11-8624D5180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45920"/>
            <a:ext cx="12068783" cy="615755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/>
              <a:t>Mapping Intelligence Agencies &amp; Structures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C76B35-0964-E03E-4FC5-9AE537D8E033}"/>
              </a:ext>
            </a:extLst>
          </p:cNvPr>
          <p:cNvSpPr txBox="1"/>
          <p:nvPr/>
        </p:nvSpPr>
        <p:spPr>
          <a:xfrm>
            <a:off x="0" y="6488668"/>
            <a:ext cx="2418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Confer printed poster</a:t>
            </a:r>
            <a:endParaRPr lang="en-I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A0F472-3F14-216D-1431-2024EB00D53F}"/>
              </a:ext>
            </a:extLst>
          </p:cNvPr>
          <p:cNvSpPr txBox="1"/>
          <p:nvPr/>
        </p:nvSpPr>
        <p:spPr>
          <a:xfrm>
            <a:off x="8793480" y="994856"/>
            <a:ext cx="3390900" cy="54938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900" b="1"/>
              <a:t>Diagram References</a:t>
            </a:r>
            <a:endParaRPr lang="en-IE" sz="900"/>
          </a:p>
          <a:p>
            <a:r>
              <a:rPr lang="en-IE" sz="900"/>
              <a:t>1. Gallagher (2025a)</a:t>
            </a:r>
          </a:p>
          <a:p>
            <a:r>
              <a:rPr lang="en-IE" sz="900"/>
              <a:t>2. Gallagher (2025b)</a:t>
            </a:r>
            <a:br>
              <a:rPr lang="en-IE" sz="900"/>
            </a:br>
            <a:r>
              <a:rPr lang="en-IE" sz="900"/>
              <a:t>3. Department of the Taoiseach (2025)</a:t>
            </a:r>
            <a:br>
              <a:rPr lang="en-IE" sz="900"/>
            </a:br>
            <a:r>
              <a:rPr lang="en-IE" sz="900"/>
              <a:t>4. Leahy (2025)</a:t>
            </a:r>
          </a:p>
          <a:p>
            <a:r>
              <a:rPr lang="en-IE" sz="900"/>
              <a:t>5. An Garda Síochána (2025a)</a:t>
            </a:r>
            <a:br>
              <a:rPr lang="en-IE" sz="900"/>
            </a:br>
            <a:r>
              <a:rPr lang="en-IE" sz="900"/>
              <a:t>6. Government of Ireland (1993, pp. 8-9)</a:t>
            </a:r>
            <a:br>
              <a:rPr lang="en-IE" sz="900"/>
            </a:br>
            <a:r>
              <a:rPr lang="en-IE" sz="900"/>
              <a:t>7. Government of Ireland (2011, pp. 11-15)</a:t>
            </a:r>
          </a:p>
          <a:p>
            <a:r>
              <a:rPr lang="en-IE" sz="900"/>
              <a:t>8. Committee of Public Accounts (2013, p. 13, p. 22, p. 46, p. 56)</a:t>
            </a:r>
          </a:p>
          <a:p>
            <a:r>
              <a:rPr lang="en-IE" sz="900"/>
              <a:t>9. Halloran (2013)</a:t>
            </a:r>
          </a:p>
          <a:p>
            <a:r>
              <a:rPr lang="en-IE" sz="900"/>
              <a:t>10. Dáil Éireann (2022, q. 127)</a:t>
            </a:r>
          </a:p>
          <a:p>
            <a:r>
              <a:rPr lang="en-IE" sz="900"/>
              <a:t>11. Government of Ireland (1954, pp. 31-32)</a:t>
            </a:r>
          </a:p>
          <a:p>
            <a:r>
              <a:rPr lang="en-IE" sz="900"/>
              <a:t>12. Government of Ireland (2023)</a:t>
            </a:r>
          </a:p>
          <a:p>
            <a:r>
              <a:rPr lang="en-IE" sz="900"/>
              <a:t>13. Government of Ireland (2009)</a:t>
            </a:r>
          </a:p>
          <a:p>
            <a:r>
              <a:rPr lang="en-IE" sz="900"/>
              <a:t>14. Irish Examiner (2012)</a:t>
            </a:r>
          </a:p>
          <a:p>
            <a:r>
              <a:rPr lang="en-IE" sz="900"/>
              <a:t>15. An Garda Síochána (2025b)</a:t>
            </a:r>
          </a:p>
          <a:p>
            <a:r>
              <a:rPr lang="en-IE" sz="900"/>
              <a:t>16. Commission on the Future of Policing in Ireland (2018)</a:t>
            </a:r>
          </a:p>
          <a:p>
            <a:r>
              <a:rPr lang="en-IE" sz="900"/>
              <a:t>17. Gallagher (2025c)</a:t>
            </a:r>
          </a:p>
          <a:p>
            <a:r>
              <a:rPr lang="en-IE" sz="900"/>
              <a:t>18. Dáil Éireann (2025a, q. 2)</a:t>
            </a:r>
          </a:p>
          <a:p>
            <a:r>
              <a:rPr lang="en-IE" sz="900"/>
              <a:t>19. Dáil Éireann (2025a, q. 14-24)</a:t>
            </a:r>
          </a:p>
          <a:p>
            <a:r>
              <a:rPr lang="en-IE" sz="900"/>
              <a:t>20. Murphy (2014)</a:t>
            </a:r>
          </a:p>
          <a:p>
            <a:r>
              <a:rPr lang="en-IE" sz="900"/>
              <a:t>21. Government of Ireland (1974, sec. 3.9)</a:t>
            </a:r>
          </a:p>
          <a:p>
            <a:r>
              <a:rPr lang="en-IE" sz="900"/>
              <a:t>22. Dáil Éireann (1982, q. 412)</a:t>
            </a:r>
          </a:p>
          <a:p>
            <a:r>
              <a:rPr lang="en-IE" sz="900"/>
              <a:t>23. Dáil Éireann (2004, p. 1153)</a:t>
            </a:r>
          </a:p>
          <a:p>
            <a:r>
              <a:rPr lang="en-IE" sz="900"/>
              <a:t>24. Dáil Éireann (2005, q. 31)</a:t>
            </a:r>
          </a:p>
          <a:p>
            <a:r>
              <a:rPr lang="en-IE" sz="900"/>
              <a:t>25. Heney (2020, pp.216-218)</a:t>
            </a:r>
          </a:p>
          <a:p>
            <a:r>
              <a:rPr lang="en-IE" sz="900"/>
              <a:t>26. Mulqueen (2009)</a:t>
            </a:r>
          </a:p>
          <a:p>
            <a:r>
              <a:rPr lang="en-IE" sz="900"/>
              <a:t>27. Mulqueen (2013)</a:t>
            </a:r>
          </a:p>
          <a:p>
            <a:r>
              <a:rPr lang="en-IE" sz="900"/>
              <a:t>28. Government of Ireland (1924)</a:t>
            </a:r>
          </a:p>
          <a:p>
            <a:r>
              <a:rPr lang="en-IE" sz="900"/>
              <a:t>29. Dunne and Kerrigan (1984)</a:t>
            </a:r>
          </a:p>
          <a:p>
            <a:r>
              <a:rPr lang="en-IE" sz="900"/>
              <a:t>30. Government of Ireland (2005)</a:t>
            </a:r>
          </a:p>
          <a:p>
            <a:r>
              <a:rPr lang="en-IE" sz="900"/>
              <a:t>31. Halpin (2002b)</a:t>
            </a:r>
          </a:p>
          <a:p>
            <a:r>
              <a:rPr lang="en-IE" sz="900"/>
              <a:t>32. Halpin (2010)</a:t>
            </a:r>
          </a:p>
          <a:p>
            <a:r>
              <a:rPr lang="en-IE" sz="900"/>
              <a:t>33. Dáil Éireann (2009a)</a:t>
            </a:r>
          </a:p>
          <a:p>
            <a:r>
              <a:rPr lang="en-IE" sz="900"/>
              <a:t>33. Dáil Éireann (2009b)</a:t>
            </a:r>
          </a:p>
          <a:p>
            <a:r>
              <a:rPr lang="en-IE" sz="900"/>
              <a:t>34. Dáil Éireann (2024, q. 1-5)</a:t>
            </a:r>
          </a:p>
          <a:p>
            <a:r>
              <a:rPr lang="en-IE" sz="900"/>
              <a:t>35. Walsh (2024)</a:t>
            </a:r>
          </a:p>
          <a:p>
            <a:r>
              <a:rPr lang="en-IE" sz="900"/>
              <a:t>36. Dáil Éireann (2021, q. 21-23)</a:t>
            </a:r>
          </a:p>
          <a:p>
            <a:r>
              <a:rPr lang="en-IE" sz="900"/>
              <a:t>37. Government of Ireland (2024, pp. 25-26)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96EE2D8-7179-FE99-5081-F3B54F627FB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61" r="19833" b="352"/>
          <a:stretch>
            <a:fillRect/>
          </a:stretch>
        </p:blipFill>
        <p:spPr>
          <a:xfrm>
            <a:off x="1892110" y="752475"/>
            <a:ext cx="5546266" cy="5922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7991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C7259-EB8A-4202-5D3A-0C74E3AD2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25E21-FA65-89DB-B781-007D8E13D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45920"/>
            <a:ext cx="12068783" cy="615755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/>
              <a:t>Military and Police Structures</a:t>
            </a:r>
          </a:p>
        </p:txBody>
      </p:sp>
      <p:pic>
        <p:nvPicPr>
          <p:cNvPr id="5" name="Picture 4" descr="A diagram of a company&#10;&#10;AI-generated content may be incorrect.">
            <a:extLst>
              <a:ext uri="{FF2B5EF4-FFF2-40B4-BE49-F238E27FC236}">
                <a16:creationId xmlns:a16="http://schemas.microsoft.com/office/drawing/2014/main" id="{9DC3FCF4-09E4-C127-7B57-F0F5929AC9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2872" y="634428"/>
            <a:ext cx="5391150" cy="3533775"/>
          </a:xfrm>
          <a:prstGeom prst="rect">
            <a:avLst/>
          </a:prstGeom>
        </p:spPr>
      </p:pic>
      <p:pic>
        <p:nvPicPr>
          <p:cNvPr id="7" name="Picture 6" descr="A diagram of a flowchart&#10;&#10;AI-generated content may be incorrect.">
            <a:extLst>
              <a:ext uri="{FF2B5EF4-FFF2-40B4-BE49-F238E27FC236}">
                <a16:creationId xmlns:a16="http://schemas.microsoft.com/office/drawing/2014/main" id="{08AF6938-4600-3219-01CA-60A58D2A01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279"/>
          <a:stretch>
            <a:fillRect/>
          </a:stretch>
        </p:blipFill>
        <p:spPr>
          <a:xfrm>
            <a:off x="20572" y="634428"/>
            <a:ext cx="6672300" cy="273396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1FB4914-171F-F881-1E2C-1F2B806DEF1B}"/>
              </a:ext>
            </a:extLst>
          </p:cNvPr>
          <p:cNvSpPr txBox="1"/>
          <p:nvPr/>
        </p:nvSpPr>
        <p:spPr>
          <a:xfrm>
            <a:off x="5654039" y="4691955"/>
            <a:ext cx="653796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/>
              <a:t>National Crime &amp; Security Intelligence Service (</a:t>
            </a:r>
            <a:r>
              <a:rPr lang="en-GB" sz="1400">
                <a:solidFill>
                  <a:srgbClr val="FF0000"/>
                </a:solidFill>
              </a:rPr>
              <a:t>NCSIS</a:t>
            </a:r>
            <a:r>
              <a:rPr lang="en-GB" sz="1400"/>
              <a:t>) (formerly Crime and Security Branch, formerly C3) (Mulqueen, 2013 pp 19-20)</a:t>
            </a:r>
            <a:endParaRPr lang="en-IE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/>
              <a:t>Special Detective Unit (</a:t>
            </a:r>
            <a:r>
              <a:rPr lang="en-GB" sz="1400">
                <a:solidFill>
                  <a:srgbClr val="FF0000"/>
                </a:solidFill>
              </a:rPr>
              <a:t>SDU</a:t>
            </a:r>
            <a:r>
              <a:rPr lang="en-GB" sz="1400"/>
              <a:t>) (formerly Special Branch)</a:t>
            </a:r>
            <a:endParaRPr lang="en-IE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/>
              <a:t>Security and Intelligence Section (</a:t>
            </a:r>
            <a:r>
              <a:rPr lang="en-GB" sz="1400">
                <a:solidFill>
                  <a:srgbClr val="FF0000"/>
                </a:solidFill>
              </a:rPr>
              <a:t>SIS</a:t>
            </a:r>
            <a:r>
              <a:rPr lang="en-GB" sz="140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/>
              <a:t>Irish Military Intelligence Service (</a:t>
            </a:r>
            <a:r>
              <a:rPr lang="en-GB" sz="1400">
                <a:solidFill>
                  <a:srgbClr val="FF0000"/>
                </a:solidFill>
              </a:rPr>
              <a:t>IMIS</a:t>
            </a:r>
            <a:r>
              <a:rPr lang="en-GB" sz="1400"/>
              <a:t>) (formerly J2, formerly G2) (CODF, 2022)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/>
              <a:t>Joint Cyber Defence Command (</a:t>
            </a:r>
            <a:r>
              <a:rPr lang="en-GB" sz="1400">
                <a:solidFill>
                  <a:srgbClr val="FF0000"/>
                </a:solidFill>
              </a:rPr>
              <a:t>JCDC</a:t>
            </a:r>
            <a:r>
              <a:rPr lang="en-GB" sz="1400"/>
              <a:t>)  (CODF, 2022)</a:t>
            </a:r>
          </a:p>
        </p:txBody>
      </p:sp>
      <p:pic>
        <p:nvPicPr>
          <p:cNvPr id="11" name="Picture 10" descr="A group of white circles with black text&#10;&#10;AI-generated content may be incorrect.">
            <a:extLst>
              <a:ext uri="{FF2B5EF4-FFF2-40B4-BE49-F238E27FC236}">
                <a16:creationId xmlns:a16="http://schemas.microsoft.com/office/drawing/2014/main" id="{FAD862BF-F027-3804-8C5F-DB819861D7A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282" y="3752850"/>
            <a:ext cx="4033492" cy="232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8568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6DC158-CD73-622A-90A0-C4C7ED92F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D7E9E-3DA5-9148-D1E1-D1BD3EAFB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45920"/>
            <a:ext cx="12068783" cy="615755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/>
              <a:t>Synthesising SANDA &amp; Intelligence Areas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AE198C-1AAF-31CA-EB4A-35E6FDDB938C}"/>
              </a:ext>
            </a:extLst>
          </p:cNvPr>
          <p:cNvSpPr txBox="1"/>
          <p:nvPr/>
        </p:nvSpPr>
        <p:spPr>
          <a:xfrm>
            <a:off x="10213459" y="5903893"/>
            <a:ext cx="3121541" cy="9541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400"/>
              <a:t>Gill and Phythian (2006)</a:t>
            </a:r>
          </a:p>
          <a:p>
            <a:r>
              <a:rPr lang="en-GB" sz="1400"/>
              <a:t>Mulqueen (2008)</a:t>
            </a:r>
          </a:p>
          <a:p>
            <a:r>
              <a:rPr lang="en-GB" sz="1400"/>
              <a:t>Davies (2016)</a:t>
            </a:r>
          </a:p>
          <a:p>
            <a:r>
              <a:rPr lang="en-GB" sz="1400" err="1"/>
              <a:t>Strachen</a:t>
            </a:r>
            <a:r>
              <a:rPr lang="en-GB" sz="1400"/>
              <a:t>-Morris (2024)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19A181-9908-ED2A-E9E6-773663AD62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60021" y="2035091"/>
            <a:ext cx="8948738" cy="278781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9B5C4D6-F326-B120-4D7A-B54D99570BCF}"/>
              </a:ext>
            </a:extLst>
          </p:cNvPr>
          <p:cNvSpPr txBox="1"/>
          <p:nvPr/>
        </p:nvSpPr>
        <p:spPr>
          <a:xfrm>
            <a:off x="733425" y="5122843"/>
            <a:ext cx="114585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/>
              <a:t>Kahn’s Law: “Intelligence is the defining characteristic of defence. It is only an accompanying characteristic of offence” (O’Toole, 1990)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701239-B6BE-6673-204D-D41C154152AD}"/>
              </a:ext>
            </a:extLst>
          </p:cNvPr>
          <p:cNvSpPr txBox="1"/>
          <p:nvPr/>
        </p:nvSpPr>
        <p:spPr>
          <a:xfrm>
            <a:off x="-1" y="6550223"/>
            <a:ext cx="3352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/>
              <a:t>Sources and Agencies (</a:t>
            </a:r>
            <a:r>
              <a:rPr lang="en-GB" sz="1400">
                <a:solidFill>
                  <a:srgbClr val="FF0000"/>
                </a:solidFill>
              </a:rPr>
              <a:t>SANDA</a:t>
            </a:r>
            <a:r>
              <a:rPr lang="en-GB" sz="1400"/>
              <a:t>)</a:t>
            </a:r>
            <a:endParaRPr lang="en-IE" sz="1400"/>
          </a:p>
        </p:txBody>
      </p:sp>
    </p:spTree>
    <p:extLst>
      <p:ext uri="{BB962C8B-B14F-4D97-AF65-F5344CB8AC3E}">
        <p14:creationId xmlns:p14="http://schemas.microsoft.com/office/powerpoint/2010/main" val="34652619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39C8A-2801-3293-CF0F-3EE3C0220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D7036-43A2-5A2F-DF6E-E64E9D824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45920"/>
            <a:ext cx="12068783" cy="615755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/>
              <a:t>Synthesising SANDA &amp; Intelligence Areas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1562FB6-8DC0-6F51-A626-DD5A9D7979F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7539" y="1551813"/>
            <a:ext cx="10916922" cy="4377501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1E3DE998-4BB2-DD31-C656-1D06092235B3}"/>
              </a:ext>
            </a:extLst>
          </p:cNvPr>
          <p:cNvSpPr/>
          <p:nvPr/>
        </p:nvSpPr>
        <p:spPr>
          <a:xfrm>
            <a:off x="1085850" y="1038225"/>
            <a:ext cx="3295650" cy="249555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E6C0B8-A8A4-29D4-F918-17494CE1CE48}"/>
              </a:ext>
            </a:extLst>
          </p:cNvPr>
          <p:cNvSpPr txBox="1"/>
          <p:nvPr/>
        </p:nvSpPr>
        <p:spPr>
          <a:xfrm>
            <a:off x="-1" y="6550223"/>
            <a:ext cx="3352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/>
              <a:t>Sources and Agencies (</a:t>
            </a:r>
            <a:r>
              <a:rPr lang="en-GB" sz="1400">
                <a:solidFill>
                  <a:srgbClr val="FF0000"/>
                </a:solidFill>
              </a:rPr>
              <a:t>SANDA</a:t>
            </a:r>
            <a:r>
              <a:rPr lang="en-GB" sz="1400"/>
              <a:t>)</a:t>
            </a:r>
            <a:endParaRPr lang="en-IE" sz="1400"/>
          </a:p>
        </p:txBody>
      </p:sp>
    </p:spTree>
    <p:extLst>
      <p:ext uri="{BB962C8B-B14F-4D97-AF65-F5344CB8AC3E}">
        <p14:creationId xmlns:p14="http://schemas.microsoft.com/office/powerpoint/2010/main" val="3908849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FB9CE-7AC3-C390-0228-7F4DB1DCC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D0E20-E7F9-2889-8B55-34BBED1A5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45920"/>
            <a:ext cx="12068783" cy="615755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/>
              <a:t>Analysis: National Security Architecture</a:t>
            </a:r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9D0DF0E-6121-8968-9A7C-0ECE61B8784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800350" y="761675"/>
            <a:ext cx="9234099" cy="577022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64D90C1-E2B3-9138-D936-052FCC97E768}"/>
              </a:ext>
            </a:extLst>
          </p:cNvPr>
          <p:cNvSpPr txBox="1"/>
          <p:nvPr/>
        </p:nvSpPr>
        <p:spPr>
          <a:xfrm>
            <a:off x="-1856" y="1525718"/>
            <a:ext cx="2877157" cy="418576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GB" sz="1400" b="1"/>
              <a:t>Legislation</a:t>
            </a:r>
          </a:p>
          <a:p>
            <a:endParaRPr lang="en-GB" sz="1400"/>
          </a:p>
          <a:p>
            <a:pPr marL="342900" indent="-342900">
              <a:buAutoNum type="arabicPeriod"/>
            </a:pPr>
            <a:r>
              <a:rPr lang="en-GB" sz="1400"/>
              <a:t>18/1954 Defence Act: "The Minister […] </a:t>
            </a:r>
            <a:r>
              <a:rPr lang="en-GB" sz="1400">
                <a:solidFill>
                  <a:srgbClr val="FF0000"/>
                </a:solidFill>
              </a:rPr>
              <a:t>military defence of the State</a:t>
            </a:r>
            <a:r>
              <a:rPr lang="en-GB" sz="1400"/>
              <a:t>”</a:t>
            </a:r>
          </a:p>
          <a:p>
            <a:pPr marL="800100" lvl="1" indent="-342900">
              <a:buAutoNum type="arabicPeriod"/>
            </a:pPr>
            <a:endParaRPr lang="en-GB" sz="1400"/>
          </a:p>
          <a:p>
            <a:pPr marL="342900" indent="-342900">
              <a:buAutoNum type="arabicPeriod"/>
            </a:pPr>
            <a:r>
              <a:rPr lang="en-GB" sz="1400"/>
              <a:t>20/2005 Garda </a:t>
            </a:r>
            <a:r>
              <a:rPr lang="en-GB" sz="1400" err="1"/>
              <a:t>Síochana</a:t>
            </a:r>
            <a:r>
              <a:rPr lang="en-GB" sz="1400"/>
              <a:t> Act 2005: "</a:t>
            </a:r>
            <a:r>
              <a:rPr lang="en-GB" sz="1400">
                <a:solidFill>
                  <a:srgbClr val="FF0000"/>
                </a:solidFill>
              </a:rPr>
              <a:t>protecting the security of the state</a:t>
            </a:r>
            <a:r>
              <a:rPr lang="en-GB" sz="1400"/>
              <a:t> […] offences, espionage, sabotage, subvert, foreign interference, foreign capabilities"</a:t>
            </a:r>
          </a:p>
          <a:p>
            <a:pPr marL="342900" indent="-342900">
              <a:buAutoNum type="arabicPeriod"/>
            </a:pPr>
            <a:endParaRPr lang="en-GB" sz="1400"/>
          </a:p>
          <a:p>
            <a:pPr algn="ctr"/>
            <a:r>
              <a:rPr lang="en-GB" sz="1400" b="1"/>
              <a:t>Defence Intelligence</a:t>
            </a:r>
          </a:p>
          <a:p>
            <a:pPr marL="285750" indent="-285750">
              <a:buFont typeface="Arial"/>
              <a:buChar char="•"/>
            </a:pPr>
            <a:endParaRPr lang="en-GB" sz="1400"/>
          </a:p>
          <a:p>
            <a:pPr marL="342900" indent="-342900">
              <a:buAutoNum type="arabicPeriod"/>
            </a:pPr>
            <a:r>
              <a:rPr lang="en-GB" sz="1400"/>
              <a:t>IMIS and NSAC quietly act as the national defence intelligence agencies – </a:t>
            </a:r>
            <a:r>
              <a:rPr lang="en-GB" sz="1400">
                <a:solidFill>
                  <a:srgbClr val="FF0000"/>
                </a:solidFill>
              </a:rPr>
              <a:t>without legislative authority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4C60DC-6C03-9CF3-BCCC-5C33118DC957}"/>
              </a:ext>
            </a:extLst>
          </p:cNvPr>
          <p:cNvSpPr txBox="1"/>
          <p:nvPr/>
        </p:nvSpPr>
        <p:spPr>
          <a:xfrm>
            <a:off x="10925079" y="6552538"/>
            <a:ext cx="4211012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400"/>
              <a:t>UK Gov (n.d., a)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3674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E4D03-3909-E14A-F7F2-8FDC1793C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B6F13-098F-1178-6F34-53ABF6819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45920"/>
            <a:ext cx="12068783" cy="615755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/>
              <a:t>Legislation and Key Lacunae</a:t>
            </a:r>
          </a:p>
        </p:txBody>
      </p:sp>
      <p:pic>
        <p:nvPicPr>
          <p:cNvPr id="3" name="Picture 2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D6839211-6A5F-8395-9D2C-01B536290D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328" y="1012627"/>
            <a:ext cx="7998826" cy="33324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83D9358-6836-510B-D337-EC74F7141050}"/>
              </a:ext>
            </a:extLst>
          </p:cNvPr>
          <p:cNvSpPr txBox="1"/>
          <p:nvPr/>
        </p:nvSpPr>
        <p:spPr>
          <a:xfrm>
            <a:off x="5172660" y="5634679"/>
            <a:ext cx="1721247" cy="36933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/>
              <a:t>Key lacunae</a:t>
            </a:r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FE20389-FDD0-518D-E4DE-02116667EE5E}"/>
              </a:ext>
            </a:extLst>
          </p:cNvPr>
          <p:cNvCxnSpPr/>
          <p:nvPr/>
        </p:nvCxnSpPr>
        <p:spPr>
          <a:xfrm flipH="1" flipV="1">
            <a:off x="4815218" y="3898129"/>
            <a:ext cx="1242126" cy="16949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BD40AC8-40DF-D3FB-E15A-817E192001C8}"/>
              </a:ext>
            </a:extLst>
          </p:cNvPr>
          <p:cNvCxnSpPr>
            <a:cxnSpLocks/>
          </p:cNvCxnSpPr>
          <p:nvPr/>
        </p:nvCxnSpPr>
        <p:spPr>
          <a:xfrm flipV="1">
            <a:off x="6053277" y="3788170"/>
            <a:ext cx="780963" cy="18173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A565913-A477-32B3-B426-3BDA5C14F853}"/>
              </a:ext>
            </a:extLst>
          </p:cNvPr>
          <p:cNvSpPr txBox="1"/>
          <p:nvPr/>
        </p:nvSpPr>
        <p:spPr>
          <a:xfrm>
            <a:off x="10287126" y="6552538"/>
            <a:ext cx="4211012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400"/>
              <a:t>Government of Ireland 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9C76A60-2C59-1077-977E-916D69D16464}"/>
              </a:ext>
            </a:extLst>
          </p:cNvPr>
          <p:cNvCxnSpPr>
            <a:cxnSpLocks/>
          </p:cNvCxnSpPr>
          <p:nvPr/>
        </p:nvCxnSpPr>
        <p:spPr>
          <a:xfrm flipH="1" flipV="1">
            <a:off x="5489776" y="2336652"/>
            <a:ext cx="555076" cy="32688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01785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9B895E-A865-53E7-0391-48058C49D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6461A-D5E1-8894-A612-CEFF17842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83" y="145920"/>
            <a:ext cx="12068783" cy="615755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/>
              <a:t>Decisive Lacuna: National Security Strategy/Agency</a:t>
            </a:r>
            <a:endParaRPr lang="en-GB" b="1">
              <a:solidFill>
                <a:srgbClr val="FFC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22DC7F-4FB6-389C-C3D9-F7C0022FCF6E}"/>
              </a:ext>
            </a:extLst>
          </p:cNvPr>
          <p:cNvSpPr txBox="1"/>
          <p:nvPr/>
        </p:nvSpPr>
        <p:spPr>
          <a:xfrm>
            <a:off x="7178055" y="6552538"/>
            <a:ext cx="54327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400"/>
              <a:t>DOD (2025), DOJ (2025), AGS (2024), IFG (2020), UK Gov (n.d., b)</a:t>
            </a:r>
            <a:endParaRPr lang="en-GB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F7B2112-5246-7061-8B76-E35FF84C0647}"/>
              </a:ext>
            </a:extLst>
          </p:cNvPr>
          <p:cNvSpPr/>
          <p:nvPr/>
        </p:nvSpPr>
        <p:spPr>
          <a:xfrm>
            <a:off x="39052" y="1023805"/>
            <a:ext cx="12037580" cy="52357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88F1FA-ABD4-F18F-760A-45934B1A6942}"/>
              </a:ext>
            </a:extLst>
          </p:cNvPr>
          <p:cNvSpPr txBox="1"/>
          <p:nvPr/>
        </p:nvSpPr>
        <p:spPr>
          <a:xfrm>
            <a:off x="439312" y="1448019"/>
            <a:ext cx="11325455" cy="56074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GB" sz="2400">
                <a:solidFill>
                  <a:schemeClr val="bg1"/>
                </a:solidFill>
              </a:rPr>
              <a:t>We consider that Ireland's national security </a:t>
            </a:r>
            <a:r>
              <a:rPr lang="en-GB" sz="2400">
                <a:solidFill>
                  <a:srgbClr val="FFC000"/>
                </a:solidFill>
              </a:rPr>
              <a:t>structures are fit for purpose</a:t>
            </a:r>
            <a:r>
              <a:rPr lang="en-GB" sz="2400">
                <a:solidFill>
                  <a:schemeClr val="bg1"/>
                </a:solidFill>
              </a:rPr>
              <a:t> and almost identical to the UK, Sweden and New Zealand 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GB" sz="2400">
                <a:solidFill>
                  <a:schemeClr val="bg1"/>
                </a:solidFill>
              </a:rPr>
              <a:t>However, Ireland has </a:t>
            </a:r>
            <a:r>
              <a:rPr lang="en-GB" sz="2400">
                <a:solidFill>
                  <a:srgbClr val="FFC000"/>
                </a:solidFill>
              </a:rPr>
              <a:t>no legislative direction</a:t>
            </a:r>
            <a:r>
              <a:rPr lang="en-GB" sz="2400">
                <a:solidFill>
                  <a:schemeClr val="bg1"/>
                </a:solidFill>
              </a:rPr>
              <a:t> (via NSS). This is at odds with international practice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GB" sz="2400">
                <a:solidFill>
                  <a:schemeClr val="bg1"/>
                </a:solidFill>
              </a:rPr>
              <a:t>Without legislative direction, the agency heads decide on priorities – which can overlap</a:t>
            </a:r>
          </a:p>
          <a:p>
            <a:pPr marL="742950" lvl="1" indent="-285750">
              <a:lnSpc>
                <a:spcPct val="90000"/>
              </a:lnSpc>
              <a:spcBef>
                <a:spcPts val="1000"/>
              </a:spcBef>
              <a:buFont typeface="Courier New"/>
              <a:buChar char="o"/>
            </a:pPr>
            <a:r>
              <a:rPr lang="en-GB" sz="2400">
                <a:solidFill>
                  <a:schemeClr val="bg1"/>
                </a:solidFill>
              </a:rPr>
              <a:t>E.g., both AGS and IMIS </a:t>
            </a:r>
            <a:r>
              <a:rPr lang="en-GB" sz="2400" err="1">
                <a:solidFill>
                  <a:schemeClr val="bg1"/>
                </a:solidFill>
              </a:rPr>
              <a:t>surveilling</a:t>
            </a:r>
            <a:r>
              <a:rPr lang="en-GB" sz="2400">
                <a:solidFill>
                  <a:schemeClr val="bg1"/>
                </a:solidFill>
              </a:rPr>
              <a:t> the same people on-island (per 2009 Act)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GB" sz="2400">
                <a:solidFill>
                  <a:schemeClr val="bg1"/>
                </a:solidFill>
              </a:rPr>
              <a:t>In lieu of NSS, Irish security &amp; </a:t>
            </a:r>
            <a:r>
              <a:rPr lang="en-GB" sz="2400">
                <a:solidFill>
                  <a:srgbClr val="FFC000"/>
                </a:solidFill>
              </a:rPr>
              <a:t>intelligence governance is through the National Security Committee</a:t>
            </a:r>
          </a:p>
          <a:p>
            <a:pPr marL="742950" lvl="1" indent="-285750">
              <a:lnSpc>
                <a:spcPct val="90000"/>
              </a:lnSpc>
              <a:spcBef>
                <a:spcPts val="1000"/>
              </a:spcBef>
              <a:buFont typeface="Courier New"/>
              <a:buChar char="o"/>
            </a:pPr>
            <a:r>
              <a:rPr lang="en-GB" sz="2400">
                <a:solidFill>
                  <a:schemeClr val="bg1"/>
                </a:solidFill>
              </a:rPr>
              <a:t>The 2009 Act grants IMIS/SIS/Revenue significant powers – however nobody officially sets the threats for which these intrusive powers can be used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endParaRPr lang="en-GB" sz="2000">
              <a:solidFill>
                <a:schemeClr val="bg1"/>
              </a:solidFill>
            </a:endParaRPr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endParaRPr lang="en-GB" sz="2000">
              <a:solidFill>
                <a:schemeClr val="bg1"/>
              </a:solidFill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endParaRPr lang="en-GB" sz="2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31701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E4566-0B80-7B51-C29B-62ADC9B9A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D83F5-BE98-92E2-68FF-091BB13B7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45920"/>
            <a:ext cx="12068783" cy="615755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/>
              <a:t>Hidden Expertise: Career Officials</a:t>
            </a:r>
          </a:p>
        </p:txBody>
      </p:sp>
      <p:pic>
        <p:nvPicPr>
          <p:cNvPr id="3" name="Picture 2" descr="A couple of yellow stick figures in a dark room&#10;&#10;AI-generated content may be incorrect.">
            <a:extLst>
              <a:ext uri="{FF2B5EF4-FFF2-40B4-BE49-F238E27FC236}">
                <a16:creationId xmlns:a16="http://schemas.microsoft.com/office/drawing/2014/main" id="{EA846580-AC16-2E20-08E1-AEAA251869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01" y="4418379"/>
            <a:ext cx="12092798" cy="213982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EF604A9-872E-52D6-170A-62B288DA8178}"/>
              </a:ext>
            </a:extLst>
          </p:cNvPr>
          <p:cNvSpPr txBox="1"/>
          <p:nvPr/>
        </p:nvSpPr>
        <p:spPr>
          <a:xfrm>
            <a:off x="7178055" y="6552538"/>
            <a:ext cx="54327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400"/>
              <a:t>DOD (2025), DOJ (2025), AGS (2024), IFG (2020), UK Gov (n.d., b)</a:t>
            </a:r>
            <a:endParaRPr lang="en-GB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BCB10EB-BA65-B104-A725-F57631A5F58F}"/>
              </a:ext>
            </a:extLst>
          </p:cNvPr>
          <p:cNvSpPr/>
          <p:nvPr/>
        </p:nvSpPr>
        <p:spPr>
          <a:xfrm>
            <a:off x="136413" y="1023805"/>
            <a:ext cx="11927728" cy="324143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17FCC5-5625-55F0-30E7-F0B7DB211ECF}"/>
              </a:ext>
            </a:extLst>
          </p:cNvPr>
          <p:cNvSpPr txBox="1"/>
          <p:nvPr/>
        </p:nvSpPr>
        <p:spPr>
          <a:xfrm>
            <a:off x="501771" y="1263398"/>
            <a:ext cx="11558463" cy="36335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GB" sz="2000">
                <a:solidFill>
                  <a:schemeClr val="bg1"/>
                </a:solidFill>
              </a:rPr>
              <a:t>The National Security Committee (NSC) appears balanced in rank and professional experience</a:t>
            </a:r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GB" sz="2000">
                <a:solidFill>
                  <a:schemeClr val="bg1"/>
                </a:solidFill>
                <a:ea typeface="+mn-lt"/>
                <a:cs typeface="+mn-lt"/>
              </a:rPr>
              <a:t>In practice the Civil Service does not professionalise security &amp; intelligence. Key posts are filled by rotating generalists as the norm, not the exception (pers. comm., 2025a; pers. comm, 2025b)</a:t>
            </a:r>
            <a:endParaRPr lang="en-GB">
              <a:solidFill>
                <a:schemeClr val="bg1"/>
              </a:solidFill>
            </a:endParaRPr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GB" sz="2000">
                <a:solidFill>
                  <a:schemeClr val="bg1"/>
                </a:solidFill>
              </a:rPr>
              <a:t>NSC gathers senior officials – though the career security &amp; intelligence professionals are backbenchers</a:t>
            </a:r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GB" sz="2000">
                <a:solidFill>
                  <a:srgbClr val="FFC000"/>
                </a:solidFill>
                <a:ea typeface="+mn-lt"/>
                <a:cs typeface="+mn-lt"/>
              </a:rPr>
              <a:t>Ireland has no dedicated civilian career stream or National Security Adviser role – unlike the UK system we otherwise follow</a:t>
            </a:r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GB" sz="2000">
                <a:solidFill>
                  <a:schemeClr val="bg1"/>
                </a:solidFill>
              </a:rPr>
              <a:t>SIS &amp; IMIS aren't quite 'career intelligence officers' (yet) – though much more so than the civil service</a:t>
            </a:r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endParaRPr lang="en-GB" sz="2000">
              <a:solidFill>
                <a:schemeClr val="bg1"/>
              </a:solidFill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endParaRPr lang="en-GB" sz="2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92750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E4566-0B80-7B51-C29B-62ADC9B9A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D83F5-BE98-92E2-68FF-091BB13B7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45920"/>
            <a:ext cx="12068783" cy="615755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/>
              <a:t>Data Collection and Ireland</a:t>
            </a:r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054B63B-C4CD-DB25-26C3-D15E6576D65F}"/>
              </a:ext>
            </a:extLst>
          </p:cNvPr>
          <p:cNvSpPr/>
          <p:nvPr/>
        </p:nvSpPr>
        <p:spPr>
          <a:xfrm>
            <a:off x="136413" y="1023805"/>
            <a:ext cx="11935718" cy="383806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FA73FC-8D2D-086D-F94B-6245391D211E}"/>
              </a:ext>
            </a:extLst>
          </p:cNvPr>
          <p:cNvSpPr txBox="1"/>
          <p:nvPr/>
        </p:nvSpPr>
        <p:spPr>
          <a:xfrm>
            <a:off x="501771" y="1431486"/>
            <a:ext cx="11325455" cy="40387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GB" sz="2000">
                <a:solidFill>
                  <a:schemeClr val="bg1"/>
                </a:solidFill>
                <a:ea typeface="+mn-lt"/>
                <a:cs typeface="+mn-lt"/>
              </a:rPr>
              <a:t>Our laws were written for phones and SMS, not big data and fast sharing (Barry, 2010; Shatter, 2013)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GB" sz="2000">
                <a:solidFill>
                  <a:schemeClr val="bg1"/>
                </a:solidFill>
                <a:ea typeface="+mn-lt"/>
                <a:cs typeface="+mn-lt"/>
              </a:rPr>
              <a:t>No Irish legal equivalent to bulk collection such as </a:t>
            </a:r>
            <a:r>
              <a:rPr lang="en-GB" sz="2000">
                <a:solidFill>
                  <a:srgbClr val="FFC000"/>
                </a:solidFill>
                <a:ea typeface="+mn-lt"/>
                <a:cs typeface="+mn-lt"/>
              </a:rPr>
              <a:t>PRISM or XKeyscore</a:t>
            </a:r>
            <a:r>
              <a:rPr lang="en-GB" sz="2000">
                <a:solidFill>
                  <a:schemeClr val="bg1"/>
                </a:solidFill>
                <a:ea typeface="+mn-lt"/>
                <a:cs typeface="+mn-lt"/>
              </a:rPr>
              <a:t> (Barry, 2010; Petit, 2020)</a:t>
            </a:r>
            <a:endParaRPr lang="en-GB">
              <a:solidFill>
                <a:schemeClr val="bg1"/>
              </a:solidFill>
              <a:ea typeface="+mn-lt"/>
              <a:cs typeface="+mn-lt"/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GB" sz="2000">
                <a:solidFill>
                  <a:schemeClr val="bg1"/>
                </a:solidFill>
                <a:ea typeface="+mn-lt"/>
                <a:cs typeface="+mn-lt"/>
              </a:rPr>
              <a:t>Data-led targeting is now normal. E.g., IDF tools like “</a:t>
            </a:r>
            <a:r>
              <a:rPr lang="en-GB" sz="2000">
                <a:solidFill>
                  <a:srgbClr val="FFC000"/>
                </a:solidFill>
                <a:ea typeface="+mn-lt"/>
                <a:cs typeface="+mn-lt"/>
              </a:rPr>
              <a:t>The Gospel</a:t>
            </a:r>
            <a:r>
              <a:rPr lang="en-GB" sz="2000">
                <a:solidFill>
                  <a:schemeClr val="bg1"/>
                </a:solidFill>
                <a:ea typeface="+mn-lt"/>
                <a:cs typeface="+mn-lt"/>
              </a:rPr>
              <a:t>” and “</a:t>
            </a:r>
            <a:r>
              <a:rPr lang="en-GB" sz="2000">
                <a:solidFill>
                  <a:srgbClr val="FFC000"/>
                </a:solidFill>
                <a:ea typeface="+mn-lt"/>
                <a:cs typeface="+mn-lt"/>
              </a:rPr>
              <a:t>Lavender</a:t>
            </a:r>
            <a:r>
              <a:rPr lang="en-GB" sz="2000">
                <a:solidFill>
                  <a:schemeClr val="bg1"/>
                </a:solidFill>
                <a:ea typeface="+mn-lt"/>
                <a:cs typeface="+mn-lt"/>
              </a:rPr>
              <a:t>” (Petit, 2020; Sylvia, 2025)</a:t>
            </a:r>
            <a:endParaRPr lang="en-GB">
              <a:solidFill>
                <a:schemeClr val="bg1"/>
              </a:solidFill>
              <a:ea typeface="+mn-lt"/>
              <a:cs typeface="+mn-lt"/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GB" sz="2000">
                <a:solidFill>
                  <a:schemeClr val="bg1"/>
                </a:solidFill>
                <a:ea typeface="+mn-lt"/>
                <a:cs typeface="+mn-lt"/>
              </a:rPr>
              <a:t>Disconnected laws make it hard to move a live lead from data to device to content, or into court (McIntyre, 2016; Coffey, 2024)</a:t>
            </a:r>
            <a:endParaRPr lang="en-GB">
              <a:solidFill>
                <a:schemeClr val="bg1"/>
              </a:solidFill>
              <a:ea typeface="+mn-lt"/>
              <a:cs typeface="+mn-lt"/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GB" sz="2000">
                <a:solidFill>
                  <a:schemeClr val="bg1"/>
                </a:solidFill>
                <a:ea typeface="+mn-lt"/>
                <a:cs typeface="+mn-lt"/>
              </a:rPr>
              <a:t>The Programme for Government promises a Communications (Interception and Lawful Access) Bill to modernise data and access rules (Government of Ireland, 2020)</a:t>
            </a:r>
            <a:endParaRPr lang="en-GB">
              <a:solidFill>
                <a:schemeClr val="bg1"/>
              </a:solidFill>
              <a:ea typeface="+mn-lt"/>
              <a:cs typeface="+mn-lt"/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endParaRPr lang="en-GB" sz="2000">
              <a:solidFill>
                <a:schemeClr val="bg1"/>
              </a:solidFill>
              <a:ea typeface="+mn-lt"/>
              <a:cs typeface="+mn-lt"/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endParaRPr lang="en-GB" sz="2000">
              <a:solidFill>
                <a:schemeClr val="bg1"/>
              </a:solidFill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endParaRPr lang="en-GB" sz="2000">
              <a:solidFill>
                <a:schemeClr val="bg1"/>
              </a:solidFill>
            </a:endParaRPr>
          </a:p>
        </p:txBody>
      </p:sp>
      <p:pic>
        <p:nvPicPr>
          <p:cNvPr id="3" name="Picture 2" descr="Documents describe XKeyscore as the NSA's &quot;widest reaching&quot; system capable of mining intelligence from the Internet.">
            <a:extLst>
              <a:ext uri="{FF2B5EF4-FFF2-40B4-BE49-F238E27FC236}">
                <a16:creationId xmlns:a16="http://schemas.microsoft.com/office/drawing/2014/main" id="{16F698DD-EA3B-2D58-32B0-E8D33A30EB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3144" y="4925753"/>
            <a:ext cx="3354572" cy="193291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F5F4AFD-B48F-0A20-D23F-A9C291CBAA15}"/>
              </a:ext>
            </a:extLst>
          </p:cNvPr>
          <p:cNvSpPr txBox="1"/>
          <p:nvPr/>
        </p:nvSpPr>
        <p:spPr>
          <a:xfrm>
            <a:off x="9578289" y="6552538"/>
            <a:ext cx="4211012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E" sz="1400"/>
              <a:t>Lischka, K. and Stocker, C (2013)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28019703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79367-C759-1006-476B-1E887EB27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68114-0D33-82E5-A138-0DBF2F012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45920"/>
            <a:ext cx="12068783" cy="615755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/>
              <a:t>Future Considerations </a:t>
            </a:r>
            <a:endParaRPr lang="en-GB" b="1">
              <a:solidFill>
                <a:srgbClr val="FFC000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4734B89-1689-1FF2-2EC9-2313D1752E0D}"/>
              </a:ext>
            </a:extLst>
          </p:cNvPr>
          <p:cNvGrpSpPr/>
          <p:nvPr/>
        </p:nvGrpSpPr>
        <p:grpSpPr>
          <a:xfrm>
            <a:off x="769105" y="2867878"/>
            <a:ext cx="5538280" cy="2343151"/>
            <a:chOff x="769105" y="2867878"/>
            <a:chExt cx="5538280" cy="2343151"/>
          </a:xfrm>
        </p:grpSpPr>
        <p:pic>
          <p:nvPicPr>
            <p:cNvPr id="1026" name="Picture 2" descr="Garda National Crime &amp; Security Intelligence Service - Garda">
              <a:extLst>
                <a:ext uri="{FF2B5EF4-FFF2-40B4-BE49-F238E27FC236}">
                  <a16:creationId xmlns:a16="http://schemas.microsoft.com/office/drawing/2014/main" id="{8D085F93-DE8A-1111-4A72-7D34ED7378A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14" t="13393" r="6835" b="13393"/>
            <a:stretch>
              <a:fillRect/>
            </a:stretch>
          </p:blipFill>
          <p:spPr bwMode="auto">
            <a:xfrm>
              <a:off x="769105" y="2867878"/>
              <a:ext cx="5538280" cy="23431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139AB904-8351-E80C-76D1-70CA9916E042}"/>
                </a:ext>
              </a:extLst>
            </p:cNvPr>
            <p:cNvSpPr txBox="1"/>
            <p:nvPr/>
          </p:nvSpPr>
          <p:spPr>
            <a:xfrm>
              <a:off x="769105" y="4964808"/>
              <a:ext cx="16191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000"/>
                <a:t>(An Garda Síochána, n.d.)</a:t>
              </a:r>
              <a:endParaRPr lang="en-IE" sz="100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BA3C845-D30E-FA75-1CA1-0DF229C52842}"/>
              </a:ext>
            </a:extLst>
          </p:cNvPr>
          <p:cNvGrpSpPr/>
          <p:nvPr/>
        </p:nvGrpSpPr>
        <p:grpSpPr>
          <a:xfrm>
            <a:off x="8051879" y="2867879"/>
            <a:ext cx="2381250" cy="2589371"/>
            <a:chOff x="8051879" y="2867879"/>
            <a:chExt cx="2381250" cy="2589371"/>
          </a:xfrm>
        </p:grpSpPr>
        <p:pic>
          <p:nvPicPr>
            <p:cNvPr id="1028" name="Picture 4">
              <a:extLst>
                <a:ext uri="{FF2B5EF4-FFF2-40B4-BE49-F238E27FC236}">
                  <a16:creationId xmlns:a16="http://schemas.microsoft.com/office/drawing/2014/main" id="{0431A082-81E4-58E4-5053-43CDD27DEF4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51879" y="2867879"/>
              <a:ext cx="2381250" cy="23431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EC6449A-57F0-385D-0A6D-17CB8EF1D737}"/>
                </a:ext>
              </a:extLst>
            </p:cNvPr>
            <p:cNvSpPr txBox="1"/>
            <p:nvPr/>
          </p:nvSpPr>
          <p:spPr>
            <a:xfrm>
              <a:off x="8694269" y="5211029"/>
              <a:ext cx="142715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000"/>
                <a:t>(An Cosantóir, 2025)</a:t>
              </a:r>
              <a:endParaRPr lang="en-IE" sz="1000"/>
            </a:p>
          </p:txBody>
        </p:sp>
      </p:grpSp>
    </p:spTree>
    <p:extLst>
      <p:ext uri="{BB962C8B-B14F-4D97-AF65-F5344CB8AC3E}">
        <p14:creationId xmlns:p14="http://schemas.microsoft.com/office/powerpoint/2010/main" val="6563638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52372-8E7F-4A4D-E07D-05EC7749C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A551C-AEBC-6329-2985-B853FA145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75" y="145920"/>
            <a:ext cx="12068783" cy="615755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/>
              <a:t>Threat Evolution</a:t>
            </a:r>
            <a:endParaRPr lang="en-GB" b="1">
              <a:solidFill>
                <a:srgbClr val="FFC000"/>
              </a:solidFill>
            </a:endParaRPr>
          </a:p>
        </p:txBody>
      </p:sp>
      <p:pic>
        <p:nvPicPr>
          <p:cNvPr id="7" name="Picture 6" descr="A red and blue arrows with white text&#10;&#10;AI-generated content may be incorrect.">
            <a:extLst>
              <a:ext uri="{FF2B5EF4-FFF2-40B4-BE49-F238E27FC236}">
                <a16:creationId xmlns:a16="http://schemas.microsoft.com/office/drawing/2014/main" id="{2830E47E-63EC-361A-7B0C-D23312871D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6328" y="4195128"/>
            <a:ext cx="8214421" cy="2365186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D8F6C10-BF35-04FE-B91A-D8622F8DC7CB}"/>
              </a:ext>
            </a:extLst>
          </p:cNvPr>
          <p:cNvSpPr/>
          <p:nvPr/>
        </p:nvSpPr>
        <p:spPr>
          <a:xfrm>
            <a:off x="129958" y="1050619"/>
            <a:ext cx="11938824" cy="265973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48439F-6FD4-8054-31E6-C6BEFF72C6CC}"/>
              </a:ext>
            </a:extLst>
          </p:cNvPr>
          <p:cNvSpPr txBox="1"/>
          <p:nvPr/>
        </p:nvSpPr>
        <p:spPr>
          <a:xfrm>
            <a:off x="495316" y="1158498"/>
            <a:ext cx="11325455" cy="2951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GB" sz="2000">
                <a:solidFill>
                  <a:schemeClr val="bg1"/>
                </a:solidFill>
              </a:rPr>
              <a:t>In the 21st century, the United States has clearly articulated the evolution to a </a:t>
            </a:r>
            <a:r>
              <a:rPr lang="en-GB" sz="2000">
                <a:solidFill>
                  <a:srgbClr val="FFC000"/>
                </a:solidFill>
              </a:rPr>
              <a:t>state-based threat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GB" sz="2000">
                <a:solidFill>
                  <a:schemeClr val="bg1"/>
                </a:solidFill>
              </a:rPr>
              <a:t>Ireland's intelligence focus has migrated from terrorism to espionage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GB" sz="2000">
                <a:solidFill>
                  <a:schemeClr val="bg1"/>
                </a:solidFill>
              </a:rPr>
              <a:t>Internationally, this focus hasn't arisen since the end of the Cold War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GB" sz="2000">
                <a:solidFill>
                  <a:schemeClr val="bg1"/>
                </a:solidFill>
              </a:rPr>
              <a:t>We note that security, police and defence implications persist regarding the increasing short-term likelihood of GFA reunification/boarder poll, per Collins (2025)</a:t>
            </a:r>
          </a:p>
          <a:p>
            <a:pPr marL="742950" lvl="1" indent="-285750">
              <a:lnSpc>
                <a:spcPct val="90000"/>
              </a:lnSpc>
              <a:spcBef>
                <a:spcPts val="1000"/>
              </a:spcBef>
              <a:buFont typeface="Courier New"/>
              <a:buChar char="o"/>
            </a:pPr>
            <a:r>
              <a:rPr lang="en-GB" sz="2000">
                <a:solidFill>
                  <a:schemeClr val="bg1"/>
                </a:solidFill>
              </a:rPr>
              <a:t>Given the post-conflict nature of Northern Ireland's society, the safe conduct of this conversation will require meaningful IMIS/SIS input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endParaRPr lang="en-GB" sz="200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8E96B6-3F19-19DA-0808-E2606C730252}"/>
              </a:ext>
            </a:extLst>
          </p:cNvPr>
          <p:cNvSpPr txBox="1"/>
          <p:nvPr/>
        </p:nvSpPr>
        <p:spPr>
          <a:xfrm>
            <a:off x="10699355" y="6544409"/>
            <a:ext cx="335280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400"/>
              <a:t>(ODNI, 2025)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3461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D2E07-01B4-783F-0C67-9FDB2BDDB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E2966-0C06-ACBE-1C7F-AE011A73E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75" y="145920"/>
            <a:ext cx="12068783" cy="615755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/>
              <a:t>Immature Irish Civil Military Relationships</a:t>
            </a:r>
            <a:endParaRPr lang="en-GB" b="1">
              <a:solidFill>
                <a:srgbClr val="FFC000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9A2BFD8-4ED4-1648-9794-7EDFD01E2DD9}"/>
              </a:ext>
            </a:extLst>
          </p:cNvPr>
          <p:cNvSpPr/>
          <p:nvPr/>
        </p:nvSpPr>
        <p:spPr>
          <a:xfrm>
            <a:off x="136413" y="859682"/>
            <a:ext cx="12040153" cy="465579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EA739D-042A-391B-9F60-B5D8A65620D1}"/>
              </a:ext>
            </a:extLst>
          </p:cNvPr>
          <p:cNvSpPr txBox="1"/>
          <p:nvPr/>
        </p:nvSpPr>
        <p:spPr>
          <a:xfrm>
            <a:off x="589214" y="1030019"/>
            <a:ext cx="11325455" cy="5787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GB" sz="2000">
                <a:solidFill>
                  <a:schemeClr val="bg1"/>
                </a:solidFill>
              </a:rPr>
              <a:t>Partner nations adopt </a:t>
            </a:r>
            <a:r>
              <a:rPr lang="en-GB" sz="2000">
                <a:solidFill>
                  <a:srgbClr val="FFC000"/>
                </a:solidFill>
              </a:rPr>
              <a:t>Janowitz's (1960) 'constabulary' model</a:t>
            </a:r>
            <a:r>
              <a:rPr lang="en-GB" sz="2000">
                <a:solidFill>
                  <a:schemeClr val="bg1"/>
                </a:solidFill>
              </a:rPr>
              <a:t> – informing &amp; involving the public</a:t>
            </a:r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GB" sz="2000">
                <a:solidFill>
                  <a:schemeClr val="bg1"/>
                </a:solidFill>
              </a:rPr>
              <a:t>For Ireland, public comment on security and intelligence is shrouded in secrecy</a:t>
            </a:r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GB" sz="2000">
                <a:solidFill>
                  <a:schemeClr val="bg1"/>
                </a:solidFill>
                <a:ea typeface="+mn-lt"/>
                <a:cs typeface="+mn-lt"/>
              </a:rPr>
              <a:t>Without public trust, the void is filled with others' information</a:t>
            </a:r>
          </a:p>
          <a:p>
            <a:pPr marL="800100" lvl="1" indent="-342900">
              <a:lnSpc>
                <a:spcPct val="90000"/>
              </a:lnSpc>
              <a:spcBef>
                <a:spcPts val="1000"/>
              </a:spcBef>
              <a:buFont typeface="Courier New"/>
              <a:buChar char="o"/>
            </a:pPr>
            <a:r>
              <a:rPr lang="en-GB" sz="2000">
                <a:solidFill>
                  <a:schemeClr val="bg1"/>
                </a:solidFill>
                <a:ea typeface="+mn-lt"/>
                <a:cs typeface="+mn-lt"/>
              </a:rPr>
              <a:t>Foreign states can capitalise via mis and dis information</a:t>
            </a:r>
          </a:p>
          <a:p>
            <a:pPr marL="800100" lvl="1" indent="-342900">
              <a:lnSpc>
                <a:spcPct val="90000"/>
              </a:lnSpc>
              <a:spcBef>
                <a:spcPts val="1000"/>
              </a:spcBef>
              <a:buFont typeface="Courier New"/>
              <a:buChar char="o"/>
            </a:pPr>
            <a:r>
              <a:rPr lang="en-GB" sz="2000">
                <a:solidFill>
                  <a:schemeClr val="bg1"/>
                </a:solidFill>
                <a:ea typeface="+mn-lt"/>
                <a:cs typeface="+mn-lt"/>
              </a:rPr>
              <a:t>Well intentioned national academics incorrectly conclude that the structures don't exist</a:t>
            </a:r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GB" sz="2000">
                <a:solidFill>
                  <a:schemeClr val="bg1"/>
                </a:solidFill>
                <a:ea typeface="+mn-lt"/>
                <a:cs typeface="+mn-lt"/>
              </a:rPr>
              <a:t>The CIA, UK MI6, NZ SIS etc., publish their assessments and build public trust</a:t>
            </a:r>
          </a:p>
          <a:p>
            <a:pPr marL="800100" lvl="1" indent="-342900">
              <a:lnSpc>
                <a:spcPct val="90000"/>
              </a:lnSpc>
              <a:spcBef>
                <a:spcPts val="1000"/>
              </a:spcBef>
              <a:buFont typeface="Courier New"/>
              <a:buChar char="o"/>
            </a:pPr>
            <a:r>
              <a:rPr lang="en-GB" sz="2000">
                <a:solidFill>
                  <a:schemeClr val="bg1"/>
                </a:solidFill>
              </a:rPr>
              <a:t>UK Parliamentary report (ISCP, 2023) &amp; US National Security Strategy clearly identify the primary threat as from Russian and Chinese espionage  (ODNI, 2025)</a:t>
            </a:r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GB" sz="2000">
                <a:solidFill>
                  <a:schemeClr val="bg1"/>
                </a:solidFill>
              </a:rPr>
              <a:t>Ireland's security discussion is constrained by politics – politicians refuse to engage officially for fear of political rhetorical backlash</a:t>
            </a:r>
          </a:p>
          <a:p>
            <a:pPr marL="800100" lvl="1" indent="-342900">
              <a:lnSpc>
                <a:spcPct val="90000"/>
              </a:lnSpc>
              <a:spcBef>
                <a:spcPts val="1000"/>
              </a:spcBef>
              <a:buFont typeface="Courier New"/>
              <a:buChar char="o"/>
            </a:pPr>
            <a:endParaRPr lang="en-GB" sz="2000">
              <a:solidFill>
                <a:schemeClr val="bg1"/>
              </a:solidFill>
            </a:endParaRPr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GB" sz="2000">
                <a:solidFill>
                  <a:schemeClr val="bg1"/>
                </a:solidFill>
              </a:rPr>
              <a:t>Vignette: To counter Russian pre-war disinformation, the CIA made all their assessments public</a:t>
            </a:r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endParaRPr lang="en-GB" sz="2000">
              <a:solidFill>
                <a:schemeClr val="bg1"/>
              </a:solidFill>
            </a:endParaRPr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endParaRPr lang="en-GB" sz="2000">
              <a:solidFill>
                <a:schemeClr val="bg1"/>
              </a:solidFill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endParaRPr lang="en-GB" sz="2000">
              <a:solidFill>
                <a:schemeClr val="bg1"/>
              </a:solidFill>
            </a:endParaRP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0CCB251-7FD0-DD3C-AFEE-4A7FE9067D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214" b="45048"/>
          <a:stretch>
            <a:fillRect/>
          </a:stretch>
        </p:blipFill>
        <p:spPr>
          <a:xfrm>
            <a:off x="3944712" y="5545372"/>
            <a:ext cx="3373395" cy="130090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A82B255-70C7-EB26-C2FB-F231A299995B}"/>
              </a:ext>
            </a:extLst>
          </p:cNvPr>
          <p:cNvSpPr txBox="1"/>
          <p:nvPr/>
        </p:nvSpPr>
        <p:spPr>
          <a:xfrm>
            <a:off x="7512667" y="6552538"/>
            <a:ext cx="4211012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E" sz="1400"/>
              <a:t>NZ SIS (2025)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30454584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A279B-EFBE-65FF-8A93-6C729295B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636FC-44E5-02CC-FA47-209575DA9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75" y="145920"/>
            <a:ext cx="12068783" cy="615755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/>
              <a:t>Comparative Views: Sweden and NZ</a:t>
            </a:r>
            <a:endParaRPr lang="en-GB" b="1">
              <a:solidFill>
                <a:srgbClr val="000000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2A32FA2-0E8F-9B02-92A9-521CA4B7E2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9837927"/>
              </p:ext>
            </p:extLst>
          </p:nvPr>
        </p:nvGraphicFramePr>
        <p:xfrm>
          <a:off x="1253289" y="832184"/>
          <a:ext cx="9690788" cy="56447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2697">
                  <a:extLst>
                    <a:ext uri="{9D8B030D-6E8A-4147-A177-3AD203B41FA5}">
                      <a16:colId xmlns:a16="http://schemas.microsoft.com/office/drawing/2014/main" val="3711595456"/>
                    </a:ext>
                  </a:extLst>
                </a:gridCol>
                <a:gridCol w="2422697">
                  <a:extLst>
                    <a:ext uri="{9D8B030D-6E8A-4147-A177-3AD203B41FA5}">
                      <a16:colId xmlns:a16="http://schemas.microsoft.com/office/drawing/2014/main" val="920656338"/>
                    </a:ext>
                  </a:extLst>
                </a:gridCol>
                <a:gridCol w="2422697">
                  <a:extLst>
                    <a:ext uri="{9D8B030D-6E8A-4147-A177-3AD203B41FA5}">
                      <a16:colId xmlns:a16="http://schemas.microsoft.com/office/drawing/2014/main" val="1670912215"/>
                    </a:ext>
                  </a:extLst>
                </a:gridCol>
                <a:gridCol w="2422697">
                  <a:extLst>
                    <a:ext uri="{9D8B030D-6E8A-4147-A177-3AD203B41FA5}">
                      <a16:colId xmlns:a16="http://schemas.microsoft.com/office/drawing/2014/main" val="1306199111"/>
                    </a:ext>
                  </a:extLst>
                </a:gridCol>
              </a:tblGrid>
              <a:tr h="54000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/>
                        <a:t>Topic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/>
                        <a:t>Ireland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/>
                        <a:t>Sweden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/>
                        <a:t>New Zealand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5833783"/>
                  </a:ext>
                </a:extLst>
              </a:tr>
              <a:tr h="95465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/>
                        <a:t>Primary Agencies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GB" sz="1200"/>
                        <a:t>No central agency</a:t>
                      </a:r>
                      <a:endParaRPr lang="en-US"/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GB" sz="1200"/>
                        <a:t>Split across Gardai/ Def. Forces/ Various dept.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/>
                        <a:buChar char="•"/>
                      </a:pPr>
                      <a:r>
                        <a:rPr lang="en-GB" sz="1200"/>
                        <a:t>SÄPO - Domestic</a:t>
                      </a:r>
                    </a:p>
                    <a:p>
                      <a:pPr marL="171450" lvl="0" indent="-171450">
                        <a:buFont typeface="Arial"/>
                        <a:buChar char="•"/>
                      </a:pPr>
                      <a:r>
                        <a:rPr lang="en-GB" sz="1200"/>
                        <a:t>MUST – External (Military)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/>
                        <a:buChar char="•"/>
                      </a:pPr>
                      <a:r>
                        <a:rPr lang="en-GB" sz="1200"/>
                        <a:t>NZSIS – Mitigates threats to national security</a:t>
                      </a:r>
                    </a:p>
                    <a:p>
                      <a:pPr marL="171450" lvl="0" indent="-171450">
                        <a:buFont typeface="Arial"/>
                        <a:buChar char="•"/>
                      </a:pPr>
                      <a:r>
                        <a:rPr lang="en-GB" sz="1200"/>
                        <a:t>GCSB – Analyse signal intel to support informed decision making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7732286"/>
                  </a:ext>
                </a:extLst>
              </a:tr>
              <a:tr h="60750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/>
                        <a:t>Strategic Threat Focus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GB" sz="1200"/>
                        <a:t>Historically terrorism focused</a:t>
                      </a:r>
                      <a:endParaRPr lang="en-US"/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GB" sz="1200"/>
                        <a:t>Gradually shifting to state-based espionage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/>
                        <a:buChar char="•"/>
                      </a:pPr>
                      <a:r>
                        <a:rPr lang="en-GB" sz="1200"/>
                        <a:t>Focus on Russia</a:t>
                      </a:r>
                    </a:p>
                    <a:p>
                      <a:pPr marL="171450" lvl="0" indent="-171450">
                        <a:buFont typeface="Arial"/>
                        <a:buChar char="•"/>
                      </a:pPr>
                      <a:r>
                        <a:rPr lang="en-GB" sz="1200"/>
                        <a:t>Cyber threats / Grey Zone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/>
                        <a:buChar char="•"/>
                      </a:pPr>
                      <a:r>
                        <a:rPr lang="en-GB" sz="1200"/>
                        <a:t>Focus on PRC and Russia</a:t>
                      </a:r>
                    </a:p>
                    <a:p>
                      <a:pPr marL="171450" lvl="0" indent="-171450">
                        <a:buFont typeface="Arial"/>
                        <a:buChar char="•"/>
                      </a:pPr>
                      <a:r>
                        <a:rPr lang="en-GB" sz="1200"/>
                        <a:t>Cyber espionage</a:t>
                      </a:r>
                    </a:p>
                    <a:p>
                      <a:pPr marL="171450" lvl="0" indent="-171450">
                        <a:buFont typeface="Arial"/>
                        <a:buChar char="•"/>
                      </a:pPr>
                      <a:r>
                        <a:rPr lang="en-GB" sz="1200"/>
                        <a:t>Shaped by Five Eyes priorities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6460317"/>
                  </a:ext>
                </a:extLst>
              </a:tr>
              <a:tr h="906442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/>
                        <a:t>Coordination and Structure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GB" sz="1200"/>
                        <a:t>Informal, habit-based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GB" sz="1200"/>
                        <a:t>National Security Secretariat lacks statutory authority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/>
                        <a:buChar char="•"/>
                      </a:pPr>
                      <a:r>
                        <a:rPr lang="en-GB" sz="1200"/>
                        <a:t>Structured coordination</a:t>
                      </a:r>
                    </a:p>
                    <a:p>
                      <a:pPr marL="171450" lvl="0" indent="-171450">
                        <a:buFont typeface="Arial"/>
                        <a:buChar char="•"/>
                      </a:pPr>
                      <a:r>
                        <a:rPr lang="en-GB" sz="1200"/>
                        <a:t>Established boards</a:t>
                      </a:r>
                    </a:p>
                    <a:p>
                      <a:pPr marL="171450" lvl="0" indent="-171450">
                        <a:buFont typeface="Arial"/>
                        <a:buChar char="•"/>
                      </a:pPr>
                      <a:r>
                        <a:rPr lang="en-GB" sz="1200"/>
                        <a:t>Formal interagency processes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/>
                        <a:buChar char="•"/>
                      </a:pPr>
                      <a:r>
                        <a:rPr lang="en-GB" sz="12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Highly integrated under NZIC</a:t>
                      </a:r>
                      <a:endParaRPr lang="en-GB" sz="1200"/>
                    </a:p>
                    <a:p>
                      <a:pPr marL="171450" lvl="0" indent="-171450">
                        <a:buFont typeface="Arial"/>
                        <a:buChar char="•"/>
                      </a:pPr>
                      <a:r>
                        <a:rPr lang="en-GB" sz="1200"/>
                        <a:t>NAB – central all-of-government assessments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590105"/>
                  </a:ext>
                </a:extLst>
              </a:tr>
              <a:tr h="60750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/>
                        <a:t>Legislative Framework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GB" sz="1200"/>
                        <a:t>Fragmented legislation</a:t>
                      </a:r>
                      <a:endParaRPr lang="en-US"/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GB" sz="1200"/>
                        <a:t>Political reluctance to reform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/>
                        <a:buChar char="•"/>
                      </a:pPr>
                      <a:r>
                        <a:rPr lang="en-GB" sz="1200"/>
                        <a:t>Clear laws on intelligence and surveillance</a:t>
                      </a:r>
                    </a:p>
                    <a:p>
                      <a:pPr marL="171450" lvl="0" indent="-171450">
                        <a:buFont typeface="Arial"/>
                        <a:buChar char="•"/>
                      </a:pPr>
                      <a:r>
                        <a:rPr lang="en-GB" sz="1200"/>
                        <a:t>Aligned with EU privacy norms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/>
                        <a:buChar char="•"/>
                      </a:pPr>
                      <a:r>
                        <a:rPr lang="en-GB" sz="1200"/>
                        <a:t>Robust defining collection, access, and use of intelligence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8665391"/>
                  </a:ext>
                </a:extLst>
              </a:tr>
              <a:tr h="95465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/>
                        <a:t>Oversight &amp; Accountability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GB" sz="1200"/>
                        <a:t>Limited oversight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GB" sz="1200"/>
                        <a:t>FOI exemptions limit scrutiny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171450" lvl="0" indent="-171450">
                        <a:buFont typeface="Arial"/>
                        <a:buChar char="•"/>
                      </a:pPr>
                      <a:r>
                        <a:rPr lang="en-GB" sz="1200"/>
                        <a:t>Multiple oversight agencies</a:t>
                      </a:r>
                    </a:p>
                    <a:p>
                      <a:pPr marL="171450" lvl="0" indent="-171450">
                        <a:buFont typeface="Arial"/>
                        <a:buChar char="•"/>
                      </a:pPr>
                      <a:r>
                        <a:rPr lang="en-GB" sz="1200"/>
                        <a:t>Swedish Commission on Security &amp; Integrity Protection</a:t>
                      </a:r>
                    </a:p>
                    <a:p>
                      <a:pPr marL="171450" lvl="0" indent="-171450">
                        <a:buFont typeface="Arial"/>
                        <a:buChar char="•"/>
                      </a:pPr>
                      <a:r>
                        <a:rPr lang="en-GB" sz="1200"/>
                        <a:t>Swedish Foreign Intelligence Inspectorate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171450" lvl="0" indent="-171450">
                        <a:buFont typeface="Arial"/>
                        <a:buChar char="•"/>
                      </a:pPr>
                      <a:r>
                        <a:rPr lang="en-GB" sz="1200"/>
                        <a:t>Inspector-General of Intelligence and Security</a:t>
                      </a:r>
                    </a:p>
                    <a:p>
                      <a:pPr marL="171450" lvl="0" indent="-171450">
                        <a:buFont typeface="Arial"/>
                        <a:buChar char="•"/>
                      </a:pPr>
                      <a:r>
                        <a:rPr lang="en-GB" sz="1200"/>
                        <a:t>Dept of Prime Minister and Cabinet</a:t>
                      </a:r>
                    </a:p>
                    <a:p>
                      <a:pPr marL="171450" lvl="0" indent="-171450">
                        <a:buFont typeface="Arial"/>
                        <a:buChar char="•"/>
                      </a:pPr>
                      <a:r>
                        <a:rPr lang="en-GB" sz="1200"/>
                        <a:t>Strict review of legality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8858481"/>
                  </a:ext>
                </a:extLst>
              </a:tr>
              <a:tr h="906442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/>
                        <a:t>Transparency &amp; Public Engagement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GB" sz="1200"/>
                        <a:t>Very limited public reporting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GB" sz="1200"/>
                        <a:t>Secrecy culture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GB" sz="1200"/>
                        <a:t>Low public trust</a:t>
                      </a:r>
                      <a:endParaRPr lang="en-GB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171450" lvl="0" indent="-171450">
                        <a:buFont typeface="Arial"/>
                        <a:buChar char="•"/>
                      </a:pPr>
                      <a:r>
                        <a:rPr lang="en-GB" sz="1200"/>
                        <a:t>Publish annual reports</a:t>
                      </a:r>
                    </a:p>
                    <a:p>
                      <a:pPr marL="171450" lvl="0" indent="-171450">
                        <a:buFont typeface="Arial"/>
                        <a:buChar char="•"/>
                      </a:pPr>
                      <a:r>
                        <a:rPr lang="en-GB" sz="1200"/>
                        <a:t>Proactive communication</a:t>
                      </a:r>
                    </a:p>
                    <a:p>
                      <a:pPr marL="171450" lvl="0" indent="-171450">
                        <a:buFont typeface="Arial"/>
                        <a:buChar char="•"/>
                      </a:pPr>
                      <a:r>
                        <a:rPr lang="en-GB" sz="1200"/>
                        <a:t>High public trust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171450" lvl="0" indent="-171450">
                        <a:buFont typeface="Arial"/>
                        <a:buChar char="•"/>
                      </a:pPr>
                      <a:r>
                        <a:rPr lang="en-GB" sz="1200"/>
                        <a:t>Publishes threat assessments and declassified findings</a:t>
                      </a:r>
                    </a:p>
                    <a:p>
                      <a:pPr marL="171450" lvl="0" indent="-171450">
                        <a:buFont typeface="Arial"/>
                        <a:buChar char="•"/>
                      </a:pPr>
                      <a:r>
                        <a:rPr lang="en-GB" sz="1200"/>
                        <a:t>Among the most transparent globally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484044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840FB8F-19C4-F9B7-F82C-82F6965ABAE9}"/>
              </a:ext>
            </a:extLst>
          </p:cNvPr>
          <p:cNvSpPr txBox="1"/>
          <p:nvPr/>
        </p:nvSpPr>
        <p:spPr>
          <a:xfrm>
            <a:off x="6963329" y="6582186"/>
            <a:ext cx="5450305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200"/>
              <a:t>(Hefler, 2024; </a:t>
            </a:r>
            <a:r>
              <a:rPr lang="en-GB" sz="1200" err="1"/>
              <a:t>Mulqeen</a:t>
            </a:r>
            <a:r>
              <a:rPr lang="en-GB" sz="1200"/>
              <a:t>, 2009; NZIC, 2025; NZSIS,2025; Cullen &amp; Reddy, 2016) </a:t>
            </a:r>
          </a:p>
        </p:txBody>
      </p:sp>
    </p:spTree>
    <p:extLst>
      <p:ext uri="{BB962C8B-B14F-4D97-AF65-F5344CB8AC3E}">
        <p14:creationId xmlns:p14="http://schemas.microsoft.com/office/powerpoint/2010/main" val="27955937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AFE4EB-EB38-C70B-E3D0-6F25908E9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E818B-4498-FFC5-3F60-DC54288F5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75" y="145920"/>
            <a:ext cx="12068783" cy="615755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/>
              <a:t>Data Collection and European Law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B3CBA74-119E-B3FF-F790-E3B9029D1E96}"/>
              </a:ext>
            </a:extLst>
          </p:cNvPr>
          <p:cNvSpPr/>
          <p:nvPr/>
        </p:nvSpPr>
        <p:spPr>
          <a:xfrm>
            <a:off x="136413" y="1023805"/>
            <a:ext cx="11934964" cy="467233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22F097-B018-354D-5E0F-B85380BCAE1B}"/>
              </a:ext>
            </a:extLst>
          </p:cNvPr>
          <p:cNvSpPr txBox="1"/>
          <p:nvPr/>
        </p:nvSpPr>
        <p:spPr>
          <a:xfrm>
            <a:off x="501771" y="1431486"/>
            <a:ext cx="11325455" cy="5018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GB" sz="2400">
                <a:solidFill>
                  <a:schemeClr val="bg1"/>
                </a:solidFill>
                <a:ea typeface="+mn-lt"/>
                <a:cs typeface="+mn-lt"/>
              </a:rPr>
              <a:t>GDPR steps back for national security: </a:t>
            </a:r>
            <a:r>
              <a:rPr lang="en-GB" sz="2400" err="1">
                <a:solidFill>
                  <a:schemeClr val="bg1"/>
                </a:solidFill>
                <a:ea typeface="+mn-lt"/>
                <a:cs typeface="+mn-lt"/>
              </a:rPr>
              <a:t>ePrivacy</a:t>
            </a:r>
            <a:r>
              <a:rPr lang="en-GB" sz="2400">
                <a:solidFill>
                  <a:schemeClr val="bg1"/>
                </a:solidFill>
                <a:ea typeface="+mn-lt"/>
                <a:cs typeface="+mn-lt"/>
              </a:rPr>
              <a:t> + courts set the real limits. (GDPR Art. 2(2)(a), Recital 16; Directive 2002/58/EC Arts 5, 15)</a:t>
            </a:r>
            <a:endParaRPr lang="en-GB" sz="2400">
              <a:solidFill>
                <a:schemeClr val="bg1"/>
              </a:solidFill>
              <a:ea typeface="+mn-lt"/>
              <a:cs typeface="Times New Roman"/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GB" sz="2400">
                <a:solidFill>
                  <a:srgbClr val="FFC000"/>
                </a:solidFill>
                <a:ea typeface="+mn-lt"/>
                <a:cs typeface="+mn-lt"/>
              </a:rPr>
              <a:t>CJEU bars indiscriminate data collection</a:t>
            </a:r>
            <a:r>
              <a:rPr lang="en-GB" sz="2400">
                <a:solidFill>
                  <a:schemeClr val="bg1"/>
                </a:solidFill>
                <a:ea typeface="+mn-lt"/>
                <a:cs typeface="+mn-lt"/>
              </a:rPr>
              <a:t> per XKeyscore and PRISM (C-623/17; C-511/18, C-512/18, C-520/18)</a:t>
            </a:r>
            <a:endParaRPr lang="en-GB" sz="2400">
              <a:solidFill>
                <a:schemeClr val="bg1"/>
              </a:solidFill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GB" sz="2400">
                <a:solidFill>
                  <a:schemeClr val="bg1"/>
                </a:solidFill>
                <a:ea typeface="+mn-lt"/>
                <a:cs typeface="+mn-lt"/>
              </a:rPr>
              <a:t>Any bill needs narrow criteria, strict retention, independent sign-off (Directive 2002/58/EC Art. 15; Data Protection Act 2018 s. 60)</a:t>
            </a:r>
            <a:endParaRPr lang="en-GB" sz="2400">
              <a:solidFill>
                <a:schemeClr val="bg1"/>
              </a:solidFill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GB" sz="2400">
                <a:solidFill>
                  <a:schemeClr val="bg1"/>
                </a:solidFill>
                <a:ea typeface="+mn-lt"/>
                <a:cs typeface="+mn-lt"/>
              </a:rPr>
              <a:t>For Ireland, the legislative question is whether to emulate that kind of centralised surveillance architecture or to design a narrower, more plural model that better reflects entrenched Irish privacy scepticism about “</a:t>
            </a:r>
            <a:r>
              <a:rPr lang="en-GB" sz="2400">
                <a:solidFill>
                  <a:srgbClr val="FFC000"/>
                </a:solidFill>
                <a:ea typeface="+mn-lt"/>
                <a:cs typeface="+mn-lt"/>
              </a:rPr>
              <a:t>everywhere surveillance</a:t>
            </a:r>
            <a:r>
              <a:rPr lang="en-GB" sz="2400">
                <a:solidFill>
                  <a:schemeClr val="bg1"/>
                </a:solidFill>
                <a:ea typeface="+mn-lt"/>
                <a:cs typeface="+mn-lt"/>
              </a:rPr>
              <a:t>” (Petit, 2020)</a:t>
            </a:r>
            <a:endParaRPr lang="en-GB" sz="2400">
              <a:solidFill>
                <a:schemeClr val="bg1"/>
              </a:solidFill>
              <a:ea typeface="+mn-lt"/>
              <a:cs typeface="Times New Roman"/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endParaRPr lang="en-GB" sz="2000">
              <a:solidFill>
                <a:schemeClr val="bg1"/>
              </a:solidFill>
              <a:latin typeface="Aptos"/>
              <a:ea typeface="+mn-lt"/>
              <a:cs typeface="Times New Roman"/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endParaRPr lang="en-GB" sz="2000">
              <a:solidFill>
                <a:schemeClr val="bg1"/>
              </a:solidFill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endParaRPr lang="en-GB" sz="2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06342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B3C93-DC84-DCF4-3ADE-AE69B4D3C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59F13-CAD9-2438-5487-E98B819DE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75" y="145920"/>
            <a:ext cx="12068783" cy="615755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>
                <a:ea typeface="+mj-lt"/>
                <a:cs typeface="+mj-lt"/>
              </a:rPr>
              <a:t>From Liaison Habits to Statutory Tradecraft</a:t>
            </a:r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F15427F-2434-37E8-A442-38A92D1CF253}"/>
              </a:ext>
            </a:extLst>
          </p:cNvPr>
          <p:cNvSpPr/>
          <p:nvPr/>
        </p:nvSpPr>
        <p:spPr>
          <a:xfrm>
            <a:off x="136413" y="1023805"/>
            <a:ext cx="11926858" cy="530890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E1000C-AFFF-CD57-23AF-AB0687CB373E}"/>
              </a:ext>
            </a:extLst>
          </p:cNvPr>
          <p:cNvSpPr txBox="1"/>
          <p:nvPr/>
        </p:nvSpPr>
        <p:spPr>
          <a:xfrm>
            <a:off x="501771" y="1431486"/>
            <a:ext cx="11325455" cy="56279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GB" sz="2400">
                <a:solidFill>
                  <a:schemeClr val="bg1"/>
                </a:solidFill>
                <a:ea typeface="+mn-lt"/>
                <a:cs typeface="+mn-lt"/>
              </a:rPr>
              <a:t>Ireland’s joint analysis remains informal and habit-based, with no public tradecraft doctrine or statutory mandate for the National Security Secretariat (COFPI, 2018; Mulqueen, 2013; Heney,2020).</a:t>
            </a:r>
            <a:endParaRPr lang="en-GB" sz="2400">
              <a:solidFill>
                <a:schemeClr val="bg1"/>
              </a:solidFill>
              <a:ea typeface="+mn-lt"/>
              <a:cs typeface="Times New Roman"/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GB" sz="2400">
                <a:solidFill>
                  <a:schemeClr val="bg1"/>
                </a:solidFill>
                <a:ea typeface="+mn-lt"/>
                <a:cs typeface="+mn-lt"/>
              </a:rPr>
              <a:t>Secrecy rightly protects methods but has left Irish analysts without the shared cross-government standards taken for granted in New Zealand, the UK and the United States.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GB" sz="2400">
                <a:solidFill>
                  <a:schemeClr val="bg1"/>
                </a:solidFill>
                <a:ea typeface="+mn-lt"/>
                <a:cs typeface="+mn-lt"/>
              </a:rPr>
              <a:t>A modest civilian post with enterprise authority (modelled on the US Under Secretary of </a:t>
            </a:r>
            <a:r>
              <a:rPr lang="en-GB" sz="2400" err="1">
                <a:solidFill>
                  <a:schemeClr val="bg1"/>
                </a:solidFill>
                <a:ea typeface="+mn-lt"/>
                <a:cs typeface="+mn-lt"/>
              </a:rPr>
              <a:t>Defense</a:t>
            </a:r>
            <a:r>
              <a:rPr lang="en-GB" sz="2400">
                <a:solidFill>
                  <a:schemeClr val="bg1"/>
                </a:solidFill>
                <a:ea typeface="+mn-lt"/>
                <a:cs typeface="+mn-lt"/>
              </a:rPr>
              <a:t> for Intelligence and Security) could enforce common standards and scheduled assessments without compromising neutrality or creating a new agency (Joint Chiefs, 2013 ; UK MOD, 2023; NZ IIP, 2023; NZ  SIS, 2025; NZ SIS, 2024, NZ DF, 2017)</a:t>
            </a:r>
            <a:endParaRPr lang="en-GB" sz="2400">
              <a:solidFill>
                <a:schemeClr val="bg1"/>
              </a:solidFill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endParaRPr lang="en-GB" sz="2000">
              <a:solidFill>
                <a:schemeClr val="bg1"/>
              </a:solidFill>
              <a:ea typeface="+mn-lt"/>
              <a:cs typeface="Times New Roman"/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endParaRPr lang="en-GB" sz="2000">
              <a:solidFill>
                <a:schemeClr val="bg1"/>
              </a:solidFill>
              <a:latin typeface="Aptos"/>
              <a:ea typeface="+mn-lt"/>
              <a:cs typeface="Times New Roman"/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endParaRPr lang="en-GB" sz="2000">
              <a:solidFill>
                <a:schemeClr val="bg1"/>
              </a:solidFill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endParaRPr lang="en-GB" sz="2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37173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FD505-82EB-2894-A516-E9066A825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B1D71-64F6-7FC5-F764-D032425EE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399" y="93728"/>
            <a:ext cx="10515600" cy="576457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/>
              <a:t>CONCLUSION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AFC2486-FC34-2225-A113-EC2D15699314}"/>
              </a:ext>
            </a:extLst>
          </p:cNvPr>
          <p:cNvSpPr/>
          <p:nvPr/>
        </p:nvSpPr>
        <p:spPr>
          <a:xfrm>
            <a:off x="665414" y="2493756"/>
            <a:ext cx="10858407" cy="200529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2400" b="1" u="sng"/>
              <a:t>Current treats</a:t>
            </a:r>
            <a:r>
              <a:rPr lang="en-GB" sz="2400" b="1"/>
              <a:t>: </a:t>
            </a:r>
            <a:r>
              <a:rPr lang="en-GB" sz="2400"/>
              <a:t>State espionage, hybrid interference, and complex political dynamics</a:t>
            </a:r>
            <a:endParaRPr lang="en-GB"/>
          </a:p>
          <a:p>
            <a:pPr algn="ctr"/>
            <a:r>
              <a:rPr lang="en-GB" sz="2400" b="1" u="sng"/>
              <a:t>Characterised by</a:t>
            </a:r>
            <a:r>
              <a:rPr lang="en-GB" sz="2400" b="1"/>
              <a:t>:</a:t>
            </a:r>
            <a:r>
              <a:rPr lang="en-GB" sz="2400"/>
              <a:t> Systematic habits of secrecy, informal coordination, and structures designed for the pre-modern era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A29F627-2FC2-F45E-805B-B19A6EEE658E}"/>
              </a:ext>
            </a:extLst>
          </p:cNvPr>
          <p:cNvSpPr/>
          <p:nvPr/>
        </p:nvSpPr>
        <p:spPr>
          <a:xfrm>
            <a:off x="177486" y="940834"/>
            <a:ext cx="11837028" cy="133797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2400">
                <a:solidFill>
                  <a:schemeClr val="bg1"/>
                </a:solidFill>
              </a:rPr>
              <a:t>Ireland's current security and intelligence structure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B23525-3545-73A4-FE01-833F35E3F884}"/>
              </a:ext>
            </a:extLst>
          </p:cNvPr>
          <p:cNvSpPr txBox="1"/>
          <p:nvPr/>
        </p:nvSpPr>
        <p:spPr>
          <a:xfrm>
            <a:off x="2299508" y="5502915"/>
            <a:ext cx="7777673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200">
                <a:solidFill>
                  <a:schemeClr val="bg1"/>
                </a:solidFill>
                <a:ea typeface="+mn-lt"/>
                <a:cs typeface="+mn-lt"/>
              </a:rPr>
              <a:t>Values – Cost = Utility of the military instrument. </a:t>
            </a:r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(Maxwell 2025)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21DF4A1-CE6D-8D3D-6E97-71950F266ACB}"/>
              </a:ext>
            </a:extLst>
          </p:cNvPr>
          <p:cNvSpPr/>
          <p:nvPr/>
        </p:nvSpPr>
        <p:spPr>
          <a:xfrm>
            <a:off x="1204675" y="4803256"/>
            <a:ext cx="9771186" cy="178403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GB" sz="2400"/>
          </a:p>
          <a:p>
            <a:pPr algn="ctr"/>
            <a:r>
              <a:rPr lang="en-GB" sz="8000"/>
              <a:t>=</a:t>
            </a:r>
          </a:p>
          <a:p>
            <a:pPr algn="ctr"/>
            <a:endParaRPr lang="en-GB" sz="24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23FB83-6DEE-DA50-DB11-41018890D0B7}"/>
              </a:ext>
            </a:extLst>
          </p:cNvPr>
          <p:cNvSpPr txBox="1"/>
          <p:nvPr/>
        </p:nvSpPr>
        <p:spPr>
          <a:xfrm>
            <a:off x="1692765" y="5063398"/>
            <a:ext cx="3868615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en-GB" sz="2400">
                <a:solidFill>
                  <a:srgbClr val="FFFFFF"/>
                </a:solidFill>
              </a:rPr>
              <a:t>Strengthen analysis</a:t>
            </a:r>
            <a:endParaRPr lang="en-US" err="1">
              <a:solidFill>
                <a:srgbClr val="000000"/>
              </a:solidFill>
            </a:endParaRPr>
          </a:p>
          <a:p>
            <a:pPr algn="r"/>
            <a:r>
              <a:rPr lang="en-GB" sz="2400">
                <a:solidFill>
                  <a:srgbClr val="FFFFFF"/>
                </a:solidFill>
              </a:rPr>
              <a:t>Enhance transparency</a:t>
            </a:r>
            <a:endParaRPr lang="en-US">
              <a:solidFill>
                <a:srgbClr val="000000"/>
              </a:solidFill>
            </a:endParaRPr>
          </a:p>
          <a:p>
            <a:pPr algn="r"/>
            <a:r>
              <a:rPr lang="en-GB" sz="2400">
                <a:solidFill>
                  <a:srgbClr val="FFFFFF"/>
                </a:solidFill>
              </a:rPr>
              <a:t>Increased public trust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97E3AA-84C1-EEEB-24FE-2EE8A302642A}"/>
              </a:ext>
            </a:extLst>
          </p:cNvPr>
          <p:cNvSpPr txBox="1"/>
          <p:nvPr/>
        </p:nvSpPr>
        <p:spPr>
          <a:xfrm>
            <a:off x="6473757" y="5064153"/>
            <a:ext cx="5240214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>
                <a:solidFill>
                  <a:srgbClr val="FFFFFF"/>
                </a:solidFill>
              </a:rPr>
              <a:t>Protection of Sovereignty</a:t>
            </a:r>
            <a:endParaRPr lang="en-US">
              <a:solidFill>
                <a:srgbClr val="000000"/>
              </a:solidFill>
            </a:endParaRPr>
          </a:p>
          <a:p>
            <a:r>
              <a:rPr lang="en-GB" sz="2400">
                <a:solidFill>
                  <a:srgbClr val="FFFFFF"/>
                </a:solidFill>
              </a:rPr>
              <a:t>Informed citizens</a:t>
            </a:r>
          </a:p>
          <a:p>
            <a:r>
              <a:rPr lang="en-GB" sz="2400">
                <a:solidFill>
                  <a:srgbClr val="FFFFFF"/>
                </a:solidFill>
              </a:rPr>
              <a:t>Modernised security structures</a:t>
            </a:r>
          </a:p>
        </p:txBody>
      </p:sp>
    </p:spTree>
    <p:extLst>
      <p:ext uri="{BB962C8B-B14F-4D97-AF65-F5344CB8AC3E}">
        <p14:creationId xmlns:p14="http://schemas.microsoft.com/office/powerpoint/2010/main" val="33086642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871C29B-1C33-8148-0069-99E7CDF32F2E}"/>
              </a:ext>
            </a:extLst>
          </p:cNvPr>
          <p:cNvSpPr txBox="1">
            <a:spLocks/>
          </p:cNvSpPr>
          <p:nvPr/>
        </p:nvSpPr>
        <p:spPr>
          <a:xfrm>
            <a:off x="290186" y="1070552"/>
            <a:ext cx="11611627" cy="3828019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4800" b="1"/>
              <a:t>Securing Tomorrow, Today</a:t>
            </a:r>
            <a:endParaRPr lang="en-US"/>
          </a:p>
          <a:p>
            <a:pPr algn="ctr"/>
            <a:endParaRPr lang="en-GB" sz="4800" b="1"/>
          </a:p>
          <a:p>
            <a:pPr algn="ctr"/>
            <a:endParaRPr lang="en-GB" sz="4800" b="1"/>
          </a:p>
          <a:p>
            <a:pPr algn="ctr"/>
            <a:r>
              <a:rPr lang="en-GB" sz="4800" b="1"/>
              <a:t>Thank you!</a:t>
            </a:r>
          </a:p>
          <a:p>
            <a:pPr algn="ctr"/>
            <a:endParaRPr lang="en-GB" sz="4800" b="1"/>
          </a:p>
          <a:p>
            <a:pPr algn="ctr"/>
            <a:endParaRPr lang="en-GB" sz="4800" b="1"/>
          </a:p>
          <a:p>
            <a:pPr algn="ctr"/>
            <a:endParaRPr lang="en-GB" sz="4800" b="1"/>
          </a:p>
        </p:txBody>
      </p:sp>
    </p:spTree>
    <p:extLst>
      <p:ext uri="{BB962C8B-B14F-4D97-AF65-F5344CB8AC3E}">
        <p14:creationId xmlns:p14="http://schemas.microsoft.com/office/powerpoint/2010/main" val="6742312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4EE96-EA50-E4AE-C8EF-3B59B4C93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E58FCEDB-7A2D-8747-C27D-5C37E64B59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1514580"/>
            <a:ext cx="6010275" cy="4486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94BB9FB-19C1-0980-4C4D-510C7504828C}"/>
              </a:ext>
            </a:extLst>
          </p:cNvPr>
          <p:cNvSpPr txBox="1">
            <a:spLocks/>
          </p:cNvSpPr>
          <p:nvPr/>
        </p:nvSpPr>
        <p:spPr>
          <a:xfrm>
            <a:off x="661220" y="309081"/>
            <a:ext cx="10515600" cy="576457"/>
          </a:xfrm>
          <a:prstGeom prst="rect">
            <a:avLst/>
          </a:prstGeom>
        </p:spPr>
        <p:txBody>
          <a:bodyPr lIns="91440" tIns="45720" rIns="91440" bIns="45720" anchor="t">
            <a:normAutofit fontScale="90000" lnSpcReduction="20000"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b="1" dirty="0"/>
              <a:t>CURRENT STRUCTURES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17701DB-685C-7E79-63CA-CC8BFDCD37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1991" y="1918170"/>
            <a:ext cx="4423887" cy="3384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5886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5408A-B13E-232C-2FB4-9DC243E3F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FE466F1C-EA59-64C3-F0FE-E76BEC29CC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5725" y="671353"/>
            <a:ext cx="12590160" cy="5994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EEF1BDD-CCC8-C18F-D79E-0017310A3981}"/>
              </a:ext>
            </a:extLst>
          </p:cNvPr>
          <p:cNvSpPr txBox="1">
            <a:spLocks/>
          </p:cNvSpPr>
          <p:nvPr/>
        </p:nvSpPr>
        <p:spPr>
          <a:xfrm>
            <a:off x="677696" y="94897"/>
            <a:ext cx="10515600" cy="576457"/>
          </a:xfrm>
          <a:prstGeom prst="rect">
            <a:avLst/>
          </a:prstGeom>
        </p:spPr>
        <p:txBody>
          <a:bodyPr lIns="91440" tIns="45720" rIns="91440" bIns="45720" anchor="t">
            <a:normAutofit fontScale="90000" lnSpcReduction="20000"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b="1" dirty="0"/>
              <a:t>RECOMMENDED FUTURE STRUCTURES</a:t>
            </a:r>
          </a:p>
        </p:txBody>
      </p:sp>
    </p:spTree>
    <p:extLst>
      <p:ext uri="{BB962C8B-B14F-4D97-AF65-F5344CB8AC3E}">
        <p14:creationId xmlns:p14="http://schemas.microsoft.com/office/powerpoint/2010/main" val="42639931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</TotalTime>
  <Words>2247</Words>
  <Application>Microsoft Office PowerPoint</Application>
  <PresentationFormat>Widescreen</PresentationFormat>
  <Paragraphs>276</Paragraphs>
  <Slides>24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Aptos</vt:lpstr>
      <vt:lpstr>Aptos Display</vt:lpstr>
      <vt:lpstr>Arial</vt:lpstr>
      <vt:lpstr>Courier New</vt:lpstr>
      <vt:lpstr>Office Theme</vt:lpstr>
      <vt:lpstr>Securing Tomorrow, Today</vt:lpstr>
      <vt:lpstr>EXECUTIVE SUMMARY</vt:lpstr>
      <vt:lpstr>Presentation Structure</vt:lpstr>
      <vt:lpstr>Irish Intelligence Structures</vt:lpstr>
      <vt:lpstr>Mapping Existing Structures</vt:lpstr>
      <vt:lpstr>Mapping Intelligence Agencies &amp; Structures</vt:lpstr>
      <vt:lpstr>Military and Police Structures</vt:lpstr>
      <vt:lpstr>Synthesising SANDA &amp; Intelligence Areas</vt:lpstr>
      <vt:lpstr>Synthesising SANDA &amp; Intelligence Areas</vt:lpstr>
      <vt:lpstr>Analysis: National Security Architecture</vt:lpstr>
      <vt:lpstr>Legislation and Key Lacunae</vt:lpstr>
      <vt:lpstr>Decisive Lacuna: National Security Strategy/Agency</vt:lpstr>
      <vt:lpstr>Hidden Expertise: Career Officials</vt:lpstr>
      <vt:lpstr>Data Collection and Ireland</vt:lpstr>
      <vt:lpstr>Future Considerations </vt:lpstr>
      <vt:lpstr>Threat Evolution</vt:lpstr>
      <vt:lpstr>Immature Irish Civil Military Relationships</vt:lpstr>
      <vt:lpstr>Comparative Views: Sweden and NZ</vt:lpstr>
      <vt:lpstr>Data Collection and European Law</vt:lpstr>
      <vt:lpstr>From Liaison Habits to Statutory Tradecraft</vt:lpstr>
      <vt:lpstr>CONCLUSION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df</dc:creator>
  <cp:lastModifiedBy>ADAM BEATTY</cp:lastModifiedBy>
  <cp:revision>5</cp:revision>
  <dcterms:created xsi:type="dcterms:W3CDTF">2025-09-29T09:03:18Z</dcterms:created>
  <dcterms:modified xsi:type="dcterms:W3CDTF">2025-11-25T16:44:42Z</dcterms:modified>
</cp:coreProperties>
</file>