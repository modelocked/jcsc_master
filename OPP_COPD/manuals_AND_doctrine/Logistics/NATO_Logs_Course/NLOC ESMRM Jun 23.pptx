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3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5.xml" ContentType="application/vnd.openxmlformats-officedocument.presentationml.slide+xml"/>
  <Override PartName="/ppt/presentation.xml" ContentType="application/vnd.openxmlformats-officedocument.presentationml.presentation.main+xml"/>
  <Override PartName="/ppt/slides/slide3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20.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1.xml" ContentType="application/vnd.openxmlformats-officedocument.presentationml.slideMaster+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51.xml" ContentType="application/vnd.openxmlformats-officedocument.presentationml.slideLayout+xml"/>
  <Override PartName="/ppt/notesSlides/notesSlide27.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30.xml" ContentType="application/vnd.openxmlformats-officedocument.presentationml.notesSlide+xml"/>
  <Override PartName="/ppt/notesSlides/notesSlide10.xml" ContentType="application/vnd.openxmlformats-officedocument.presentationml.notesSlide+xml"/>
  <Override PartName="/ppt/notesSlides/notesSlide29.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25.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notesSlides/notesSlide33.xml" ContentType="application/vnd.openxmlformats-officedocument.presentationml.notesSlide+xml"/>
  <Override PartName="/ppt/notesSlides/notesSlide26.xml" ContentType="application/vnd.openxmlformats-officedocument.presentationml.notesSlide+xml"/>
  <Override PartName="/ppt/notesSlides/notesSlide5.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34.xml" ContentType="application/vnd.openxmlformats-officedocument.presentationml.notesSlide+xml"/>
  <Override PartName="/ppt/theme/theme4.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11.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3.xml" ContentType="application/vnd.openxmlformats-officedocument.theme+xml"/>
  <Override PartName="/ppt/theme/theme12.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44" r:id="rId1"/>
    <p:sldMasterId id="2147483779" r:id="rId2"/>
    <p:sldMasterId id="2147483756" r:id="rId3"/>
    <p:sldMasterId id="2147483762" r:id="rId4"/>
    <p:sldMasterId id="2147483773" r:id="rId5"/>
    <p:sldMasterId id="2147483784" r:id="rId6"/>
    <p:sldMasterId id="2147483789" r:id="rId7"/>
    <p:sldMasterId id="2147483794" r:id="rId8"/>
    <p:sldMasterId id="2147483799" r:id="rId9"/>
    <p:sldMasterId id="2147483830" r:id="rId10"/>
    <p:sldMasterId id="2147483835" r:id="rId11"/>
  </p:sldMasterIdLst>
  <p:notesMasterIdLst>
    <p:notesMasterId r:id="rId49"/>
  </p:notesMasterIdLst>
  <p:handoutMasterIdLst>
    <p:handoutMasterId r:id="rId50"/>
  </p:handoutMasterIdLst>
  <p:sldIdLst>
    <p:sldId id="365" r:id="rId12"/>
    <p:sldId id="411" r:id="rId13"/>
    <p:sldId id="410" r:id="rId14"/>
    <p:sldId id="408" r:id="rId15"/>
    <p:sldId id="409" r:id="rId16"/>
    <p:sldId id="423" r:id="rId17"/>
    <p:sldId id="427" r:id="rId18"/>
    <p:sldId id="429" r:id="rId19"/>
    <p:sldId id="398" r:id="rId20"/>
    <p:sldId id="338" r:id="rId21"/>
    <p:sldId id="426" r:id="rId22"/>
    <p:sldId id="441" r:id="rId23"/>
    <p:sldId id="430" r:id="rId24"/>
    <p:sldId id="442" r:id="rId25"/>
    <p:sldId id="440" r:id="rId26"/>
    <p:sldId id="412" r:id="rId27"/>
    <p:sldId id="376" r:id="rId28"/>
    <p:sldId id="444" r:id="rId29"/>
    <p:sldId id="431" r:id="rId30"/>
    <p:sldId id="433" r:id="rId31"/>
    <p:sldId id="432" r:id="rId32"/>
    <p:sldId id="443" r:id="rId33"/>
    <p:sldId id="446" r:id="rId34"/>
    <p:sldId id="445" r:id="rId35"/>
    <p:sldId id="457" r:id="rId36"/>
    <p:sldId id="453" r:id="rId37"/>
    <p:sldId id="454" r:id="rId38"/>
    <p:sldId id="455" r:id="rId39"/>
    <p:sldId id="456" r:id="rId40"/>
    <p:sldId id="418" r:id="rId41"/>
    <p:sldId id="449" r:id="rId42"/>
    <p:sldId id="448" r:id="rId43"/>
    <p:sldId id="420" r:id="rId44"/>
    <p:sldId id="451" r:id="rId45"/>
    <p:sldId id="447" r:id="rId46"/>
    <p:sldId id="421" r:id="rId47"/>
    <p:sldId id="452" r:id="rId48"/>
  </p:sldIdLst>
  <p:sldSz cx="9144000" cy="6858000" type="screen4x3"/>
  <p:notesSz cx="7010400" cy="92964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2" pos="5172">
          <p15:clr>
            <a:srgbClr val="A4A3A4"/>
          </p15:clr>
        </p15:guide>
        <p15:guide id="3" orient="horz" pos="2160">
          <p15:clr>
            <a:srgbClr val="A4A3A4"/>
          </p15:clr>
        </p15:guide>
      </p15:sldGuideLst>
    </p:ext>
    <p:ext uri="{2D200454-40CA-4A62-9FC3-DE9A4176ACB9}">
      <p15:notesGuideLst xmlns=""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rnell, Michael C Jr CIV OSD OUSD ATL (US)" initials="DMCJCOOA("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BAE"/>
    <a:srgbClr val="FFE8DD"/>
    <a:srgbClr val="FF6D2F"/>
    <a:srgbClr val="FFAB12"/>
    <a:srgbClr val="FF0000"/>
    <a:srgbClr val="41982C"/>
    <a:srgbClr val="99FF99"/>
    <a:srgbClr val="D1EDBF"/>
    <a:srgbClr val="BD8628"/>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6856" autoAdjust="0"/>
  </p:normalViewPr>
  <p:slideViewPr>
    <p:cSldViewPr snapToGrid="0" snapToObjects="1" showGuides="1">
      <p:cViewPr>
        <p:scale>
          <a:sx n="100" d="100"/>
          <a:sy n="100" d="100"/>
        </p:scale>
        <p:origin x="-802" y="533"/>
      </p:cViewPr>
      <p:guideLst>
        <p:guide orient="horz" pos="2160"/>
        <p:guide pos="5172"/>
      </p:guideLst>
    </p:cSldViewPr>
  </p:slideViewPr>
  <p:notesTextViewPr>
    <p:cViewPr>
      <p:scale>
        <a:sx n="200" d="100"/>
        <a:sy n="200" d="100"/>
      </p:scale>
      <p:origin x="0" y="0"/>
    </p:cViewPr>
  </p:notesTextViewPr>
  <p:sorterViewPr>
    <p:cViewPr>
      <p:scale>
        <a:sx n="66" d="100"/>
        <a:sy n="66" d="100"/>
      </p:scale>
      <p:origin x="0" y="0"/>
    </p:cViewPr>
  </p:sorterViewPr>
  <p:notesViewPr>
    <p:cSldViewPr snapToGrid="0" snapToObjects="1" showGuides="1">
      <p:cViewPr varScale="1">
        <p:scale>
          <a:sx n="77" d="100"/>
          <a:sy n="77" d="100"/>
        </p:scale>
        <p:origin x="-2094" y="-90"/>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Master" Target="slideMasters/slideMaster5.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customXml" Target="../customXml/item1.xml"/><Relationship Id="rId8" Type="http://schemas.openxmlformats.org/officeDocument/2006/relationships/slideMaster" Target="slideMasters/slideMaster8.xml"/><Relationship Id="rId51"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notesMaster" Target="notesMasters/notesMaster1.xml"/><Relationship Id="rId57" Type="http://schemas.openxmlformats.org/officeDocument/2006/relationships/customXml" Target="../customXml/item2.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3037840" cy="464820"/>
          </a:xfrm>
          <a:prstGeom prst="rect">
            <a:avLst/>
          </a:prstGeom>
        </p:spPr>
        <p:txBody>
          <a:bodyPr vert="horz" lIns="91650" tIns="45825" rIns="91650" bIns="45825" rtlCol="0"/>
          <a:lstStyle>
            <a:lvl1pPr algn="l">
              <a:defRPr sz="1200"/>
            </a:lvl1pPr>
          </a:lstStyle>
          <a:p>
            <a:endParaRPr lang="de-DE"/>
          </a:p>
        </p:txBody>
      </p:sp>
      <p:sp>
        <p:nvSpPr>
          <p:cNvPr id="3" name="Datumsplatzhalter 2"/>
          <p:cNvSpPr>
            <a:spLocks noGrp="1"/>
          </p:cNvSpPr>
          <p:nvPr>
            <p:ph type="dt" sz="quarter" idx="1"/>
          </p:nvPr>
        </p:nvSpPr>
        <p:spPr>
          <a:xfrm>
            <a:off x="3970939" y="1"/>
            <a:ext cx="3037840" cy="464820"/>
          </a:xfrm>
          <a:prstGeom prst="rect">
            <a:avLst/>
          </a:prstGeom>
        </p:spPr>
        <p:txBody>
          <a:bodyPr vert="horz" lIns="91650" tIns="45825" rIns="91650" bIns="45825" rtlCol="0"/>
          <a:lstStyle>
            <a:lvl1pPr algn="r">
              <a:defRPr sz="1200"/>
            </a:lvl1pPr>
          </a:lstStyle>
          <a:p>
            <a:fld id="{A33D4DC8-0578-F849-9D4E-BFEF78917FAD}" type="datetimeFigureOut">
              <a:rPr lang="de-DE"/>
              <a:pPr/>
              <a:t>13.06.2023</a:t>
            </a:fld>
            <a:endParaRPr lang="de-DE"/>
          </a:p>
        </p:txBody>
      </p:sp>
      <p:sp>
        <p:nvSpPr>
          <p:cNvPr id="4" name="Fußzeilenplatzhalter 3"/>
          <p:cNvSpPr>
            <a:spLocks noGrp="1"/>
          </p:cNvSpPr>
          <p:nvPr>
            <p:ph type="ftr" sz="quarter" idx="2"/>
          </p:nvPr>
        </p:nvSpPr>
        <p:spPr>
          <a:xfrm>
            <a:off x="0" y="8829967"/>
            <a:ext cx="3037840" cy="464820"/>
          </a:xfrm>
          <a:prstGeom prst="rect">
            <a:avLst/>
          </a:prstGeom>
        </p:spPr>
        <p:txBody>
          <a:bodyPr vert="horz" lIns="91650" tIns="45825" rIns="91650" bIns="45825" rtlCol="0" anchor="b"/>
          <a:lstStyle>
            <a:lvl1pPr algn="l">
              <a:defRPr sz="1200"/>
            </a:lvl1pPr>
          </a:lstStyle>
          <a:p>
            <a:endParaRPr lang="de-DE"/>
          </a:p>
        </p:txBody>
      </p:sp>
      <p:sp>
        <p:nvSpPr>
          <p:cNvPr id="5" name="Foliennummernplatzhalter 4"/>
          <p:cNvSpPr>
            <a:spLocks noGrp="1"/>
          </p:cNvSpPr>
          <p:nvPr>
            <p:ph type="sldNum" sz="quarter" idx="3"/>
          </p:nvPr>
        </p:nvSpPr>
        <p:spPr>
          <a:xfrm>
            <a:off x="3970939" y="8829967"/>
            <a:ext cx="3037840" cy="464820"/>
          </a:xfrm>
          <a:prstGeom prst="rect">
            <a:avLst/>
          </a:prstGeom>
        </p:spPr>
        <p:txBody>
          <a:bodyPr vert="horz" lIns="91650" tIns="45825" rIns="91650" bIns="45825" rtlCol="0" anchor="b"/>
          <a:lstStyle>
            <a:lvl1pPr algn="r">
              <a:defRPr sz="1200"/>
            </a:lvl1pPr>
          </a:lstStyle>
          <a:p>
            <a:fld id="{FAAED42C-7298-3D4C-B922-32BC964D9438}" type="slidenum">
              <a:rPr/>
              <a:pPr/>
              <a:t>‹#›</a:t>
            </a:fld>
            <a:endParaRPr lang="de-DE"/>
          </a:p>
        </p:txBody>
      </p:sp>
    </p:spTree>
    <p:extLst>
      <p:ext uri="{BB962C8B-B14F-4D97-AF65-F5344CB8AC3E}">
        <p14:creationId xmlns:p14="http://schemas.microsoft.com/office/powerpoint/2010/main" val="2962644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3037840" cy="464820"/>
          </a:xfrm>
          <a:prstGeom prst="rect">
            <a:avLst/>
          </a:prstGeom>
        </p:spPr>
        <p:txBody>
          <a:bodyPr vert="horz" lIns="91650" tIns="45825" rIns="91650" bIns="45825" rtlCol="0"/>
          <a:lstStyle>
            <a:lvl1pPr algn="l">
              <a:defRPr sz="1200"/>
            </a:lvl1pPr>
          </a:lstStyle>
          <a:p>
            <a:endParaRPr lang="de-DE"/>
          </a:p>
        </p:txBody>
      </p:sp>
      <p:sp>
        <p:nvSpPr>
          <p:cNvPr id="3" name="Datumsplatzhalter 2"/>
          <p:cNvSpPr>
            <a:spLocks noGrp="1"/>
          </p:cNvSpPr>
          <p:nvPr>
            <p:ph type="dt" idx="1"/>
          </p:nvPr>
        </p:nvSpPr>
        <p:spPr>
          <a:xfrm>
            <a:off x="3970939" y="1"/>
            <a:ext cx="3037840" cy="464820"/>
          </a:xfrm>
          <a:prstGeom prst="rect">
            <a:avLst/>
          </a:prstGeom>
        </p:spPr>
        <p:txBody>
          <a:bodyPr vert="horz" lIns="91650" tIns="45825" rIns="91650" bIns="45825" rtlCol="0"/>
          <a:lstStyle>
            <a:lvl1pPr algn="r">
              <a:defRPr sz="1200"/>
            </a:lvl1pPr>
          </a:lstStyle>
          <a:p>
            <a:fld id="{66F97343-1D0F-A740-A554-5B3473CCF9C4}" type="datetimeFigureOut">
              <a:rPr lang="de-DE"/>
              <a:pPr/>
              <a:t>13.06.2023</a:t>
            </a:fld>
            <a:endParaRPr lang="de-DE"/>
          </a:p>
        </p:txBody>
      </p:sp>
      <p:sp>
        <p:nvSpPr>
          <p:cNvPr id="4" name="Folienbildplatzhalter 3"/>
          <p:cNvSpPr>
            <a:spLocks noGrp="1" noRot="1" noChangeAspect="1"/>
          </p:cNvSpPr>
          <p:nvPr>
            <p:ph type="sldImg" idx="2"/>
          </p:nvPr>
        </p:nvSpPr>
        <p:spPr>
          <a:xfrm>
            <a:off x="1182688" y="698500"/>
            <a:ext cx="4645025" cy="3484563"/>
          </a:xfrm>
          <a:prstGeom prst="rect">
            <a:avLst/>
          </a:prstGeom>
          <a:noFill/>
          <a:ln w="12700">
            <a:solidFill>
              <a:prstClr val="black"/>
            </a:solidFill>
          </a:ln>
        </p:spPr>
        <p:txBody>
          <a:bodyPr vert="horz" lIns="91650" tIns="45825" rIns="91650" bIns="45825" rtlCol="0" anchor="ctr"/>
          <a:lstStyle/>
          <a:p>
            <a:endParaRPr lang="de-DE"/>
          </a:p>
        </p:txBody>
      </p:sp>
      <p:sp>
        <p:nvSpPr>
          <p:cNvPr id="5" name="Notizenplatzhalter 4"/>
          <p:cNvSpPr>
            <a:spLocks noGrp="1"/>
          </p:cNvSpPr>
          <p:nvPr>
            <p:ph type="body" sz="quarter" idx="3"/>
          </p:nvPr>
        </p:nvSpPr>
        <p:spPr>
          <a:xfrm>
            <a:off x="701040" y="4415791"/>
            <a:ext cx="5608320" cy="4183380"/>
          </a:xfrm>
          <a:prstGeom prst="rect">
            <a:avLst/>
          </a:prstGeom>
        </p:spPr>
        <p:txBody>
          <a:bodyPr vert="horz" lIns="91650" tIns="45825" rIns="91650" bIns="45825"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829967"/>
            <a:ext cx="3037840" cy="464820"/>
          </a:xfrm>
          <a:prstGeom prst="rect">
            <a:avLst/>
          </a:prstGeom>
        </p:spPr>
        <p:txBody>
          <a:bodyPr vert="horz" lIns="91650" tIns="45825" rIns="91650" bIns="45825" rtlCol="0" anchor="b"/>
          <a:lstStyle>
            <a:lvl1pPr algn="l">
              <a:defRPr sz="1200"/>
            </a:lvl1pPr>
          </a:lstStyle>
          <a:p>
            <a:endParaRPr lang="de-DE"/>
          </a:p>
        </p:txBody>
      </p:sp>
      <p:sp>
        <p:nvSpPr>
          <p:cNvPr id="7" name="Foliennummernplatzhalter 6"/>
          <p:cNvSpPr>
            <a:spLocks noGrp="1"/>
          </p:cNvSpPr>
          <p:nvPr>
            <p:ph type="sldNum" sz="quarter" idx="5"/>
          </p:nvPr>
        </p:nvSpPr>
        <p:spPr>
          <a:xfrm>
            <a:off x="3970939" y="8829967"/>
            <a:ext cx="3037840" cy="464820"/>
          </a:xfrm>
          <a:prstGeom prst="rect">
            <a:avLst/>
          </a:prstGeom>
        </p:spPr>
        <p:txBody>
          <a:bodyPr vert="horz" lIns="91650" tIns="45825" rIns="91650" bIns="45825" rtlCol="0" anchor="b"/>
          <a:lstStyle>
            <a:lvl1pPr algn="r">
              <a:defRPr sz="1200"/>
            </a:lvl1pPr>
          </a:lstStyle>
          <a:p>
            <a:fld id="{9B860A92-79F5-3B47-AC22-DCFE9850A51F}" type="slidenum">
              <a:rPr/>
              <a:pPr/>
              <a:t>‹#›</a:t>
            </a:fld>
            <a:endParaRPr lang="de-DE"/>
          </a:p>
        </p:txBody>
      </p:sp>
    </p:spTree>
    <p:extLst>
      <p:ext uri="{BB962C8B-B14F-4D97-AF65-F5344CB8AC3E}">
        <p14:creationId xmlns:p14="http://schemas.microsoft.com/office/powerpoint/2010/main" val="411733344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600" dirty="0"/>
              <a:t>Quick intro…</a:t>
            </a:r>
          </a:p>
        </p:txBody>
      </p:sp>
      <p:sp>
        <p:nvSpPr>
          <p:cNvPr id="4" name="Slide Number Placeholder 3"/>
          <p:cNvSpPr>
            <a:spLocks noGrp="1"/>
          </p:cNvSpPr>
          <p:nvPr>
            <p:ph type="sldNum" sz="quarter" idx="10"/>
          </p:nvPr>
        </p:nvSpPr>
        <p:spPr/>
        <p:txBody>
          <a:bodyPr/>
          <a:lstStyle/>
          <a:p>
            <a:fld id="{9B860A92-79F5-3B47-AC22-DCFE9850A51F}"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408301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Beirut Explosion August 4, 2020 (6 sec video)</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a:t>
            </a:fld>
            <a:endParaRPr lang="en-US"/>
          </a:p>
        </p:txBody>
      </p:sp>
    </p:spTree>
    <p:extLst>
      <p:ext uri="{BB962C8B-B14F-4D97-AF65-F5344CB8AC3E}">
        <p14:creationId xmlns:p14="http://schemas.microsoft.com/office/powerpoint/2010/main" val="2364980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600" dirty="0"/>
              <a:t>According to the Lebanese government, the source of the explosion was 2,750 tons of ammonium nitrate, an explosive chemical often used as fertilizer and sometimes in bombs, which had been stored in the port warehouse after being confiscated from an abandoned Russian-owned ship in 2014.</a:t>
            </a:r>
          </a:p>
          <a:p>
            <a:endParaRPr lang="en-US" sz="1600" dirty="0"/>
          </a:p>
          <a:p>
            <a:r>
              <a:rPr lang="en-US" sz="1600" dirty="0"/>
              <a:t>The massive explosion in Beirut’s port shattered windows more than a mile away and sent a plume of smoke and debris soaring above the city’s tallest buildings. </a:t>
            </a:r>
            <a:r>
              <a:rPr lang="en-US" sz="1600" baseline="0" dirty="0"/>
              <a:t> </a:t>
            </a:r>
            <a:r>
              <a:rPr lang="en-US" sz="1600" dirty="0"/>
              <a:t>The blast was felt at least 150 miles away in Cyprus.  It killed at least 200 people, injured at least 6500 and left dozens missing.  Some 300,000 other people have been displaced from their homes.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3</a:t>
            </a:fld>
            <a:endParaRPr lang="en-US"/>
          </a:p>
        </p:txBody>
      </p:sp>
    </p:spTree>
    <p:extLst>
      <p:ext uri="{BB962C8B-B14F-4D97-AF65-F5344CB8AC3E}">
        <p14:creationId xmlns:p14="http://schemas.microsoft.com/office/powerpoint/2010/main" val="1202871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600" dirty="0"/>
              <a:t>Satellite images taken one day later show the scale of the explosion and confirm its exact location, a warehouse next to the Beirut Port grain silos.  Only a gaping hole filled with water, approximately 460 feet in diameter, is left where the warehouse stood.</a:t>
            </a:r>
          </a:p>
          <a:p>
            <a:endParaRPr lang="en-US" sz="1600" dirty="0"/>
          </a:p>
          <a:p>
            <a:r>
              <a:rPr lang="en-US" sz="1600" dirty="0"/>
              <a:t>The images show how the explosion destroyed or damaged most structures in the port, over an area of about 160 acres.  The explosion was so intense that it capsized a large ship, 1,500 feet to its east.  The 390-foot-long passenger ship, Orient Queen, can be seen flipped to its side. </a:t>
            </a:r>
          </a:p>
          <a:p>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4</a:t>
            </a:fld>
            <a:endParaRPr lang="en-US"/>
          </a:p>
        </p:txBody>
      </p:sp>
    </p:spTree>
    <p:extLst>
      <p:ext uri="{BB962C8B-B14F-4D97-AF65-F5344CB8AC3E}">
        <p14:creationId xmlns:p14="http://schemas.microsoft.com/office/powerpoint/2010/main" val="2108644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t>Beirut’s port is centrally located, and thousands of people live in residential neighborhoods along the seaside within a mile of the blast.  Videos showed the pressure wave flattening cars and speeding destructively through churches, mosques, apartments and shopping malls, including the Beirut Souks, which opened in 2009 after being rebuilt following the civil war.</a:t>
            </a:r>
          </a:p>
        </p:txBody>
      </p:sp>
      <p:sp>
        <p:nvSpPr>
          <p:cNvPr id="4" name="Slide Number Placeholder 3"/>
          <p:cNvSpPr>
            <a:spLocks noGrp="1"/>
          </p:cNvSpPr>
          <p:nvPr>
            <p:ph type="sldNum" sz="quarter" idx="10"/>
          </p:nvPr>
        </p:nvSpPr>
        <p:spPr/>
        <p:txBody>
          <a:bodyPr/>
          <a:lstStyle/>
          <a:p>
            <a:fld id="{9B860A92-79F5-3B47-AC22-DCFE9850A51F}" type="slidenum">
              <a:rPr lang="en-US" smtClean="0"/>
              <a:pPr/>
              <a:t>5</a:t>
            </a:fld>
            <a:endParaRPr lang="en-US"/>
          </a:p>
        </p:txBody>
      </p:sp>
    </p:spTree>
    <p:extLst>
      <p:ext uri="{BB962C8B-B14F-4D97-AF65-F5344CB8AC3E}">
        <p14:creationId xmlns:p14="http://schemas.microsoft.com/office/powerpoint/2010/main" val="3234681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6</a:t>
            </a:fld>
            <a:endParaRPr lang="en-US"/>
          </a:p>
        </p:txBody>
      </p:sp>
    </p:spTree>
    <p:extLst>
      <p:ext uri="{BB962C8B-B14F-4D97-AF65-F5344CB8AC3E}">
        <p14:creationId xmlns:p14="http://schemas.microsoft.com/office/powerpoint/2010/main" val="3901813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7</a:t>
            </a:fld>
            <a:endParaRPr lang="en-US"/>
          </a:p>
        </p:txBody>
      </p:sp>
    </p:spTree>
    <p:extLst>
      <p:ext uri="{BB962C8B-B14F-4D97-AF65-F5344CB8AC3E}">
        <p14:creationId xmlns:p14="http://schemas.microsoft.com/office/powerpoint/2010/main" val="1063809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8</a:t>
            </a:fld>
            <a:endParaRPr lang="en-US"/>
          </a:p>
        </p:txBody>
      </p:sp>
    </p:spTree>
    <p:extLst>
      <p:ext uri="{BB962C8B-B14F-4D97-AF65-F5344CB8AC3E}">
        <p14:creationId xmlns:p14="http://schemas.microsoft.com/office/powerpoint/2010/main" val="1533173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pitchFamily="34" charset="0"/>
              </a:rPr>
              <a:t>ESMRM Policy was approved by the Logistics Committee Executive</a:t>
            </a:r>
            <a:r>
              <a:rPr lang="en-US" baseline="0" dirty="0">
                <a:latin typeface="Arial" pitchFamily="34" charset="0"/>
              </a:rPr>
              <a:t> Group (LCEG) in April 2013.  Reference Document: </a:t>
            </a:r>
            <a:r>
              <a:rPr lang="en-US" dirty="0">
                <a:latin typeface="Arial" pitchFamily="34" charset="0"/>
              </a:rPr>
              <a:t>AC/305(EAPC)D(2013)0008</a:t>
            </a: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charset="-128"/>
              </a:defRPr>
            </a:lvl1pPr>
            <a:lvl2pPr marL="729057" indent="-280406" eaLnBrk="0" hangingPunct="0">
              <a:defRPr>
                <a:solidFill>
                  <a:schemeClr val="tx1"/>
                </a:solidFill>
                <a:latin typeface="Arial" pitchFamily="34" charset="0"/>
                <a:ea typeface="ＭＳ Ｐゴシック" charset="-128"/>
              </a:defRPr>
            </a:lvl2pPr>
            <a:lvl3pPr marL="1121626" indent="-224325" eaLnBrk="0" hangingPunct="0">
              <a:defRPr>
                <a:solidFill>
                  <a:schemeClr val="tx1"/>
                </a:solidFill>
                <a:latin typeface="Arial" pitchFamily="34" charset="0"/>
                <a:ea typeface="ＭＳ Ｐゴシック" charset="-128"/>
              </a:defRPr>
            </a:lvl3pPr>
            <a:lvl4pPr marL="1570276" indent="-224325" eaLnBrk="0" hangingPunct="0">
              <a:defRPr>
                <a:solidFill>
                  <a:schemeClr val="tx1"/>
                </a:solidFill>
                <a:latin typeface="Arial" pitchFamily="34" charset="0"/>
                <a:ea typeface="ＭＳ Ｐゴシック" charset="-128"/>
              </a:defRPr>
            </a:lvl4pPr>
            <a:lvl5pPr marL="2018927" indent="-224325" eaLnBrk="0" hangingPunct="0">
              <a:defRPr>
                <a:solidFill>
                  <a:schemeClr val="tx1"/>
                </a:solidFill>
                <a:latin typeface="Arial" pitchFamily="34" charset="0"/>
                <a:ea typeface="ＭＳ Ｐゴシック" charset="-128"/>
              </a:defRPr>
            </a:lvl5pPr>
            <a:lvl6pPr marL="2467577" indent="-224325" eaLnBrk="0" fontAlgn="base" hangingPunct="0">
              <a:spcBef>
                <a:spcPct val="0"/>
              </a:spcBef>
              <a:spcAft>
                <a:spcPct val="0"/>
              </a:spcAft>
              <a:defRPr>
                <a:solidFill>
                  <a:schemeClr val="tx1"/>
                </a:solidFill>
                <a:latin typeface="Arial" pitchFamily="34" charset="0"/>
                <a:ea typeface="ＭＳ Ｐゴシック" charset="-128"/>
              </a:defRPr>
            </a:lvl6pPr>
            <a:lvl7pPr marL="2916227" indent="-224325" eaLnBrk="0" fontAlgn="base" hangingPunct="0">
              <a:spcBef>
                <a:spcPct val="0"/>
              </a:spcBef>
              <a:spcAft>
                <a:spcPct val="0"/>
              </a:spcAft>
              <a:defRPr>
                <a:solidFill>
                  <a:schemeClr val="tx1"/>
                </a:solidFill>
                <a:latin typeface="Arial" pitchFamily="34" charset="0"/>
                <a:ea typeface="ＭＳ Ｐゴシック" charset="-128"/>
              </a:defRPr>
            </a:lvl7pPr>
            <a:lvl8pPr marL="3364878" indent="-224325" eaLnBrk="0" fontAlgn="base" hangingPunct="0">
              <a:spcBef>
                <a:spcPct val="0"/>
              </a:spcBef>
              <a:spcAft>
                <a:spcPct val="0"/>
              </a:spcAft>
              <a:defRPr>
                <a:solidFill>
                  <a:schemeClr val="tx1"/>
                </a:solidFill>
                <a:latin typeface="Arial" pitchFamily="34" charset="0"/>
                <a:ea typeface="ＭＳ Ｐゴシック" charset="-128"/>
              </a:defRPr>
            </a:lvl8pPr>
            <a:lvl9pPr marL="3813528" indent="-224325" eaLnBrk="0" fontAlgn="base" hangingPunct="0">
              <a:spcBef>
                <a:spcPct val="0"/>
              </a:spcBef>
              <a:spcAft>
                <a:spcPct val="0"/>
              </a:spcAft>
              <a:defRPr>
                <a:solidFill>
                  <a:schemeClr val="tx1"/>
                </a:solidFill>
                <a:latin typeface="Arial" pitchFamily="34" charset="0"/>
                <a:ea typeface="ＭＳ Ｐゴシック" charset="-128"/>
              </a:defRPr>
            </a:lvl9pPr>
          </a:lstStyle>
          <a:p>
            <a:pPr eaLnBrk="1" hangingPunct="1"/>
            <a:fld id="{8093E939-8398-46E3-93AB-87E68841A057}" type="slidenum">
              <a:rPr lang="en-GB" smtClean="0">
                <a:solidFill>
                  <a:prstClr val="black"/>
                </a:solidFill>
              </a:rPr>
              <a:pPr eaLnBrk="1" hangingPunct="1"/>
              <a:t>9</a:t>
            </a:fld>
            <a:endParaRPr lang="en-GB">
              <a:solidFill>
                <a:prstClr val="black"/>
              </a:solidFill>
            </a:endParaRPr>
          </a:p>
        </p:txBody>
      </p:sp>
    </p:spTree>
    <p:extLst>
      <p:ext uri="{BB962C8B-B14F-4D97-AF65-F5344CB8AC3E}">
        <p14:creationId xmlns:p14="http://schemas.microsoft.com/office/powerpoint/2010/main" val="2637417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mn-lt"/>
                <a:ea typeface="+mn-ea"/>
                <a:cs typeface="+mn-cs"/>
              </a:rPr>
              <a:t>Allied Logistic Publication (ALP)-16 </a:t>
            </a:r>
            <a:r>
              <a:rPr lang="en-US" sz="1200" b="0" i="0" u="sng" strike="noStrike" kern="1200" baseline="0" dirty="0">
                <a:solidFill>
                  <a:schemeClr val="tx1"/>
                </a:solidFill>
                <a:latin typeface="+mn-lt"/>
                <a:ea typeface="+mn-ea"/>
                <a:cs typeface="+mn-cs"/>
              </a:rPr>
              <a:t>establishes</a:t>
            </a:r>
            <a:r>
              <a:rPr lang="en-US" sz="1200" b="0" i="0" u="none" strike="noStrike" kern="1200" baseline="0" dirty="0">
                <a:solidFill>
                  <a:schemeClr val="tx1"/>
                </a:solidFill>
                <a:latin typeface="+mn-lt"/>
                <a:ea typeface="+mn-ea"/>
                <a:cs typeface="+mn-cs"/>
              </a:rPr>
              <a:t> </a:t>
            </a:r>
            <a:r>
              <a:rPr lang="en-US" sz="1200" b="0" i="0" u="sng" strike="noStrike" kern="1200" baseline="0" dirty="0">
                <a:solidFill>
                  <a:schemeClr val="tx1"/>
                </a:solidFill>
                <a:latin typeface="+mn-lt"/>
                <a:ea typeface="+mn-ea"/>
                <a:cs typeface="+mn-cs"/>
              </a:rPr>
              <a:t>requirements</a:t>
            </a:r>
            <a:r>
              <a:rPr lang="en-US" sz="1200" b="0" i="0" u="none" strike="noStrike" kern="1200" baseline="0" dirty="0">
                <a:solidFill>
                  <a:schemeClr val="tx1"/>
                </a:solidFill>
                <a:latin typeface="+mn-lt"/>
                <a:ea typeface="+mn-ea"/>
                <a:cs typeface="+mn-cs"/>
              </a:rPr>
              <a:t> for the NATO ESMRM process and </a:t>
            </a:r>
            <a:r>
              <a:rPr lang="en-US" sz="1200" b="0" i="0" u="sng" strike="noStrike" kern="1200" baseline="0" dirty="0">
                <a:solidFill>
                  <a:schemeClr val="tx1"/>
                </a:solidFill>
                <a:latin typeface="+mn-lt"/>
                <a:ea typeface="+mn-ea"/>
                <a:cs typeface="+mn-cs"/>
              </a:rPr>
              <a:t>identifies roles and responsibilities</a:t>
            </a:r>
            <a:r>
              <a:rPr lang="en-US" sz="1200" b="0" i="0" u="none" strike="noStrike" kern="1200" baseline="0" dirty="0">
                <a:solidFill>
                  <a:schemeClr val="tx1"/>
                </a:solidFill>
                <a:latin typeface="+mn-lt"/>
                <a:ea typeface="+mn-ea"/>
                <a:cs typeface="+mn-cs"/>
              </a:rPr>
              <a:t> applicable to the NATO Operational Planning Process (OPP), the Operational Stages, and the Consumer Logistics Process across the full range of NATO military operations to include munitions-related contracted support.</a:t>
            </a:r>
            <a:endParaRPr lang="en-US" dirty="0">
              <a:latin typeface="Arial"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charset="-128"/>
              </a:defRPr>
            </a:lvl1pPr>
            <a:lvl2pPr marL="729057" indent="-280406" eaLnBrk="0" hangingPunct="0">
              <a:defRPr>
                <a:solidFill>
                  <a:schemeClr val="tx1"/>
                </a:solidFill>
                <a:latin typeface="Arial" pitchFamily="34" charset="0"/>
                <a:ea typeface="ＭＳ Ｐゴシック" charset="-128"/>
              </a:defRPr>
            </a:lvl2pPr>
            <a:lvl3pPr marL="1121626" indent="-224325" eaLnBrk="0" hangingPunct="0">
              <a:defRPr>
                <a:solidFill>
                  <a:schemeClr val="tx1"/>
                </a:solidFill>
                <a:latin typeface="Arial" pitchFamily="34" charset="0"/>
                <a:ea typeface="ＭＳ Ｐゴシック" charset="-128"/>
              </a:defRPr>
            </a:lvl3pPr>
            <a:lvl4pPr marL="1570276" indent="-224325" eaLnBrk="0" hangingPunct="0">
              <a:defRPr>
                <a:solidFill>
                  <a:schemeClr val="tx1"/>
                </a:solidFill>
                <a:latin typeface="Arial" pitchFamily="34" charset="0"/>
                <a:ea typeface="ＭＳ Ｐゴシック" charset="-128"/>
              </a:defRPr>
            </a:lvl4pPr>
            <a:lvl5pPr marL="2018927" indent="-224325" eaLnBrk="0" hangingPunct="0">
              <a:defRPr>
                <a:solidFill>
                  <a:schemeClr val="tx1"/>
                </a:solidFill>
                <a:latin typeface="Arial" pitchFamily="34" charset="0"/>
                <a:ea typeface="ＭＳ Ｐゴシック" charset="-128"/>
              </a:defRPr>
            </a:lvl5pPr>
            <a:lvl6pPr marL="2467577" indent="-224325" eaLnBrk="0" fontAlgn="base" hangingPunct="0">
              <a:spcBef>
                <a:spcPct val="0"/>
              </a:spcBef>
              <a:spcAft>
                <a:spcPct val="0"/>
              </a:spcAft>
              <a:defRPr>
                <a:solidFill>
                  <a:schemeClr val="tx1"/>
                </a:solidFill>
                <a:latin typeface="Arial" pitchFamily="34" charset="0"/>
                <a:ea typeface="ＭＳ Ｐゴシック" charset="-128"/>
              </a:defRPr>
            </a:lvl6pPr>
            <a:lvl7pPr marL="2916227" indent="-224325" eaLnBrk="0" fontAlgn="base" hangingPunct="0">
              <a:spcBef>
                <a:spcPct val="0"/>
              </a:spcBef>
              <a:spcAft>
                <a:spcPct val="0"/>
              </a:spcAft>
              <a:defRPr>
                <a:solidFill>
                  <a:schemeClr val="tx1"/>
                </a:solidFill>
                <a:latin typeface="Arial" pitchFamily="34" charset="0"/>
                <a:ea typeface="ＭＳ Ｐゴシック" charset="-128"/>
              </a:defRPr>
            </a:lvl7pPr>
            <a:lvl8pPr marL="3364878" indent="-224325" eaLnBrk="0" fontAlgn="base" hangingPunct="0">
              <a:spcBef>
                <a:spcPct val="0"/>
              </a:spcBef>
              <a:spcAft>
                <a:spcPct val="0"/>
              </a:spcAft>
              <a:defRPr>
                <a:solidFill>
                  <a:schemeClr val="tx1"/>
                </a:solidFill>
                <a:latin typeface="Arial" pitchFamily="34" charset="0"/>
                <a:ea typeface="ＭＳ Ｐゴシック" charset="-128"/>
              </a:defRPr>
            </a:lvl8pPr>
            <a:lvl9pPr marL="3813528" indent="-224325" eaLnBrk="0" fontAlgn="base" hangingPunct="0">
              <a:spcBef>
                <a:spcPct val="0"/>
              </a:spcBef>
              <a:spcAft>
                <a:spcPct val="0"/>
              </a:spcAft>
              <a:defRPr>
                <a:solidFill>
                  <a:schemeClr val="tx1"/>
                </a:solidFill>
                <a:latin typeface="Arial" pitchFamily="34" charset="0"/>
                <a:ea typeface="ＭＳ Ｐゴシック" charset="-128"/>
              </a:defRPr>
            </a:lvl9pPr>
          </a:lstStyle>
          <a:p>
            <a:pPr eaLnBrk="1" hangingPunct="1"/>
            <a:fld id="{8093E939-8398-46E3-93AB-87E68841A057}" type="slidenum">
              <a:rPr lang="en-GB" smtClean="0">
                <a:solidFill>
                  <a:prstClr val="black"/>
                </a:solidFill>
              </a:rPr>
              <a:pPr eaLnBrk="1" hangingPunct="1"/>
              <a:t>10</a:t>
            </a:fld>
            <a:endParaRPr lang="en-GB">
              <a:solidFill>
                <a:prstClr val="black"/>
              </a:solidFill>
            </a:endParaRPr>
          </a:p>
        </p:txBody>
      </p:sp>
    </p:spTree>
    <p:extLst>
      <p:ext uri="{BB962C8B-B14F-4D97-AF65-F5344CB8AC3E}">
        <p14:creationId xmlns:p14="http://schemas.microsoft.com/office/powerpoint/2010/main" val="3360611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11</a:t>
            </a:fld>
            <a:endParaRPr lang="en-US"/>
          </a:p>
        </p:txBody>
      </p:sp>
    </p:spTree>
    <p:extLst>
      <p:ext uri="{BB962C8B-B14F-4D97-AF65-F5344CB8AC3E}">
        <p14:creationId xmlns:p14="http://schemas.microsoft.com/office/powerpoint/2010/main" val="1711279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12</a:t>
            </a:fld>
            <a:endParaRPr lang="en-US"/>
          </a:p>
        </p:txBody>
      </p:sp>
    </p:spTree>
    <p:extLst>
      <p:ext uri="{BB962C8B-B14F-4D97-AF65-F5344CB8AC3E}">
        <p14:creationId xmlns:p14="http://schemas.microsoft.com/office/powerpoint/2010/main" val="1296364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baseline="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13</a:t>
            </a:fld>
            <a:endParaRPr lang="en-US"/>
          </a:p>
        </p:txBody>
      </p:sp>
    </p:spTree>
    <p:extLst>
      <p:ext uri="{BB962C8B-B14F-4D97-AF65-F5344CB8AC3E}">
        <p14:creationId xmlns:p14="http://schemas.microsoft.com/office/powerpoint/2010/main" val="4184823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14</a:t>
            </a:fld>
            <a:endParaRPr lang="en-US"/>
          </a:p>
        </p:txBody>
      </p:sp>
    </p:spTree>
    <p:extLst>
      <p:ext uri="{BB962C8B-B14F-4D97-AF65-F5344CB8AC3E}">
        <p14:creationId xmlns:p14="http://schemas.microsoft.com/office/powerpoint/2010/main" val="3797572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000250" lvl="4" indent="-171450">
              <a:buFont typeface="Wingdings" pitchFamily="2" charset="2"/>
              <a:buChar char="§"/>
            </a:pPr>
            <a:endParaRPr lang="en-US"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15</a:t>
            </a:fld>
            <a:endParaRPr lang="en-US"/>
          </a:p>
        </p:txBody>
      </p:sp>
    </p:spTree>
    <p:extLst>
      <p:ext uri="{BB962C8B-B14F-4D97-AF65-F5344CB8AC3E}">
        <p14:creationId xmlns:p14="http://schemas.microsoft.com/office/powerpoint/2010/main" val="689157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Port Scenario Video (3 min video) Set the Stage:  This scenario is an example of what could happen if ESMRM is NOT considered at an operating location where</a:t>
            </a:r>
            <a:r>
              <a:rPr lang="en-US" sz="1600" baseline="0" dirty="0"/>
              <a:t> </a:t>
            </a:r>
            <a:r>
              <a:rPr lang="en-US" sz="1600" dirty="0"/>
              <a:t>munitions are involved.</a:t>
            </a:r>
          </a:p>
          <a:p>
            <a:endParaRPr lang="en-US" sz="1600" dirty="0"/>
          </a:p>
          <a:p>
            <a:r>
              <a:rPr lang="en-US" sz="1600" dirty="0"/>
              <a:t>Let’s watch the video and then we’ll have</a:t>
            </a:r>
            <a:r>
              <a:rPr lang="en-US" sz="1600" baseline="0" dirty="0"/>
              <a:t> a discussion on ‘what could have been done differently’.</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16</a:t>
            </a:fld>
            <a:endParaRPr lang="en-US"/>
          </a:p>
        </p:txBody>
      </p:sp>
    </p:spTree>
    <p:extLst>
      <p:ext uri="{BB962C8B-B14F-4D97-AF65-F5344CB8AC3E}">
        <p14:creationId xmlns:p14="http://schemas.microsoft.com/office/powerpoint/2010/main" val="3383869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17</a:t>
            </a:fld>
            <a:endParaRPr lang="en-US"/>
          </a:p>
        </p:txBody>
      </p:sp>
    </p:spTree>
    <p:extLst>
      <p:ext uri="{BB962C8B-B14F-4D97-AF65-F5344CB8AC3E}">
        <p14:creationId xmlns:p14="http://schemas.microsoft.com/office/powerpoint/2010/main" val="4103910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18</a:t>
            </a:fld>
            <a:endParaRPr lang="en-US"/>
          </a:p>
        </p:txBody>
      </p:sp>
    </p:spTree>
    <p:extLst>
      <p:ext uri="{BB962C8B-B14F-4D97-AF65-F5344CB8AC3E}">
        <p14:creationId xmlns:p14="http://schemas.microsoft.com/office/powerpoint/2010/main" val="2445499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19</a:t>
            </a:fld>
            <a:endParaRPr lang="en-US"/>
          </a:p>
        </p:txBody>
      </p:sp>
    </p:spTree>
    <p:extLst>
      <p:ext uri="{BB962C8B-B14F-4D97-AF65-F5344CB8AC3E}">
        <p14:creationId xmlns:p14="http://schemas.microsoft.com/office/powerpoint/2010/main" val="1875959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has changed since the cold war, the peace dividend has seen nations drawing down their storage capacities and lodger Armies such as the British Army of the Rhine, returning to their own nations. SACEUR’s AOR is much bigger, with less infrastructure dedicated to ES. The threat isn’t just from the East, we need to react swiftly with forces that are strewn across EU and Continental US. We re-plan every year and have no standing authority to make ES decisions</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20</a:t>
            </a:fld>
            <a:endParaRPr lang="en-US"/>
          </a:p>
        </p:txBody>
      </p:sp>
    </p:spTree>
    <p:extLst>
      <p:ext uri="{BB962C8B-B14F-4D97-AF65-F5344CB8AC3E}">
        <p14:creationId xmlns:p14="http://schemas.microsoft.com/office/powerpoint/2010/main" val="365390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21</a:t>
            </a:fld>
            <a:endParaRPr lang="en-US"/>
          </a:p>
        </p:txBody>
      </p:sp>
    </p:spTree>
    <p:extLst>
      <p:ext uri="{BB962C8B-B14F-4D97-AF65-F5344CB8AC3E}">
        <p14:creationId xmlns:p14="http://schemas.microsoft.com/office/powerpoint/2010/main" val="1489659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22</a:t>
            </a:fld>
            <a:endParaRPr lang="en-US"/>
          </a:p>
        </p:txBody>
      </p:sp>
    </p:spTree>
    <p:extLst>
      <p:ext uri="{BB962C8B-B14F-4D97-AF65-F5344CB8AC3E}">
        <p14:creationId xmlns:p14="http://schemas.microsoft.com/office/powerpoint/2010/main" val="2621428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Discussion:</a:t>
            </a:r>
          </a:p>
          <a:p>
            <a:pPr marL="171844" indent="-171844">
              <a:buFontTx/>
              <a:buChar char="-"/>
            </a:pPr>
            <a:r>
              <a:rPr lang="en-US" sz="1600" dirty="0"/>
              <a:t>Was a Risk Assessment conducted?</a:t>
            </a:r>
          </a:p>
          <a:p>
            <a:pPr marL="171844" indent="-171844">
              <a:buFontTx/>
              <a:buChar char="-"/>
            </a:pPr>
            <a:r>
              <a:rPr lang="en-US" sz="1600" dirty="0"/>
              <a:t>What Risk was</a:t>
            </a:r>
            <a:r>
              <a:rPr lang="en-US" sz="1600" baseline="0" dirty="0"/>
              <a:t> i</a:t>
            </a:r>
            <a:r>
              <a:rPr lang="en-US" sz="1600" dirty="0"/>
              <a:t>nvolved with this operation? </a:t>
            </a:r>
          </a:p>
          <a:p>
            <a:pPr marL="171844" indent="-171844">
              <a:buFontTx/>
              <a:buChar char="-"/>
            </a:pPr>
            <a:r>
              <a:rPr lang="en-US" sz="1600" dirty="0"/>
              <a:t>Who was responsible for accepting the Risk?</a:t>
            </a:r>
          </a:p>
          <a:p>
            <a:pPr marL="171844" indent="-171844">
              <a:buFontTx/>
              <a:buChar char="-"/>
            </a:pPr>
            <a:r>
              <a:rPr lang="en-US" sz="1600" dirty="0"/>
              <a:t>What’s the Mission</a:t>
            </a:r>
            <a:r>
              <a:rPr lang="en-US" sz="1600" baseline="0" dirty="0"/>
              <a:t> Impact?</a:t>
            </a:r>
          </a:p>
          <a:p>
            <a:pPr marL="171844" indent="-171844">
              <a:buFontTx/>
              <a:buChar char="-"/>
            </a:pPr>
            <a:r>
              <a:rPr lang="en-US" sz="1600" baseline="0" dirty="0"/>
              <a:t>What could have been done to mitigate the mishap?</a:t>
            </a:r>
          </a:p>
        </p:txBody>
      </p:sp>
      <p:sp>
        <p:nvSpPr>
          <p:cNvPr id="4" name="Slide Number Placeholder 3"/>
          <p:cNvSpPr>
            <a:spLocks noGrp="1"/>
          </p:cNvSpPr>
          <p:nvPr>
            <p:ph type="sldNum" sz="quarter" idx="10"/>
          </p:nvPr>
        </p:nvSpPr>
        <p:spPr/>
        <p:txBody>
          <a:bodyPr/>
          <a:lstStyle/>
          <a:p>
            <a:fld id="{9B860A92-79F5-3B47-AC22-DCFE9850A51F}" type="slidenum">
              <a:rPr lang="en-US" smtClean="0"/>
              <a:pPr/>
              <a:t>23</a:t>
            </a:fld>
            <a:endParaRPr lang="en-US"/>
          </a:p>
        </p:txBody>
      </p:sp>
    </p:spTree>
    <p:extLst>
      <p:ext uri="{BB962C8B-B14F-4D97-AF65-F5344CB8AC3E}">
        <p14:creationId xmlns:p14="http://schemas.microsoft.com/office/powerpoint/2010/main" val="3107540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aseline="0" dirty="0"/>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25</a:t>
            </a:fld>
            <a:endParaRPr lang="en-US"/>
          </a:p>
        </p:txBody>
      </p:sp>
    </p:spTree>
    <p:extLst>
      <p:ext uri="{BB962C8B-B14F-4D97-AF65-F5344CB8AC3E}">
        <p14:creationId xmlns:p14="http://schemas.microsoft.com/office/powerpoint/2010/main" val="11633453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aseline="0" dirty="0"/>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26</a:t>
            </a:fld>
            <a:endParaRPr lang="en-US"/>
          </a:p>
        </p:txBody>
      </p:sp>
    </p:spTree>
    <p:extLst>
      <p:ext uri="{BB962C8B-B14F-4D97-AF65-F5344CB8AC3E}">
        <p14:creationId xmlns:p14="http://schemas.microsoft.com/office/powerpoint/2010/main" val="34772154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600" baseline="0"/>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27</a:t>
            </a:fld>
            <a:endParaRPr lang="en-US"/>
          </a:p>
        </p:txBody>
      </p:sp>
    </p:spTree>
    <p:extLst>
      <p:ext uri="{BB962C8B-B14F-4D97-AF65-F5344CB8AC3E}">
        <p14:creationId xmlns:p14="http://schemas.microsoft.com/office/powerpoint/2010/main" val="536227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600" baseline="0" dirty="0"/>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28</a:t>
            </a:fld>
            <a:endParaRPr lang="en-US"/>
          </a:p>
        </p:txBody>
      </p:sp>
    </p:spTree>
    <p:extLst>
      <p:ext uri="{BB962C8B-B14F-4D97-AF65-F5344CB8AC3E}">
        <p14:creationId xmlns:p14="http://schemas.microsoft.com/office/powerpoint/2010/main" val="21572431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kern="1200" dirty="0">
                <a:solidFill>
                  <a:schemeClr val="tx1"/>
                </a:solidFill>
                <a:effectLst/>
                <a:latin typeface="+mn-lt"/>
                <a:ea typeface="+mn-ea"/>
                <a:cs typeface="+mn-cs"/>
              </a:rPr>
              <a:t> </a:t>
            </a:r>
            <a:endParaRPr lang="en-US" sz="1600"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29</a:t>
            </a:fld>
            <a:endParaRPr lang="en-US"/>
          </a:p>
        </p:txBody>
      </p:sp>
    </p:spTree>
    <p:extLst>
      <p:ext uri="{BB962C8B-B14F-4D97-AF65-F5344CB8AC3E}">
        <p14:creationId xmlns:p14="http://schemas.microsoft.com/office/powerpoint/2010/main" val="12395252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no standing authority for NATO forces to take ES risk decisions on a HNs sovereign territory. The authority must be brokered and agreed during the planning phase in order to empower NATO commanders to take action and make decisions </a:t>
            </a:r>
            <a:r>
              <a:rPr lang="en-GB" dirty="0" err="1"/>
              <a:t>iaw</a:t>
            </a:r>
            <a:r>
              <a:rPr lang="en-GB" dirty="0"/>
              <a:t> ALP 16</a:t>
            </a:r>
          </a:p>
          <a:p>
            <a:r>
              <a:rPr lang="en-GB" dirty="0"/>
              <a:t>In a none permissive environment, the NAC must decide what powers Allied forces can exercise across a broad spectrum od activity including ES</a:t>
            </a:r>
          </a:p>
        </p:txBody>
      </p:sp>
      <p:sp>
        <p:nvSpPr>
          <p:cNvPr id="4" name="Slide Number Placeholder 3"/>
          <p:cNvSpPr>
            <a:spLocks noGrp="1"/>
          </p:cNvSpPr>
          <p:nvPr>
            <p:ph type="sldNum" sz="quarter" idx="5"/>
          </p:nvPr>
        </p:nvSpPr>
        <p:spPr/>
        <p:txBody>
          <a:bodyPr/>
          <a:lstStyle/>
          <a:p>
            <a:fld id="{9B860A92-79F5-3B47-AC22-DCFE9850A51F}" type="slidenum">
              <a:rPr lang="de-DE" smtClean="0"/>
              <a:pPr/>
              <a:t>30</a:t>
            </a:fld>
            <a:endParaRPr lang="de-DE"/>
          </a:p>
        </p:txBody>
      </p:sp>
    </p:spTree>
    <p:extLst>
      <p:ext uri="{BB962C8B-B14F-4D97-AF65-F5344CB8AC3E}">
        <p14:creationId xmlns:p14="http://schemas.microsoft.com/office/powerpoint/2010/main" val="35149505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B860A92-79F5-3B47-AC22-DCFE9850A51F}" type="slidenum">
              <a:rPr lang="de-DE" smtClean="0"/>
              <a:pPr/>
              <a:t>31</a:t>
            </a:fld>
            <a:endParaRPr lang="de-DE"/>
          </a:p>
        </p:txBody>
      </p:sp>
    </p:spTree>
    <p:extLst>
      <p:ext uri="{BB962C8B-B14F-4D97-AF65-F5344CB8AC3E}">
        <p14:creationId xmlns:p14="http://schemas.microsoft.com/office/powerpoint/2010/main" val="34782137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no standing authority for NATO forces to take ES risk decisions on a HNs sovereign territory. The authority must be brokered and agreed during the planning phase in order to empower NATO commanders to take action and make decisions </a:t>
            </a:r>
            <a:r>
              <a:rPr lang="en-GB" dirty="0" err="1"/>
              <a:t>iaw</a:t>
            </a:r>
            <a:r>
              <a:rPr lang="en-GB" dirty="0"/>
              <a:t> ALP 16</a:t>
            </a:r>
          </a:p>
          <a:p>
            <a:r>
              <a:rPr lang="en-GB" dirty="0"/>
              <a:t>In a none permissive environment, the NAC must decide what powers Allied forces can exercise across a broad spectrum od activity including ES</a:t>
            </a:r>
          </a:p>
        </p:txBody>
      </p:sp>
      <p:sp>
        <p:nvSpPr>
          <p:cNvPr id="4" name="Slide Number Placeholder 3"/>
          <p:cNvSpPr>
            <a:spLocks noGrp="1"/>
          </p:cNvSpPr>
          <p:nvPr>
            <p:ph type="sldNum" sz="quarter" idx="5"/>
          </p:nvPr>
        </p:nvSpPr>
        <p:spPr/>
        <p:txBody>
          <a:bodyPr/>
          <a:lstStyle/>
          <a:p>
            <a:fld id="{9B860A92-79F5-3B47-AC22-DCFE9850A51F}" type="slidenum">
              <a:rPr lang="de-DE" smtClean="0"/>
              <a:pPr/>
              <a:t>32</a:t>
            </a:fld>
            <a:endParaRPr lang="de-DE"/>
          </a:p>
        </p:txBody>
      </p:sp>
    </p:spTree>
    <p:extLst>
      <p:ext uri="{BB962C8B-B14F-4D97-AF65-F5344CB8AC3E}">
        <p14:creationId xmlns:p14="http://schemas.microsoft.com/office/powerpoint/2010/main" val="29102429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some circumstance a BSO at </a:t>
            </a:r>
            <a:r>
              <a:rPr lang="en-GB" dirty="0" err="1"/>
              <a:t>Div</a:t>
            </a:r>
            <a:r>
              <a:rPr lang="en-GB" dirty="0"/>
              <a:t> level may not be able to apply appropriate mitigation in order to reduce risk to the appropriate level, where this is the case it must be referred up the chain of command until the resource or authority is gained to be able to apply the mitigation or find an alternative solution</a:t>
            </a:r>
          </a:p>
        </p:txBody>
      </p:sp>
      <p:sp>
        <p:nvSpPr>
          <p:cNvPr id="4" name="Slide Number Placeholder 3"/>
          <p:cNvSpPr>
            <a:spLocks noGrp="1"/>
          </p:cNvSpPr>
          <p:nvPr>
            <p:ph type="sldNum" sz="quarter" idx="5"/>
          </p:nvPr>
        </p:nvSpPr>
        <p:spPr/>
        <p:txBody>
          <a:bodyPr/>
          <a:lstStyle/>
          <a:p>
            <a:fld id="{9B860A92-79F5-3B47-AC22-DCFE9850A51F}" type="slidenum">
              <a:rPr lang="de-DE" smtClean="0"/>
              <a:pPr/>
              <a:t>33</a:t>
            </a:fld>
            <a:endParaRPr lang="de-DE"/>
          </a:p>
        </p:txBody>
      </p:sp>
    </p:spTree>
    <p:extLst>
      <p:ext uri="{BB962C8B-B14F-4D97-AF65-F5344CB8AC3E}">
        <p14:creationId xmlns:p14="http://schemas.microsoft.com/office/powerpoint/2010/main" val="42056866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no standing authority for NATO forces to take ES risk decisions on a HNs sovereign territory. The authority must be brokered and agreed during the planning phase in order to empower NATO commanders to take action and make decisions </a:t>
            </a:r>
            <a:r>
              <a:rPr lang="en-GB" dirty="0" err="1"/>
              <a:t>iaw</a:t>
            </a:r>
            <a:r>
              <a:rPr lang="en-GB" dirty="0"/>
              <a:t> ALP 16</a:t>
            </a:r>
          </a:p>
          <a:p>
            <a:r>
              <a:rPr lang="en-GB" dirty="0"/>
              <a:t>In a none permissive environment, the NAC must decide what powers Allied forces can exercise across a broad spectrum od activity including ES</a:t>
            </a:r>
          </a:p>
        </p:txBody>
      </p:sp>
      <p:sp>
        <p:nvSpPr>
          <p:cNvPr id="4" name="Slide Number Placeholder 3"/>
          <p:cNvSpPr>
            <a:spLocks noGrp="1"/>
          </p:cNvSpPr>
          <p:nvPr>
            <p:ph type="sldNum" sz="quarter" idx="5"/>
          </p:nvPr>
        </p:nvSpPr>
        <p:spPr/>
        <p:txBody>
          <a:bodyPr/>
          <a:lstStyle/>
          <a:p>
            <a:fld id="{9B860A92-79F5-3B47-AC22-DCFE9850A51F}" type="slidenum">
              <a:rPr lang="de-DE" smtClean="0"/>
              <a:pPr/>
              <a:t>34</a:t>
            </a:fld>
            <a:endParaRPr lang="de-DE"/>
          </a:p>
        </p:txBody>
      </p:sp>
    </p:spTree>
    <p:extLst>
      <p:ext uri="{BB962C8B-B14F-4D97-AF65-F5344CB8AC3E}">
        <p14:creationId xmlns:p14="http://schemas.microsoft.com/office/powerpoint/2010/main" val="31280502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FOB</a:t>
            </a:r>
            <a:r>
              <a:rPr lang="en-US" baseline="0" dirty="0"/>
              <a:t> Raptor Scenario. (6 min video)</a:t>
            </a:r>
            <a:endParaRPr lang="en-US" dirty="0"/>
          </a:p>
        </p:txBody>
      </p:sp>
      <p:sp>
        <p:nvSpPr>
          <p:cNvPr id="4" name="Slide Number Placeholder 3"/>
          <p:cNvSpPr>
            <a:spLocks noGrp="1"/>
          </p:cNvSpPr>
          <p:nvPr>
            <p:ph type="sldNum" sz="quarter" idx="10"/>
          </p:nvPr>
        </p:nvSpPr>
        <p:spPr/>
        <p:txBody>
          <a:bodyPr/>
          <a:lstStyle/>
          <a:p>
            <a:fld id="{9B860A92-79F5-3B47-AC22-DCFE9850A51F}" type="slidenum">
              <a:rPr lang="en-US" smtClean="0"/>
              <a:pPr/>
              <a:t>35</a:t>
            </a:fld>
            <a:endParaRPr lang="en-US"/>
          </a:p>
        </p:txBody>
      </p:sp>
    </p:spTree>
    <p:extLst>
      <p:ext uri="{BB962C8B-B14F-4D97-AF65-F5344CB8AC3E}">
        <p14:creationId xmlns:p14="http://schemas.microsoft.com/office/powerpoint/2010/main" val="3420262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SO_title_logo">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1651000" y="4535630"/>
            <a:ext cx="6199909" cy="898156"/>
          </a:xfrm>
          <a:prstGeom prst="rect">
            <a:avLst/>
          </a:prstGeom>
        </p:spPr>
        <p:txBody>
          <a:bodyPr anchor="b">
            <a:normAutofit/>
          </a:bodyPr>
          <a:lstStyle>
            <a:lvl1pPr algn="l">
              <a:defRPr sz="2400" b="1" cap="all" baseline="0">
                <a:solidFill>
                  <a:srgbClr val="003B5B"/>
                </a:solidFill>
                <a:latin typeface="Arial" pitchFamily="34" charset="0"/>
                <a:cs typeface="Arial" pitchFamily="34" charset="0"/>
              </a:defRPr>
            </a:lvl1pPr>
          </a:lstStyle>
          <a:p>
            <a:r>
              <a:rPr lang="en-US" dirty="0"/>
              <a:t>Click to edit </a:t>
            </a:r>
            <a:r>
              <a:rPr lang="en-US" dirty="0" err="1"/>
              <a:t>Mastr</a:t>
            </a:r>
            <a:r>
              <a:rPr lang="en-US" dirty="0"/>
              <a:t> title style</a:t>
            </a:r>
            <a:endParaRPr lang="en-GB" dirty="0"/>
          </a:p>
        </p:txBody>
      </p:sp>
      <p:sp>
        <p:nvSpPr>
          <p:cNvPr id="8" name="Subtitle 2"/>
          <p:cNvSpPr>
            <a:spLocks noGrp="1"/>
          </p:cNvSpPr>
          <p:nvPr>
            <p:ph type="subTitle" idx="1"/>
          </p:nvPr>
        </p:nvSpPr>
        <p:spPr>
          <a:xfrm>
            <a:off x="1651000" y="5433786"/>
            <a:ext cx="6199909" cy="1053234"/>
          </a:xfrm>
          <a:prstGeom prst="rect">
            <a:avLst/>
          </a:prstGeom>
        </p:spPr>
        <p:txBody>
          <a:bodyPr>
            <a:normAutofit/>
          </a:bodyPr>
          <a:lstStyle>
            <a:lvl1pPr marL="0" indent="0" algn="l" defTabSz="914400" rtl="0" eaLnBrk="1" latinLnBrk="0" hangingPunct="1">
              <a:spcBef>
                <a:spcPct val="20000"/>
              </a:spcBef>
              <a:buFont typeface="Arial" pitchFamily="34" charset="0"/>
              <a:buNone/>
              <a:defRPr lang="en-GB" sz="2000" b="0" kern="1200" dirty="0">
                <a:solidFill>
                  <a:schemeClr val="tx1">
                    <a:tint val="75000"/>
                  </a:schemeClr>
                </a:solidFill>
                <a:latin typeface="Arial"/>
                <a:ea typeface="+mn-ea"/>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4290139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SO_section_header">
    <p:spTree>
      <p:nvGrpSpPr>
        <p:cNvPr id="1" name=""/>
        <p:cNvGrpSpPr/>
        <p:nvPr/>
      </p:nvGrpSpPr>
      <p:grpSpPr>
        <a:xfrm>
          <a:off x="0" y="0"/>
          <a:ext cx="0" cy="0"/>
          <a:chOff x="0" y="0"/>
          <a:chExt cx="0" cy="0"/>
        </a:xfrm>
      </p:grpSpPr>
      <p:sp>
        <p:nvSpPr>
          <p:cNvPr id="10"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11"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Fußzeilenplatzhalter 7"/>
          <p:cNvSpPr>
            <a:spLocks noGrp="1"/>
          </p:cNvSpPr>
          <p:nvPr>
            <p:ph type="ftr" sz="quarter" idx="3"/>
          </p:nvPr>
        </p:nvSpPr>
        <p:spPr>
          <a:xfrm>
            <a:off x="2895467" y="622868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Tree>
    <p:extLst>
      <p:ext uri="{BB962C8B-B14F-4D97-AF65-F5344CB8AC3E}">
        <p14:creationId xmlns:p14="http://schemas.microsoft.com/office/powerpoint/2010/main" val="4177904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SO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Fußzeilenplatzhalter 7"/>
          <p:cNvSpPr>
            <a:spLocks noGrp="1"/>
          </p:cNvSpPr>
          <p:nvPr>
            <p:ph type="ftr" sz="quarter" idx="3"/>
          </p:nvPr>
        </p:nvSpPr>
        <p:spPr>
          <a:xfrm>
            <a:off x="2895467" y="623503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pic>
        <p:nvPicPr>
          <p:cNvPr id="13" name="Picture 12">
            <a:extLst>
              <a:ext uri="{FF2B5EF4-FFF2-40B4-BE49-F238E27FC236}">
                <a16:creationId xmlns="" xmlns:a16="http://schemas.microsoft.com/office/drawing/2014/main" id="{171ACF16-984C-1D49-B252-E7AF0019037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755" t="9030" r="4891" b="14221"/>
          <a:stretch/>
        </p:blipFill>
        <p:spPr>
          <a:xfrm>
            <a:off x="237067" y="0"/>
            <a:ext cx="1805348" cy="610765"/>
          </a:xfrm>
          <a:prstGeom prst="rect">
            <a:avLst/>
          </a:prstGeom>
        </p:spPr>
      </p:pic>
    </p:spTree>
    <p:extLst>
      <p:ext uri="{BB962C8B-B14F-4D97-AF65-F5344CB8AC3E}">
        <p14:creationId xmlns:p14="http://schemas.microsoft.com/office/powerpoint/2010/main" val="653136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SO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Fußzeilenplatzhalter 7"/>
          <p:cNvSpPr>
            <a:spLocks noGrp="1"/>
          </p:cNvSpPr>
          <p:nvPr>
            <p:ph type="ftr" sz="quarter" idx="3"/>
          </p:nvPr>
        </p:nvSpPr>
        <p:spPr>
          <a:xfrm>
            <a:off x="2895467" y="6238494"/>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a:t>NATO UNCLASSIFIED</a:t>
            </a:r>
            <a:endParaRPr lang="de-DE" dirty="0"/>
          </a:p>
        </p:txBody>
      </p:sp>
      <p:pic>
        <p:nvPicPr>
          <p:cNvPr id="13" name="Picture 12">
            <a:extLst>
              <a:ext uri="{FF2B5EF4-FFF2-40B4-BE49-F238E27FC236}">
                <a16:creationId xmlns="" xmlns:a16="http://schemas.microsoft.com/office/drawing/2014/main" id="{7DD81D95-7BDC-5F42-8E71-6B2B2EBB95A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755" t="9030" r="4891" b="14221"/>
          <a:stretch/>
        </p:blipFill>
        <p:spPr>
          <a:xfrm>
            <a:off x="237067" y="0"/>
            <a:ext cx="1805348" cy="610765"/>
          </a:xfrm>
          <a:prstGeom prst="rect">
            <a:avLst/>
          </a:prstGeom>
        </p:spPr>
      </p:pic>
    </p:spTree>
    <p:extLst>
      <p:ext uri="{BB962C8B-B14F-4D97-AF65-F5344CB8AC3E}">
        <p14:creationId xmlns:p14="http://schemas.microsoft.com/office/powerpoint/2010/main" val="3968904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SO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0"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1"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4" name="Fußzeilenplatzhalter 7"/>
          <p:cNvSpPr>
            <a:spLocks noGrp="1"/>
          </p:cNvSpPr>
          <p:nvPr>
            <p:ph type="ftr" sz="quarter" idx="3"/>
          </p:nvPr>
        </p:nvSpPr>
        <p:spPr>
          <a:xfrm>
            <a:off x="2895467" y="6238494"/>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a:t>NATO UNCLASSIFIED</a:t>
            </a:r>
            <a:endParaRPr lang="de-DE" dirty="0"/>
          </a:p>
        </p:txBody>
      </p:sp>
      <p:sp>
        <p:nvSpPr>
          <p:cNvPr id="1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9"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C1E617F-2149-4774-B468-9B635344F74C}" type="datetime1">
              <a:rPr lang="en-US" smtClean="0"/>
              <a:pPr lvl="1"/>
              <a:t>13/06/2023</a:t>
            </a:fld>
            <a:endParaRPr lang="en-GB" dirty="0"/>
          </a:p>
        </p:txBody>
      </p:sp>
      <p:pic>
        <p:nvPicPr>
          <p:cNvPr id="15" name="Picture 14">
            <a:extLst>
              <a:ext uri="{FF2B5EF4-FFF2-40B4-BE49-F238E27FC236}">
                <a16:creationId xmlns="" xmlns:a16="http://schemas.microsoft.com/office/drawing/2014/main" id="{14B29E32-D5B2-A342-A0CC-2B2A71F6CBB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755" t="9030" r="4891" b="14221"/>
          <a:stretch/>
        </p:blipFill>
        <p:spPr>
          <a:xfrm>
            <a:off x="237067" y="0"/>
            <a:ext cx="1805348" cy="610765"/>
          </a:xfrm>
          <a:prstGeom prst="rect">
            <a:avLst/>
          </a:prstGeom>
        </p:spPr>
      </p:pic>
    </p:spTree>
    <p:extLst>
      <p:ext uri="{BB962C8B-B14F-4D97-AF65-F5344CB8AC3E}">
        <p14:creationId xmlns:p14="http://schemas.microsoft.com/office/powerpoint/2010/main" val="2521216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JOPS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478E588-CB74-42E5-97AC-F64AD782D86F}" type="datetime1">
              <a:rPr lang="en-US" smtClean="0"/>
              <a:pPr lvl="1"/>
              <a:t>13/06/2023</a:t>
            </a:fld>
            <a:endParaRPr lang="en-GB" dirty="0"/>
          </a:p>
        </p:txBody>
      </p:sp>
    </p:spTree>
    <p:extLst>
      <p:ext uri="{BB962C8B-B14F-4D97-AF65-F5344CB8AC3E}">
        <p14:creationId xmlns:p14="http://schemas.microsoft.com/office/powerpoint/2010/main" val="117061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EL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F5B6CE2-B532-46F1-9076-1F2DDEAF0295}" type="datetime1">
              <a:rPr lang="en-US" smtClean="0"/>
              <a:pPr lvl="1"/>
              <a:t>13/06/2023</a:t>
            </a:fld>
            <a:endParaRPr lang="en-GB" dirty="0"/>
          </a:p>
        </p:txBody>
      </p:sp>
    </p:spTree>
    <p:extLst>
      <p:ext uri="{BB962C8B-B14F-4D97-AF65-F5344CB8AC3E}">
        <p14:creationId xmlns:p14="http://schemas.microsoft.com/office/powerpoint/2010/main" val="162004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TEL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6"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F819160-FC9B-4F36-8056-3DE7B14765B4}" type="datetime1">
              <a:rPr lang="en-US" smtClean="0"/>
              <a:pPr lvl="1"/>
              <a:t>13/06/2023</a:t>
            </a:fld>
            <a:endParaRPr lang="en-GB" dirty="0"/>
          </a:p>
        </p:txBody>
      </p:sp>
    </p:spTree>
    <p:extLst>
      <p:ext uri="{BB962C8B-B14F-4D97-AF65-F5344CB8AC3E}">
        <p14:creationId xmlns:p14="http://schemas.microsoft.com/office/powerpoint/2010/main" val="2382034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TEL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5"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6"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3BAAFB67-5EA9-456B-87A0-753708FC3389}" type="datetime1">
              <a:rPr lang="en-US" smtClean="0"/>
              <a:pPr lvl="1"/>
              <a:t>13/06/2023</a:t>
            </a:fld>
            <a:endParaRPr lang="en-GB" dirty="0"/>
          </a:p>
        </p:txBody>
      </p:sp>
    </p:spTree>
    <p:extLst>
      <p:ext uri="{BB962C8B-B14F-4D97-AF65-F5344CB8AC3E}">
        <p14:creationId xmlns:p14="http://schemas.microsoft.com/office/powerpoint/2010/main" val="1031241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EL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4"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7"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8"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9"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AAE7EB20-E903-4D00-A907-1670EC8307E3}" type="datetime1">
              <a:rPr lang="en-US" smtClean="0"/>
              <a:pPr lvl="1"/>
              <a:t>13/06/2023</a:t>
            </a:fld>
            <a:endParaRPr lang="en-GB" dirty="0"/>
          </a:p>
        </p:txBody>
      </p:sp>
    </p:spTree>
    <p:extLst>
      <p:ext uri="{BB962C8B-B14F-4D97-AF65-F5344CB8AC3E}">
        <p14:creationId xmlns:p14="http://schemas.microsoft.com/office/powerpoint/2010/main" val="319980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SEC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0FF7AEF-624E-440B-9BB9-B056E541B98F}" type="datetime1">
              <a:rPr lang="en-US" smtClean="0"/>
              <a:pPr lvl="1"/>
              <a:t>13/06/2023</a:t>
            </a:fld>
            <a:endParaRPr lang="en-GB" dirty="0"/>
          </a:p>
        </p:txBody>
      </p:sp>
    </p:spTree>
    <p:extLst>
      <p:ext uri="{BB962C8B-B14F-4D97-AF65-F5344CB8AC3E}">
        <p14:creationId xmlns:p14="http://schemas.microsoft.com/office/powerpoint/2010/main" val="3468133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SEC_one column">
    <p:spTree>
      <p:nvGrpSpPr>
        <p:cNvPr id="1" name=""/>
        <p:cNvGrpSpPr/>
        <p:nvPr/>
      </p:nvGrpSpPr>
      <p:grpSpPr>
        <a:xfrm>
          <a:off x="0" y="0"/>
          <a:ext cx="0" cy="0"/>
          <a:chOff x="0" y="0"/>
          <a:chExt cx="0" cy="0"/>
        </a:xfrm>
      </p:grpSpPr>
      <p:sp>
        <p:nvSpPr>
          <p:cNvPr id="9"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0"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1"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8"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F4357D3-65D7-4C54-9395-E6C896556CFD}" type="datetime1">
              <a:rPr lang="en-US" smtClean="0"/>
              <a:pPr lvl="1"/>
              <a:t>13/06/2023</a:t>
            </a:fld>
            <a:endParaRPr lang="en-GB" dirty="0"/>
          </a:p>
        </p:txBody>
      </p:sp>
    </p:spTree>
    <p:extLst>
      <p:ext uri="{BB962C8B-B14F-4D97-AF65-F5344CB8AC3E}">
        <p14:creationId xmlns:p14="http://schemas.microsoft.com/office/powerpoint/2010/main" val="25420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SEC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FF6F097-084C-4775-93B2-A61F78A104A9}" type="datetime1">
              <a:rPr lang="en-US" smtClean="0"/>
              <a:pPr lvl="1"/>
              <a:t>13/06/2023</a:t>
            </a:fld>
            <a:endParaRPr lang="en-GB" dirty="0"/>
          </a:p>
        </p:txBody>
      </p:sp>
    </p:spTree>
    <p:extLst>
      <p:ext uri="{BB962C8B-B14F-4D97-AF65-F5344CB8AC3E}">
        <p14:creationId xmlns:p14="http://schemas.microsoft.com/office/powerpoint/2010/main" val="1102889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SEC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D2A615C-4BA5-4B6D-87E3-56A2011B1D13}" type="datetime1">
              <a:rPr lang="en-US" smtClean="0"/>
              <a:pPr lvl="1"/>
              <a:t>13/06/2023</a:t>
            </a:fld>
            <a:endParaRPr lang="en-GB" dirty="0"/>
          </a:p>
        </p:txBody>
      </p:sp>
    </p:spTree>
    <p:extLst>
      <p:ext uri="{BB962C8B-B14F-4D97-AF65-F5344CB8AC3E}">
        <p14:creationId xmlns:p14="http://schemas.microsoft.com/office/powerpoint/2010/main" val="398277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JOPS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6734212-29DE-435F-B08D-EC94326B9EC5}" type="datetime1">
              <a:rPr lang="en-US" smtClean="0"/>
              <a:pPr lvl="1"/>
              <a:t>13/06/2023</a:t>
            </a:fld>
            <a:endParaRPr lang="en-GB" dirty="0"/>
          </a:p>
        </p:txBody>
      </p:sp>
    </p:spTree>
    <p:extLst>
      <p:ext uri="{BB962C8B-B14F-4D97-AF65-F5344CB8AC3E}">
        <p14:creationId xmlns:p14="http://schemas.microsoft.com/office/powerpoint/2010/main" val="4063686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JOPS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478E588-CB74-42E5-97AC-F64AD782D86F}" type="datetime1">
              <a:rPr lang="en-US" smtClean="0"/>
              <a:pPr lvl="1"/>
              <a:t>13/06/2023</a:t>
            </a:fld>
            <a:endParaRPr lang="en-GB" dirty="0"/>
          </a:p>
        </p:txBody>
      </p:sp>
    </p:spTree>
    <p:extLst>
      <p:ext uri="{BB962C8B-B14F-4D97-AF65-F5344CB8AC3E}">
        <p14:creationId xmlns:p14="http://schemas.microsoft.com/office/powerpoint/2010/main" val="4020057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JOPS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D0E2E78-441C-48C8-91E6-E672D7B3692A}" type="datetime1">
              <a:rPr lang="en-US" smtClean="0"/>
              <a:pPr lvl="1"/>
              <a:t>13/06/2023</a:t>
            </a:fld>
            <a:endParaRPr lang="en-GB" dirty="0"/>
          </a:p>
        </p:txBody>
      </p:sp>
    </p:spTree>
    <p:extLst>
      <p:ext uri="{BB962C8B-B14F-4D97-AF65-F5344CB8AC3E}">
        <p14:creationId xmlns:p14="http://schemas.microsoft.com/office/powerpoint/2010/main" val="31489581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JOPS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02A7A73-3DE4-486A-A325-C13234539046}" type="datetime1">
              <a:rPr lang="en-US" smtClean="0"/>
              <a:pPr lvl="1"/>
              <a:t>13/06/2023</a:t>
            </a:fld>
            <a:endParaRPr lang="en-GB" dirty="0"/>
          </a:p>
        </p:txBody>
      </p:sp>
    </p:spTree>
    <p:extLst>
      <p:ext uri="{BB962C8B-B14F-4D97-AF65-F5344CB8AC3E}">
        <p14:creationId xmlns:p14="http://schemas.microsoft.com/office/powerpoint/2010/main" val="3162169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5513" y="0"/>
            <a:ext cx="6048375" cy="105251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341438"/>
            <a:ext cx="4038600" cy="45259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41438"/>
            <a:ext cx="4038600" cy="45259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NATO UNCLASSIFIED</a:t>
            </a:r>
          </a:p>
        </p:txBody>
      </p:sp>
      <p:sp>
        <p:nvSpPr>
          <p:cNvPr id="7" name="Rectangle 6"/>
          <p:cNvSpPr>
            <a:spLocks noGrp="1" noChangeArrowheads="1"/>
          </p:cNvSpPr>
          <p:nvPr>
            <p:ph type="sldNum" sz="quarter" idx="12"/>
          </p:nvPr>
        </p:nvSpPr>
        <p:spPr>
          <a:ln/>
        </p:spPr>
        <p:txBody>
          <a:bodyPr/>
          <a:lstStyle>
            <a:lvl1pPr>
              <a:defRPr/>
            </a:lvl1pPr>
          </a:lstStyle>
          <a:p>
            <a:pPr>
              <a:defRPr/>
            </a:pPr>
            <a:fld id="{9376E29A-304E-41CA-9B99-C75B11FBDC3A}" type="slidenum">
              <a:rPr lang="en-GB"/>
              <a:pPr>
                <a:defRPr/>
              </a:pPr>
              <a:t>‹#›</a:t>
            </a:fld>
            <a:endParaRPr lang="en-GB"/>
          </a:p>
        </p:txBody>
      </p:sp>
    </p:spTree>
    <p:extLst>
      <p:ext uri="{BB962C8B-B14F-4D97-AF65-F5344CB8AC3E}">
        <p14:creationId xmlns:p14="http://schemas.microsoft.com/office/powerpoint/2010/main" val="736261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5513" y="0"/>
            <a:ext cx="6048375" cy="1052513"/>
          </a:xfrm>
          <a:prstGeom prst="rect">
            <a:avLst/>
          </a:prstGeom>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r>
              <a:rPr lang="en-GB"/>
              <a:t>NATO UNCLASSIFIED</a:t>
            </a:r>
          </a:p>
        </p:txBody>
      </p:sp>
      <p:sp>
        <p:nvSpPr>
          <p:cNvPr id="5" name="Rectangle 6"/>
          <p:cNvSpPr>
            <a:spLocks noGrp="1" noChangeArrowheads="1"/>
          </p:cNvSpPr>
          <p:nvPr>
            <p:ph type="sldNum" sz="quarter" idx="12"/>
          </p:nvPr>
        </p:nvSpPr>
        <p:spPr>
          <a:ln/>
        </p:spPr>
        <p:txBody>
          <a:bodyPr/>
          <a:lstStyle>
            <a:lvl1pPr>
              <a:defRPr/>
            </a:lvl1pPr>
          </a:lstStyle>
          <a:p>
            <a:pPr>
              <a:defRPr/>
            </a:pPr>
            <a:fld id="{1A15C046-1FFF-4942-88E1-B145F03AE516}" type="slidenum">
              <a:rPr lang="en-GB"/>
              <a:pPr>
                <a:defRPr/>
              </a:pPr>
              <a:t>‹#›</a:t>
            </a:fld>
            <a:endParaRPr lang="en-GB"/>
          </a:p>
        </p:txBody>
      </p:sp>
    </p:spTree>
    <p:extLst>
      <p:ext uri="{BB962C8B-B14F-4D97-AF65-F5344CB8AC3E}">
        <p14:creationId xmlns:p14="http://schemas.microsoft.com/office/powerpoint/2010/main" val="39033192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NATO UNCLASSIFIED</a:t>
            </a:r>
          </a:p>
        </p:txBody>
      </p:sp>
      <p:sp>
        <p:nvSpPr>
          <p:cNvPr id="6" name="Rectangle 6"/>
          <p:cNvSpPr>
            <a:spLocks noGrp="1" noChangeArrowheads="1"/>
          </p:cNvSpPr>
          <p:nvPr>
            <p:ph type="sldNum" sz="quarter" idx="12"/>
          </p:nvPr>
        </p:nvSpPr>
        <p:spPr>
          <a:ln/>
        </p:spPr>
        <p:txBody>
          <a:bodyPr/>
          <a:lstStyle>
            <a:lvl1pPr>
              <a:defRPr/>
            </a:lvl1pPr>
          </a:lstStyle>
          <a:p>
            <a:pPr>
              <a:defRPr/>
            </a:pPr>
            <a:fld id="{67F6C5CA-1B5D-4F2B-8C17-C0A5056C67D9}" type="slidenum">
              <a:rPr lang="en-GB"/>
              <a:pPr>
                <a:defRPr/>
              </a:pPr>
              <a:t>‹#›</a:t>
            </a:fld>
            <a:endParaRPr lang="en-GB"/>
          </a:p>
        </p:txBody>
      </p:sp>
    </p:spTree>
    <p:extLst>
      <p:ext uri="{BB962C8B-B14F-4D97-AF65-F5344CB8AC3E}">
        <p14:creationId xmlns:p14="http://schemas.microsoft.com/office/powerpoint/2010/main" val="20337902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989138" y="0"/>
            <a:ext cx="6183312" cy="950913"/>
          </a:xfrm>
          <a:prstGeom prst="rect">
            <a:avLst/>
          </a:prstGeom>
        </p:spPr>
        <p:txBody>
          <a:bodyPr/>
          <a:lstStyle/>
          <a:p>
            <a:r>
              <a:rPr lang="en-US"/>
              <a:t>Click to edit Master title style</a:t>
            </a:r>
          </a:p>
        </p:txBody>
      </p:sp>
      <p:sp>
        <p:nvSpPr>
          <p:cNvPr id="3" name="Content Placeholder 2"/>
          <p:cNvSpPr>
            <a:spLocks noGrp="1"/>
          </p:cNvSpPr>
          <p:nvPr>
            <p:ph sz="quarter" idx="1"/>
          </p:nvPr>
        </p:nvSpPr>
        <p:spPr>
          <a:xfrm>
            <a:off x="752475" y="1125538"/>
            <a:ext cx="3744913" cy="2479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9788" y="1125538"/>
            <a:ext cx="3746500" cy="2479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752475" y="3757613"/>
            <a:ext cx="3744913" cy="2479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9788" y="3757613"/>
            <a:ext cx="3746500" cy="2479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948488" y="6442075"/>
            <a:ext cx="2060575" cy="360363"/>
          </a:xfrm>
        </p:spPr>
        <p:txBody>
          <a:bodyPr/>
          <a:lstStyle>
            <a:lvl1pPr>
              <a:defRPr/>
            </a:lvl1pPr>
          </a:lstStyle>
          <a:p>
            <a:pPr>
              <a:defRPr/>
            </a:pPr>
            <a:endParaRPr lang="en-GB"/>
          </a:p>
        </p:txBody>
      </p:sp>
      <p:sp>
        <p:nvSpPr>
          <p:cNvPr id="8" name="Slide Number Placeholder 7"/>
          <p:cNvSpPr>
            <a:spLocks noGrp="1"/>
          </p:cNvSpPr>
          <p:nvPr>
            <p:ph type="sldNum" sz="quarter" idx="11"/>
          </p:nvPr>
        </p:nvSpPr>
        <p:spPr>
          <a:xfrm>
            <a:off x="173038" y="6427788"/>
            <a:ext cx="1379537" cy="388937"/>
          </a:xfrm>
        </p:spPr>
        <p:txBody>
          <a:bodyPr/>
          <a:lstStyle>
            <a:lvl1pPr>
              <a:defRPr/>
            </a:lvl1pPr>
          </a:lstStyle>
          <a:p>
            <a:pPr>
              <a:defRPr/>
            </a:pPr>
            <a:fld id="{F5A86E3A-B7CE-4D92-BB1B-B6C147DEFF06}" type="slidenum">
              <a:rPr lang="en-US"/>
              <a:pPr>
                <a:defRPr/>
              </a:pPr>
              <a:t>‹#›</a:t>
            </a:fld>
            <a:endParaRPr lang="en-US"/>
          </a:p>
        </p:txBody>
      </p:sp>
      <p:sp>
        <p:nvSpPr>
          <p:cNvPr id="9" name="Footer Placeholder 8"/>
          <p:cNvSpPr>
            <a:spLocks noGrp="1"/>
          </p:cNvSpPr>
          <p:nvPr>
            <p:ph type="ftr" sz="quarter" idx="12"/>
          </p:nvPr>
        </p:nvSpPr>
        <p:spPr>
          <a:xfrm>
            <a:off x="2124075" y="6419850"/>
            <a:ext cx="4535488" cy="404813"/>
          </a:xfrm>
        </p:spPr>
        <p:txBody>
          <a:bodyPr/>
          <a:lstStyle>
            <a:lvl1pPr>
              <a:defRPr/>
            </a:lvl1pPr>
          </a:lstStyle>
          <a:p>
            <a:pPr>
              <a:defRPr/>
            </a:pPr>
            <a:r>
              <a:rPr lang="en-US"/>
              <a:t>NATO UNCLASSIFIED</a:t>
            </a:r>
          </a:p>
        </p:txBody>
      </p:sp>
    </p:spTree>
    <p:extLst>
      <p:ext uri="{BB962C8B-B14F-4D97-AF65-F5344CB8AC3E}">
        <p14:creationId xmlns:p14="http://schemas.microsoft.com/office/powerpoint/2010/main" val="3438632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2012950" y="53975"/>
            <a:ext cx="6445250" cy="61404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83039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JPD_separate_box">
    <p:spTree>
      <p:nvGrpSpPr>
        <p:cNvPr id="1" name=""/>
        <p:cNvGrpSpPr/>
        <p:nvPr/>
      </p:nvGrpSpPr>
      <p:grpSpPr>
        <a:xfrm>
          <a:off x="0" y="0"/>
          <a:ext cx="0" cy="0"/>
          <a:chOff x="0" y="0"/>
          <a:chExt cx="0" cy="0"/>
        </a:xfrm>
      </p:grpSpPr>
      <p:sp>
        <p:nvSpPr>
          <p:cNvPr id="5"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pic>
        <p:nvPicPr>
          <p:cNvPr id="6" name="Bild 9" descr="NATO_Star.png"/>
          <p:cNvPicPr>
            <a:picLocks noChangeAspect="1"/>
          </p:cNvPicPr>
          <p:nvPr userDrawn="1"/>
        </p:nvPicPr>
        <p:blipFill>
          <a:blip r:embed="rId2"/>
          <a:srcRect t="14047" r="35991"/>
          <a:stretch>
            <a:fillRect/>
          </a:stretch>
        </p:blipFill>
        <p:spPr bwMode="auto">
          <a:xfrm>
            <a:off x="3302000" y="9525"/>
            <a:ext cx="5853113" cy="5672138"/>
          </a:xfrm>
          <a:prstGeom prst="rect">
            <a:avLst/>
          </a:prstGeom>
          <a:noFill/>
          <a:ln w="9525">
            <a:noFill/>
            <a:miter lim="800000"/>
            <a:headEnd/>
            <a:tailEnd/>
          </a:ln>
        </p:spPr>
      </p:pic>
      <p:sp>
        <p:nvSpPr>
          <p:cNvPr id="7" name="Rechteck 6"/>
          <p:cNvSpPr/>
          <p:nvPr userDrawn="1"/>
        </p:nvSpPr>
        <p:spPr>
          <a:xfrm>
            <a:off x="0" y="0"/>
            <a:ext cx="236538" cy="236538"/>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8" name="Slide Number Placeholder 1"/>
          <p:cNvSpPr>
            <a:spLocks noGrp="1"/>
          </p:cNvSpPr>
          <p:nvPr>
            <p:ph type="sldNum" sz="quarter" idx="11"/>
          </p:nvPr>
        </p:nvSpPr>
        <p:spPr/>
        <p:txBody>
          <a:bodyPr/>
          <a:lstStyle>
            <a:lvl1pPr algn="l">
              <a:defRPr sz="900">
                <a:solidFill>
                  <a:schemeClr val="tx2"/>
                </a:solidFill>
                <a:latin typeface="Arial" pitchFamily="34" charset="0"/>
                <a:cs typeface="Arial" pitchFamily="34" charset="0"/>
              </a:defRPr>
            </a:lvl1pPr>
          </a:lstStyle>
          <a:p>
            <a:pPr>
              <a:defRPr/>
            </a:pPr>
            <a:r>
              <a:rPr lang="en-GB"/>
              <a:t>| Slide </a:t>
            </a:r>
            <a:fld id="{2D2E4B4F-9C27-4756-A10F-046490F758A4}" type="slidenum">
              <a:rPr lang="en-GB"/>
              <a:pPr>
                <a:defRPr/>
              </a:pPr>
              <a:t>‹#›</a:t>
            </a:fld>
            <a:endParaRPr lang="en-GB"/>
          </a:p>
        </p:txBody>
      </p:sp>
      <p:sp>
        <p:nvSpPr>
          <p:cNvPr id="9" name="Fußzeilenplatzhalter 7"/>
          <p:cNvSpPr>
            <a:spLocks noGrp="1"/>
          </p:cNvSpPr>
          <p:nvPr>
            <p:ph type="ftr" sz="quarter" idx="12"/>
          </p:nvPr>
        </p:nvSpPr>
        <p:spPr/>
        <p:txBody>
          <a:bodyPr/>
          <a:lstStyle>
            <a:lvl1pPr algn="ctr">
              <a:defRPr sz="1200">
                <a:solidFill>
                  <a:srgbClr val="033E5B"/>
                </a:solidFill>
                <a:latin typeface="Arial"/>
                <a:cs typeface="Arial"/>
              </a:defRPr>
            </a:lvl1pPr>
          </a:lstStyle>
          <a:p>
            <a:pPr>
              <a:defRPr/>
            </a:pPr>
            <a:r>
              <a:rPr lang="de-DE"/>
              <a:t>NATO UNCLASSIFIED</a:t>
            </a:r>
          </a:p>
        </p:txBody>
      </p:sp>
      <p:sp>
        <p:nvSpPr>
          <p:cNvPr id="10" name="Date Placeholder 3"/>
          <p:cNvSpPr>
            <a:spLocks noGrp="1"/>
          </p:cNvSpPr>
          <p:nvPr>
            <p:ph type="dt" sz="half" idx="13"/>
          </p:nvPr>
        </p:nvSpPr>
        <p:spPr/>
        <p:txBody>
          <a:bodyPr/>
          <a:lstStyle>
            <a:lvl2pPr lvl="1">
              <a:defRPr/>
            </a:lvl2pPr>
          </a:lstStyle>
          <a:p>
            <a:pPr lvl="1">
              <a:defRPr/>
            </a:pPr>
            <a:fld id="{26A70924-D6B3-4BB6-90F7-B4C1E2FF8D28}" type="datetime3">
              <a:rPr lang="en-US"/>
              <a:pPr lvl="1">
                <a:defRPr/>
              </a:pPr>
              <a:t>13 June 2023</a:t>
            </a:fld>
            <a:endParaRPr lang="en-GB"/>
          </a:p>
        </p:txBody>
      </p:sp>
    </p:spTree>
    <p:extLst>
      <p:ext uri="{BB962C8B-B14F-4D97-AF65-F5344CB8AC3E}">
        <p14:creationId xmlns:p14="http://schemas.microsoft.com/office/powerpoint/2010/main" val="32286617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JPD_one_column">
    <p:spTree>
      <p:nvGrpSpPr>
        <p:cNvPr id="1" name=""/>
        <p:cNvGrpSpPr/>
        <p:nvPr/>
      </p:nvGrpSpPr>
      <p:grpSpPr>
        <a:xfrm>
          <a:off x="0" y="0"/>
          <a:ext cx="0" cy="0"/>
          <a:chOff x="0" y="0"/>
          <a:chExt cx="0" cy="0"/>
        </a:xfrm>
      </p:grpSpPr>
      <p:sp>
        <p:nvSpPr>
          <p:cNvPr id="4" name="Rechteck 4"/>
          <p:cNvSpPr/>
          <p:nvPr/>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pic>
        <p:nvPicPr>
          <p:cNvPr id="5" name="Bild 9" descr="NATO_Star.png"/>
          <p:cNvPicPr>
            <a:picLocks noChangeAspect="1"/>
          </p:cNvPicPr>
          <p:nvPr/>
        </p:nvPicPr>
        <p:blipFill>
          <a:blip r:embed="rId2">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hteck 6"/>
          <p:cNvSpPr/>
          <p:nvPr/>
        </p:nvSpPr>
        <p:spPr>
          <a:xfrm>
            <a:off x="0" y="0"/>
            <a:ext cx="236538" cy="236538"/>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1"/>
          <p:cNvSpPr>
            <a:spLocks noGrp="1"/>
          </p:cNvSpPr>
          <p:nvPr>
            <p:ph type="sldNum" sz="quarter" idx="10"/>
          </p:nvPr>
        </p:nvSpPr>
        <p:spPr/>
        <p:txBody>
          <a:bodyPr/>
          <a:lstStyle>
            <a:lvl1pPr algn="l">
              <a:defRPr sz="900">
                <a:solidFill>
                  <a:schemeClr val="tx2"/>
                </a:solidFill>
                <a:latin typeface="Arial" pitchFamily="34" charset="0"/>
                <a:cs typeface="Arial" pitchFamily="34" charset="0"/>
              </a:defRPr>
            </a:lvl1pPr>
          </a:lstStyle>
          <a:p>
            <a:pPr>
              <a:defRPr/>
            </a:pPr>
            <a:r>
              <a:rPr lang="en-GB"/>
              <a:t>| Slide </a:t>
            </a:r>
            <a:fld id="{DDF512E1-7E94-4D9E-8093-028BCD21C82B}" type="slidenum">
              <a:rPr lang="en-GB"/>
              <a:pPr>
                <a:defRPr/>
              </a:pPr>
              <a:t>‹#›</a:t>
            </a:fld>
            <a:endParaRPr lang="en-GB"/>
          </a:p>
        </p:txBody>
      </p:sp>
      <p:sp>
        <p:nvSpPr>
          <p:cNvPr id="8" name="Fußzeilenplatzhalter 7"/>
          <p:cNvSpPr>
            <a:spLocks noGrp="1"/>
          </p:cNvSpPr>
          <p:nvPr>
            <p:ph type="ftr" sz="quarter" idx="11"/>
          </p:nvPr>
        </p:nvSpPr>
        <p:spPr/>
        <p:txBody>
          <a:bodyPr/>
          <a:lstStyle>
            <a:lvl1pPr>
              <a:defRPr/>
            </a:lvl1pPr>
          </a:lstStyle>
          <a:p>
            <a:pPr>
              <a:defRPr/>
            </a:pPr>
            <a:r>
              <a:rPr lang="de-DE"/>
              <a:t>NATO UNCLASSIFIED</a:t>
            </a:r>
          </a:p>
        </p:txBody>
      </p:sp>
      <p:sp>
        <p:nvSpPr>
          <p:cNvPr id="9" name="Date Placeholder 3"/>
          <p:cNvSpPr>
            <a:spLocks noGrp="1"/>
          </p:cNvSpPr>
          <p:nvPr>
            <p:ph type="dt" sz="half" idx="12"/>
          </p:nvPr>
        </p:nvSpPr>
        <p:spPr/>
        <p:txBody>
          <a:bodyPr/>
          <a:lstStyle>
            <a:lvl2pPr lvl="1">
              <a:defRPr/>
            </a:lvl2pPr>
          </a:lstStyle>
          <a:p>
            <a:pPr lvl="1">
              <a:defRPr/>
            </a:pPr>
            <a:fld id="{C9A6BCDD-8F97-4C04-B212-18BD9055CD94}" type="datetime1">
              <a:rPr lang="en-US"/>
              <a:pPr lvl="1">
                <a:defRPr/>
              </a:pPr>
              <a:t>13/06/2023</a:t>
            </a:fld>
            <a:endParaRPr lang="en-GB"/>
          </a:p>
        </p:txBody>
      </p:sp>
    </p:spTree>
    <p:extLst>
      <p:ext uri="{BB962C8B-B14F-4D97-AF65-F5344CB8AC3E}">
        <p14:creationId xmlns:p14="http://schemas.microsoft.com/office/powerpoint/2010/main" val="32896370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JPD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D81F34AC-A938-4528-B003-A69BE8EA63A2}" type="datetime1">
              <a:rPr lang="en-US" smtClean="0"/>
              <a:pPr lvl="1"/>
              <a:t>13/06/2023</a:t>
            </a:fld>
            <a:endParaRPr lang="en-GB" dirty="0"/>
          </a:p>
        </p:txBody>
      </p:sp>
    </p:spTree>
    <p:extLst>
      <p:ext uri="{BB962C8B-B14F-4D97-AF65-F5344CB8AC3E}">
        <p14:creationId xmlns:p14="http://schemas.microsoft.com/office/powerpoint/2010/main" val="12364186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JPD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1185D965-C8FC-478E-9077-13DC8205920B}" type="datetime1">
              <a:rPr lang="en-US" smtClean="0"/>
              <a:pPr lvl="1"/>
              <a:t>13/06/2023</a:t>
            </a:fld>
            <a:endParaRPr lang="en-GB" dirty="0"/>
          </a:p>
        </p:txBody>
      </p:sp>
    </p:spTree>
    <p:extLst>
      <p:ext uri="{BB962C8B-B14F-4D97-AF65-F5344CB8AC3E}">
        <p14:creationId xmlns:p14="http://schemas.microsoft.com/office/powerpoint/2010/main" val="7961517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JPD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0286C8E-BE18-4982-86A0-B3A33D2B118C}" type="datetime1">
              <a:rPr lang="en-US" smtClean="0"/>
              <a:pPr lvl="1"/>
              <a:t>13/06/2023</a:t>
            </a:fld>
            <a:endParaRPr lang="en-GB" dirty="0"/>
          </a:p>
        </p:txBody>
      </p:sp>
    </p:spTree>
    <p:extLst>
      <p:ext uri="{BB962C8B-B14F-4D97-AF65-F5344CB8AC3E}">
        <p14:creationId xmlns:p14="http://schemas.microsoft.com/office/powerpoint/2010/main" val="3179460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JPD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6881A79-EF55-497D-AC03-117D107900E2}" type="datetime1">
              <a:rPr lang="en-US" smtClean="0"/>
              <a:pPr lvl="1"/>
              <a:t>13/06/2023</a:t>
            </a:fld>
            <a:endParaRPr lang="en-GB" dirty="0"/>
          </a:p>
        </p:txBody>
      </p:sp>
    </p:spTree>
    <p:extLst>
      <p:ext uri="{BB962C8B-B14F-4D97-AF65-F5344CB8AC3E}">
        <p14:creationId xmlns:p14="http://schemas.microsoft.com/office/powerpoint/2010/main" val="3619024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COPD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5D0505E-C2EA-42D6-B347-36370EA342F2}" type="datetime1">
              <a:rPr lang="en-US" smtClean="0"/>
              <a:pPr lvl="1"/>
              <a:t>13/06/2023</a:t>
            </a:fld>
            <a:endParaRPr lang="en-GB" dirty="0"/>
          </a:p>
        </p:txBody>
      </p:sp>
    </p:spTree>
    <p:extLst>
      <p:ext uri="{BB962C8B-B14F-4D97-AF65-F5344CB8AC3E}">
        <p14:creationId xmlns:p14="http://schemas.microsoft.com/office/powerpoint/2010/main" val="1715426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NCOPD_one_column">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4"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825ABB5-A713-4D94-8B33-D1B38B77C6A9}" type="datetime1">
              <a:rPr lang="en-US" smtClean="0"/>
              <a:pPr lvl="1"/>
              <a:t>13/06/2023</a:t>
            </a:fld>
            <a:endParaRPr lang="en-GB" dirty="0"/>
          </a:p>
        </p:txBody>
      </p:sp>
    </p:spTree>
    <p:extLst>
      <p:ext uri="{BB962C8B-B14F-4D97-AF65-F5344CB8AC3E}">
        <p14:creationId xmlns:p14="http://schemas.microsoft.com/office/powerpoint/2010/main" val="286892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COPD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0A03809-D4E2-4973-965E-C3A81E117E6A}" type="datetime1">
              <a:rPr lang="en-US" smtClean="0"/>
              <a:pPr lvl="1"/>
              <a:t>13/06/2023</a:t>
            </a:fld>
            <a:endParaRPr lang="en-GB" dirty="0"/>
          </a:p>
        </p:txBody>
      </p:sp>
    </p:spTree>
    <p:extLst>
      <p:ext uri="{BB962C8B-B14F-4D97-AF65-F5344CB8AC3E}">
        <p14:creationId xmlns:p14="http://schemas.microsoft.com/office/powerpoint/2010/main" val="150755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NCOPD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848A657-E094-4311-A476-F2EE69541FAA}" type="datetime1">
              <a:rPr lang="en-US" smtClean="0"/>
              <a:pPr lvl="1"/>
              <a:t>13/06/2023</a:t>
            </a:fld>
            <a:endParaRPr lang="en-GB" dirty="0"/>
          </a:p>
        </p:txBody>
      </p:sp>
    </p:spTree>
    <p:extLst>
      <p:ext uri="{BB962C8B-B14F-4D97-AF65-F5344CB8AC3E}">
        <p14:creationId xmlns:p14="http://schemas.microsoft.com/office/powerpoint/2010/main" val="8067104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T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7CBB17B-CDEF-4167-97B9-2FCD3F4DE7B6}" type="datetime1">
              <a:rPr lang="en-US" smtClean="0"/>
              <a:pPr lvl="1"/>
              <a:t>13/06/2023</a:t>
            </a:fld>
            <a:endParaRPr lang="en-GB" dirty="0"/>
          </a:p>
        </p:txBody>
      </p:sp>
    </p:spTree>
    <p:extLst>
      <p:ext uri="{BB962C8B-B14F-4D97-AF65-F5344CB8AC3E}">
        <p14:creationId xmlns:p14="http://schemas.microsoft.com/office/powerpoint/2010/main" val="28803704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ROT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0"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037C93C-F36E-4B09-B18C-1FA52A859257}" type="datetime1">
              <a:rPr lang="en-US" smtClean="0"/>
              <a:pPr lvl="1"/>
              <a:t>13/06/2023</a:t>
            </a:fld>
            <a:endParaRPr lang="en-GB" dirty="0"/>
          </a:p>
        </p:txBody>
      </p:sp>
    </p:spTree>
    <p:extLst>
      <p:ext uri="{BB962C8B-B14F-4D97-AF65-F5344CB8AC3E}">
        <p14:creationId xmlns:p14="http://schemas.microsoft.com/office/powerpoint/2010/main" val="5843362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T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D9B57F8-ABA0-4873-8EE9-F20310D32C81}" type="datetime1">
              <a:rPr lang="en-US" smtClean="0"/>
              <a:pPr lvl="1"/>
              <a:t>13/06/2023</a:t>
            </a:fld>
            <a:endParaRPr lang="en-GB" dirty="0"/>
          </a:p>
        </p:txBody>
      </p:sp>
    </p:spTree>
    <p:extLst>
      <p:ext uri="{BB962C8B-B14F-4D97-AF65-F5344CB8AC3E}">
        <p14:creationId xmlns:p14="http://schemas.microsoft.com/office/powerpoint/2010/main" val="27462983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ROT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B882F16-90C8-4E3A-89A3-B0EF61EB864D}" type="datetime1">
              <a:rPr lang="en-US" smtClean="0"/>
              <a:pPr lvl="1"/>
              <a:t>13/06/2023</a:t>
            </a:fld>
            <a:endParaRPr lang="en-GB" dirty="0"/>
          </a:p>
        </p:txBody>
      </p:sp>
    </p:spTree>
    <p:extLst>
      <p:ext uri="{BB962C8B-B14F-4D97-AF65-F5344CB8AC3E}">
        <p14:creationId xmlns:p14="http://schemas.microsoft.com/office/powerpoint/2010/main" val="41674154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S_Office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rgbClr val="003B5B"/>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rgbClr val="003B5B"/>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2E78049C-4D1A-4909-9A0B-79F2D875F6E7}" type="datetime1">
              <a:rPr lang="en-US" smtClean="0"/>
              <a:pPr lvl="1"/>
              <a:t>13/06/2023</a:t>
            </a:fld>
            <a:endParaRPr lang="en-GB" dirty="0"/>
          </a:p>
        </p:txBody>
      </p:sp>
    </p:spTree>
    <p:extLst>
      <p:ext uri="{BB962C8B-B14F-4D97-AF65-F5344CB8AC3E}">
        <p14:creationId xmlns:p14="http://schemas.microsoft.com/office/powerpoint/2010/main" val="30272821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S_Office_one_column">
    <p:spTree>
      <p:nvGrpSpPr>
        <p:cNvPr id="1" name=""/>
        <p:cNvGrpSpPr/>
        <p:nvPr/>
      </p:nvGrpSpPr>
      <p:grpSpPr>
        <a:xfrm>
          <a:off x="0" y="0"/>
          <a:ext cx="0" cy="0"/>
          <a:chOff x="0" y="0"/>
          <a:chExt cx="0" cy="0"/>
        </a:xfrm>
      </p:grpSpPr>
      <p:sp>
        <p:nvSpPr>
          <p:cNvPr id="8"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5"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56B48E2-0C9D-4389-9BDE-EBA68905878F}" type="datetime1">
              <a:rPr lang="en-US" smtClean="0"/>
              <a:pPr lvl="1"/>
              <a:t>13/06/2023</a:t>
            </a:fld>
            <a:endParaRPr lang="en-GB" dirty="0"/>
          </a:p>
        </p:txBody>
      </p:sp>
    </p:spTree>
    <p:extLst>
      <p:ext uri="{BB962C8B-B14F-4D97-AF65-F5344CB8AC3E}">
        <p14:creationId xmlns:p14="http://schemas.microsoft.com/office/powerpoint/2010/main" val="9669901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S_Office_two_column">
    <p:spTree>
      <p:nvGrpSpPr>
        <p:cNvPr id="1" name=""/>
        <p:cNvGrpSpPr/>
        <p:nvPr/>
      </p:nvGrpSpPr>
      <p:grpSpPr>
        <a:xfrm>
          <a:off x="0" y="0"/>
          <a:ext cx="0" cy="0"/>
          <a:chOff x="0" y="0"/>
          <a:chExt cx="0" cy="0"/>
        </a:xfrm>
      </p:grpSpPr>
      <p:sp>
        <p:nvSpPr>
          <p:cNvPr id="8"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5"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16F36A37-FCF0-45C9-9947-8AB2D63D6039}" type="datetime1">
              <a:rPr lang="en-US" smtClean="0"/>
              <a:pPr lvl="1"/>
              <a:t>13/06/2023</a:t>
            </a:fld>
            <a:endParaRPr lang="en-GB" dirty="0"/>
          </a:p>
        </p:txBody>
      </p:sp>
    </p:spTree>
    <p:extLst>
      <p:ext uri="{BB962C8B-B14F-4D97-AF65-F5344CB8AC3E}">
        <p14:creationId xmlns:p14="http://schemas.microsoft.com/office/powerpoint/2010/main" val="30257387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S_Office_separate_box">
    <p:spTree>
      <p:nvGrpSpPr>
        <p:cNvPr id="1" name=""/>
        <p:cNvGrpSpPr/>
        <p:nvPr/>
      </p:nvGrpSpPr>
      <p:grpSpPr>
        <a:xfrm>
          <a:off x="0" y="0"/>
          <a:ext cx="0" cy="0"/>
          <a:chOff x="0" y="0"/>
          <a:chExt cx="0" cy="0"/>
        </a:xfrm>
      </p:grpSpPr>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6"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1"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2"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3D1B82D-7DB0-40EA-8FFC-0ED407A63CC7}" type="datetime1">
              <a:rPr lang="en-US" smtClean="0"/>
              <a:pPr lvl="1"/>
              <a:t>13/06/2023</a:t>
            </a:fld>
            <a:endParaRPr lang="en-GB" dirty="0"/>
          </a:p>
        </p:txBody>
      </p:sp>
    </p:spTree>
    <p:extLst>
      <p:ext uri="{BB962C8B-B14F-4D97-AF65-F5344CB8AC3E}">
        <p14:creationId xmlns:p14="http://schemas.microsoft.com/office/powerpoint/2010/main" val="9641610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JOPS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10"/>
          </p:nvPr>
        </p:nvSpPr>
        <p:spPr/>
        <p:txBody>
          <a:bodyPr/>
          <a:lstStyle>
            <a:lvl1pPr>
              <a:defRPr/>
            </a:lvl1pPr>
          </a:lstStyle>
          <a:p>
            <a:pPr>
              <a:defRPr/>
            </a:pPr>
            <a:r>
              <a:rPr lang="en-GB">
                <a:solidFill>
                  <a:srgbClr val="1F497D"/>
                </a:solidFill>
              </a:rPr>
              <a:t>| Slide </a:t>
            </a:r>
            <a:fld id="{13D1C78F-2E4F-489B-BA81-3FF6F02ADDE2}" type="slidenum">
              <a:rPr lang="en-GB">
                <a:solidFill>
                  <a:srgbClr val="1F497D"/>
                </a:solidFill>
              </a:rPr>
              <a:pPr>
                <a:defRPr/>
              </a:pPr>
              <a:t>‹#›</a:t>
            </a:fld>
            <a:endParaRPr lang="en-GB">
              <a:solidFill>
                <a:srgbClr val="1F497D"/>
              </a:solidFill>
            </a:endParaRPr>
          </a:p>
        </p:txBody>
      </p:sp>
      <p:sp>
        <p:nvSpPr>
          <p:cNvPr id="7" name="Fußzeilenplatzhalter 7"/>
          <p:cNvSpPr>
            <a:spLocks noGrp="1"/>
          </p:cNvSpPr>
          <p:nvPr>
            <p:ph type="ftr" sz="quarter" idx="11"/>
          </p:nvPr>
        </p:nvSpPr>
        <p:spPr/>
        <p:txBody>
          <a:bodyPr/>
          <a:lstStyle>
            <a:lvl1pPr>
              <a:defRPr/>
            </a:lvl1pPr>
          </a:lstStyle>
          <a:p>
            <a:pPr>
              <a:defRPr/>
            </a:pPr>
            <a:endParaRPr lang="de-DE"/>
          </a:p>
        </p:txBody>
      </p:sp>
      <p:sp>
        <p:nvSpPr>
          <p:cNvPr id="8" name="Date Placeholder 3"/>
          <p:cNvSpPr>
            <a:spLocks noGrp="1"/>
          </p:cNvSpPr>
          <p:nvPr>
            <p:ph type="dt" sz="half" idx="12"/>
          </p:nvPr>
        </p:nvSpPr>
        <p:spPr/>
        <p:txBody>
          <a:bodyPr/>
          <a:lstStyle>
            <a:lvl2pPr lvl="1">
              <a:defRPr/>
            </a:lvl2pPr>
          </a:lstStyle>
          <a:p>
            <a:pPr lvl="1">
              <a:defRPr/>
            </a:pPr>
            <a:endParaRPr lang="en-GB">
              <a:solidFill>
                <a:srgbClr val="1F497D"/>
              </a:solidFill>
            </a:endParaRPr>
          </a:p>
        </p:txBody>
      </p:sp>
    </p:spTree>
    <p:extLst>
      <p:ext uri="{BB962C8B-B14F-4D97-AF65-F5344CB8AC3E}">
        <p14:creationId xmlns:p14="http://schemas.microsoft.com/office/powerpoint/2010/main" val="36431601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JOPS_one_column">
    <p:spTree>
      <p:nvGrpSpPr>
        <p:cNvPr id="1" name=""/>
        <p:cNvGrpSpPr/>
        <p:nvPr/>
      </p:nvGrpSpPr>
      <p:grpSpPr>
        <a:xfrm>
          <a:off x="0" y="0"/>
          <a:ext cx="0" cy="0"/>
          <a:chOff x="0" y="0"/>
          <a:chExt cx="0" cy="0"/>
        </a:xfrm>
      </p:grpSpPr>
      <p:sp>
        <p:nvSpPr>
          <p:cNvPr id="4" name="Rechteck 4"/>
          <p:cNvSpPr/>
          <p:nvPr/>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5" name="Bild 9" descr="NATO_Star.png"/>
          <p:cNvPicPr>
            <a:picLocks noChangeAspect="1"/>
          </p:cNvPicPr>
          <p:nvPr/>
        </p:nvPicPr>
        <p:blipFill>
          <a:blip r:embed="rId2">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hteck 6"/>
          <p:cNvSpPr/>
          <p:nvPr/>
        </p:nvSpPr>
        <p:spPr>
          <a:xfrm>
            <a:off x="0" y="0"/>
            <a:ext cx="236538" cy="236538"/>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1"/>
          <p:cNvSpPr>
            <a:spLocks noGrp="1"/>
          </p:cNvSpPr>
          <p:nvPr>
            <p:ph type="sldNum" sz="quarter" idx="10"/>
          </p:nvPr>
        </p:nvSpPr>
        <p:spPr/>
        <p:txBody>
          <a:bodyPr/>
          <a:lstStyle>
            <a:lvl1pPr algn="l">
              <a:defRPr sz="900">
                <a:solidFill>
                  <a:schemeClr val="tx2"/>
                </a:solidFill>
                <a:latin typeface="Arial" pitchFamily="34" charset="0"/>
                <a:cs typeface="Arial" pitchFamily="34" charset="0"/>
              </a:defRPr>
            </a:lvl1pPr>
          </a:lstStyle>
          <a:p>
            <a:pPr>
              <a:defRPr/>
            </a:pPr>
            <a:r>
              <a:rPr lang="en-GB">
                <a:solidFill>
                  <a:srgbClr val="1F497D"/>
                </a:solidFill>
              </a:rPr>
              <a:t>| Slide </a:t>
            </a:r>
            <a:fld id="{41B46149-8D22-444D-B2AF-07804201594A}" type="slidenum">
              <a:rPr lang="en-GB">
                <a:solidFill>
                  <a:srgbClr val="1F497D"/>
                </a:solidFill>
              </a:rPr>
              <a:pPr>
                <a:defRPr/>
              </a:pPr>
              <a:t>‹#›</a:t>
            </a:fld>
            <a:endParaRPr lang="en-GB">
              <a:solidFill>
                <a:srgbClr val="1F497D"/>
              </a:solidFill>
            </a:endParaRPr>
          </a:p>
        </p:txBody>
      </p:sp>
      <p:sp>
        <p:nvSpPr>
          <p:cNvPr id="8" name="Fußzeilenplatzhalter 7"/>
          <p:cNvSpPr>
            <a:spLocks noGrp="1"/>
          </p:cNvSpPr>
          <p:nvPr>
            <p:ph type="ftr" sz="quarter" idx="11"/>
          </p:nvPr>
        </p:nvSpPr>
        <p:spPr/>
        <p:txBody>
          <a:bodyPr/>
          <a:lstStyle>
            <a:lvl1pPr algn="ctr">
              <a:defRPr sz="1200">
                <a:solidFill>
                  <a:srgbClr val="033E5B"/>
                </a:solidFill>
                <a:latin typeface="Arial"/>
                <a:cs typeface="Arial"/>
              </a:defRPr>
            </a:lvl1pPr>
          </a:lstStyle>
          <a:p>
            <a:pPr>
              <a:defRPr/>
            </a:pPr>
            <a:endParaRPr lang="de-DE"/>
          </a:p>
        </p:txBody>
      </p:sp>
      <p:sp>
        <p:nvSpPr>
          <p:cNvPr id="9" name="Date Placeholder 3"/>
          <p:cNvSpPr>
            <a:spLocks noGrp="1"/>
          </p:cNvSpPr>
          <p:nvPr>
            <p:ph type="dt" sz="half" idx="12"/>
          </p:nvPr>
        </p:nvSpPr>
        <p:spPr/>
        <p:txBody>
          <a:bodyPr/>
          <a:lstStyle>
            <a:lvl2pPr lvl="1">
              <a:defRPr/>
            </a:lvl2pPr>
          </a:lstStyle>
          <a:p>
            <a:pPr lvl="1">
              <a:defRPr/>
            </a:pPr>
            <a:endParaRPr lang="en-GB">
              <a:solidFill>
                <a:srgbClr val="1F497D"/>
              </a:solidFill>
            </a:endParaRPr>
          </a:p>
        </p:txBody>
      </p:sp>
    </p:spTree>
    <p:extLst>
      <p:ext uri="{BB962C8B-B14F-4D97-AF65-F5344CB8AC3E}">
        <p14:creationId xmlns:p14="http://schemas.microsoft.com/office/powerpoint/2010/main" val="30890554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JOPS_two_column">
    <p:spTree>
      <p:nvGrpSpPr>
        <p:cNvPr id="1" name=""/>
        <p:cNvGrpSpPr/>
        <p:nvPr/>
      </p:nvGrpSpPr>
      <p:grpSpPr>
        <a:xfrm>
          <a:off x="0" y="0"/>
          <a:ext cx="0" cy="0"/>
          <a:chOff x="0" y="0"/>
          <a:chExt cx="0" cy="0"/>
        </a:xfrm>
      </p:grpSpPr>
      <p:sp>
        <p:nvSpPr>
          <p:cNvPr id="4" name="Rechteck 4"/>
          <p:cNvSpPr/>
          <p:nvPr/>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5" name="Bild 9" descr="NATO_Star.png"/>
          <p:cNvPicPr>
            <a:picLocks noChangeAspect="1"/>
          </p:cNvPicPr>
          <p:nvPr/>
        </p:nvPicPr>
        <p:blipFill>
          <a:blip r:embed="rId2">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hteck 6"/>
          <p:cNvSpPr/>
          <p:nvPr/>
        </p:nvSpPr>
        <p:spPr>
          <a:xfrm>
            <a:off x="0" y="0"/>
            <a:ext cx="236538" cy="236538"/>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7" name="Slide Number Placeholder 1"/>
          <p:cNvSpPr>
            <a:spLocks noGrp="1"/>
          </p:cNvSpPr>
          <p:nvPr>
            <p:ph type="sldNum" sz="quarter" idx="10"/>
          </p:nvPr>
        </p:nvSpPr>
        <p:spPr/>
        <p:txBody>
          <a:bodyPr/>
          <a:lstStyle>
            <a:lvl1pPr algn="l">
              <a:defRPr sz="900">
                <a:solidFill>
                  <a:schemeClr val="tx2"/>
                </a:solidFill>
                <a:latin typeface="Arial" pitchFamily="34" charset="0"/>
                <a:cs typeface="Arial" pitchFamily="34" charset="0"/>
              </a:defRPr>
            </a:lvl1pPr>
          </a:lstStyle>
          <a:p>
            <a:pPr>
              <a:defRPr/>
            </a:pPr>
            <a:r>
              <a:rPr lang="en-GB">
                <a:solidFill>
                  <a:srgbClr val="1F497D"/>
                </a:solidFill>
              </a:rPr>
              <a:t>| Slide </a:t>
            </a:r>
            <a:fld id="{7D8D2C75-A9D4-48EC-A987-6B2D67C6DED8}" type="slidenum">
              <a:rPr lang="en-GB">
                <a:solidFill>
                  <a:srgbClr val="1F497D"/>
                </a:solidFill>
              </a:rPr>
              <a:pPr>
                <a:defRPr/>
              </a:pPr>
              <a:t>‹#›</a:t>
            </a:fld>
            <a:endParaRPr lang="en-GB">
              <a:solidFill>
                <a:srgbClr val="1F497D"/>
              </a:solidFill>
            </a:endParaRPr>
          </a:p>
        </p:txBody>
      </p:sp>
      <p:sp>
        <p:nvSpPr>
          <p:cNvPr id="8" name="Fußzeilenplatzhalter 7"/>
          <p:cNvSpPr>
            <a:spLocks noGrp="1"/>
          </p:cNvSpPr>
          <p:nvPr>
            <p:ph type="ftr" sz="quarter" idx="11"/>
          </p:nvPr>
        </p:nvSpPr>
        <p:spPr/>
        <p:txBody>
          <a:bodyPr/>
          <a:lstStyle>
            <a:lvl1pPr algn="ctr">
              <a:defRPr sz="1200">
                <a:solidFill>
                  <a:srgbClr val="033E5B"/>
                </a:solidFill>
                <a:latin typeface="Arial"/>
                <a:cs typeface="Arial"/>
              </a:defRPr>
            </a:lvl1pPr>
          </a:lstStyle>
          <a:p>
            <a:pPr>
              <a:defRPr/>
            </a:pPr>
            <a:endParaRPr lang="de-DE"/>
          </a:p>
        </p:txBody>
      </p:sp>
      <p:sp>
        <p:nvSpPr>
          <p:cNvPr id="9" name="Date Placeholder 3"/>
          <p:cNvSpPr>
            <a:spLocks noGrp="1"/>
          </p:cNvSpPr>
          <p:nvPr>
            <p:ph type="dt" sz="half" idx="12"/>
          </p:nvPr>
        </p:nvSpPr>
        <p:spPr/>
        <p:txBody>
          <a:bodyPr/>
          <a:lstStyle>
            <a:lvl2pPr lvl="1">
              <a:defRPr/>
            </a:lvl2pPr>
          </a:lstStyle>
          <a:p>
            <a:pPr lvl="1">
              <a:defRPr/>
            </a:pPr>
            <a:endParaRPr lang="en-GB">
              <a:solidFill>
                <a:srgbClr val="1F497D"/>
              </a:solidFill>
            </a:endParaRPr>
          </a:p>
        </p:txBody>
      </p:sp>
    </p:spTree>
    <p:extLst>
      <p:ext uri="{BB962C8B-B14F-4D97-AF65-F5344CB8AC3E}">
        <p14:creationId xmlns:p14="http://schemas.microsoft.com/office/powerpoint/2010/main" val="40005484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JOPS_separate_box">
    <p:spTree>
      <p:nvGrpSpPr>
        <p:cNvPr id="1" name=""/>
        <p:cNvGrpSpPr/>
        <p:nvPr/>
      </p:nvGrpSpPr>
      <p:grpSpPr>
        <a:xfrm>
          <a:off x="0" y="0"/>
          <a:ext cx="0" cy="0"/>
          <a:chOff x="0" y="0"/>
          <a:chExt cx="0" cy="0"/>
        </a:xfrm>
      </p:grpSpPr>
      <p:sp>
        <p:nvSpPr>
          <p:cNvPr id="5" name="Rechteck 4"/>
          <p:cNvSpPr/>
          <p:nvPr/>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6" name="Bild 9" descr="NATO_Star.png"/>
          <p:cNvPicPr>
            <a:picLocks noChangeAspect="1"/>
          </p:cNvPicPr>
          <p:nvPr/>
        </p:nvPicPr>
        <p:blipFill>
          <a:blip r:embed="rId2">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hteck 6"/>
          <p:cNvSpPr/>
          <p:nvPr/>
        </p:nvSpPr>
        <p:spPr>
          <a:xfrm>
            <a:off x="0" y="0"/>
            <a:ext cx="236538" cy="236538"/>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8" name="Slide Number Placeholder 1"/>
          <p:cNvSpPr>
            <a:spLocks noGrp="1"/>
          </p:cNvSpPr>
          <p:nvPr>
            <p:ph type="sldNum" sz="quarter" idx="11"/>
          </p:nvPr>
        </p:nvSpPr>
        <p:spPr/>
        <p:txBody>
          <a:bodyPr/>
          <a:lstStyle>
            <a:lvl1pPr algn="l">
              <a:defRPr sz="900">
                <a:solidFill>
                  <a:schemeClr val="tx2"/>
                </a:solidFill>
                <a:latin typeface="Arial" pitchFamily="34" charset="0"/>
                <a:cs typeface="Arial" pitchFamily="34" charset="0"/>
              </a:defRPr>
            </a:lvl1pPr>
          </a:lstStyle>
          <a:p>
            <a:pPr>
              <a:defRPr/>
            </a:pPr>
            <a:r>
              <a:rPr lang="en-GB">
                <a:solidFill>
                  <a:srgbClr val="1F497D"/>
                </a:solidFill>
              </a:rPr>
              <a:t>| Slide </a:t>
            </a:r>
            <a:fld id="{AA5551A8-77B8-4B4E-B1F1-34F4DD34693B}" type="slidenum">
              <a:rPr lang="en-GB">
                <a:solidFill>
                  <a:srgbClr val="1F497D"/>
                </a:solidFill>
              </a:rPr>
              <a:pPr>
                <a:defRPr/>
              </a:pPr>
              <a:t>‹#›</a:t>
            </a:fld>
            <a:endParaRPr lang="en-GB">
              <a:solidFill>
                <a:srgbClr val="1F497D"/>
              </a:solidFill>
            </a:endParaRPr>
          </a:p>
        </p:txBody>
      </p:sp>
      <p:sp>
        <p:nvSpPr>
          <p:cNvPr id="9" name="Fußzeilenplatzhalter 7"/>
          <p:cNvSpPr>
            <a:spLocks noGrp="1"/>
          </p:cNvSpPr>
          <p:nvPr>
            <p:ph type="ftr" sz="quarter" idx="12"/>
          </p:nvPr>
        </p:nvSpPr>
        <p:spPr/>
        <p:txBody>
          <a:bodyPr/>
          <a:lstStyle>
            <a:lvl1pPr algn="ctr">
              <a:defRPr sz="1200">
                <a:solidFill>
                  <a:srgbClr val="033E5B"/>
                </a:solidFill>
                <a:latin typeface="Arial"/>
                <a:cs typeface="Arial"/>
              </a:defRPr>
            </a:lvl1pPr>
          </a:lstStyle>
          <a:p>
            <a:pPr>
              <a:defRPr/>
            </a:pPr>
            <a:endParaRPr lang="de-DE"/>
          </a:p>
        </p:txBody>
      </p:sp>
      <p:sp>
        <p:nvSpPr>
          <p:cNvPr id="10" name="Date Placeholder 3"/>
          <p:cNvSpPr>
            <a:spLocks noGrp="1"/>
          </p:cNvSpPr>
          <p:nvPr>
            <p:ph type="dt" sz="half" idx="13"/>
          </p:nvPr>
        </p:nvSpPr>
        <p:spPr/>
        <p:txBody>
          <a:bodyPr/>
          <a:lstStyle>
            <a:lvl2pPr lvl="1">
              <a:defRPr/>
            </a:lvl2pPr>
          </a:lstStyle>
          <a:p>
            <a:pPr lvl="1">
              <a:defRPr/>
            </a:pPr>
            <a:endParaRPr lang="en-GB">
              <a:solidFill>
                <a:srgbClr val="1F497D"/>
              </a:solidFill>
            </a:endParaRPr>
          </a:p>
        </p:txBody>
      </p:sp>
    </p:spTree>
    <p:extLst>
      <p:ext uri="{BB962C8B-B14F-4D97-AF65-F5344CB8AC3E}">
        <p14:creationId xmlns:p14="http://schemas.microsoft.com/office/powerpoint/2010/main" val="28442359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JPOD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D81F34AC-A938-4528-B003-A69BE8EA63A2}" type="datetime1">
              <a:rPr lang="en-US" smtClean="0">
                <a:solidFill>
                  <a:srgbClr val="1F497D"/>
                </a:solidFill>
              </a:rPr>
              <a:pPr lvl="1"/>
              <a:t>13/06/2023</a:t>
            </a:fld>
            <a:endParaRPr lang="en-GB" dirty="0">
              <a:solidFill>
                <a:srgbClr val="1F497D"/>
              </a:solidFill>
            </a:endParaRPr>
          </a:p>
        </p:txBody>
      </p:sp>
    </p:spTree>
    <p:extLst>
      <p:ext uri="{BB962C8B-B14F-4D97-AF65-F5344CB8AC3E}">
        <p14:creationId xmlns:p14="http://schemas.microsoft.com/office/powerpoint/2010/main" val="612697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JPOD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1185D965-C8FC-478E-9077-13DC8205920B}" type="datetime1">
              <a:rPr lang="en-US" smtClean="0">
                <a:solidFill>
                  <a:srgbClr val="1F497D"/>
                </a:solidFill>
              </a:rPr>
              <a:pPr lvl="1"/>
              <a:t>13/06/2023</a:t>
            </a:fld>
            <a:endParaRPr lang="en-GB" dirty="0">
              <a:solidFill>
                <a:srgbClr val="1F497D"/>
              </a:solidFill>
            </a:endParaRPr>
          </a:p>
        </p:txBody>
      </p:sp>
    </p:spTree>
    <p:extLst>
      <p:ext uri="{BB962C8B-B14F-4D97-AF65-F5344CB8AC3E}">
        <p14:creationId xmlns:p14="http://schemas.microsoft.com/office/powerpoint/2010/main" val="26063736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JPOD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0286C8E-BE18-4982-86A0-B3A33D2B118C}" type="datetime1">
              <a:rPr lang="en-US" smtClean="0">
                <a:solidFill>
                  <a:srgbClr val="1F497D"/>
                </a:solidFill>
              </a:rPr>
              <a:pPr lvl="1"/>
              <a:t>13/06/2023</a:t>
            </a:fld>
            <a:endParaRPr lang="en-GB" dirty="0">
              <a:solidFill>
                <a:srgbClr val="1F497D"/>
              </a:solidFill>
            </a:endParaRPr>
          </a:p>
        </p:txBody>
      </p:sp>
    </p:spTree>
    <p:extLst>
      <p:ext uri="{BB962C8B-B14F-4D97-AF65-F5344CB8AC3E}">
        <p14:creationId xmlns:p14="http://schemas.microsoft.com/office/powerpoint/2010/main" val="28784125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JPOD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6881A79-EF55-497D-AC03-117D107900E2}" type="datetime1">
              <a:rPr lang="en-US" smtClean="0">
                <a:solidFill>
                  <a:srgbClr val="1F497D"/>
                </a:solidFill>
              </a:rPr>
              <a:pPr lvl="1"/>
              <a:t>13/06/2023</a:t>
            </a:fld>
            <a:endParaRPr lang="en-GB" dirty="0">
              <a:solidFill>
                <a:srgbClr val="1F497D"/>
              </a:solidFill>
            </a:endParaRPr>
          </a:p>
        </p:txBody>
      </p:sp>
    </p:spTree>
    <p:extLst>
      <p:ext uri="{BB962C8B-B14F-4D97-AF65-F5344CB8AC3E}">
        <p14:creationId xmlns:p14="http://schemas.microsoft.com/office/powerpoint/2010/main" val="3246093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NSO_section_header">
    <p:spTree>
      <p:nvGrpSpPr>
        <p:cNvPr id="1" name=""/>
        <p:cNvGrpSpPr/>
        <p:nvPr/>
      </p:nvGrpSpPr>
      <p:grpSpPr>
        <a:xfrm>
          <a:off x="0" y="0"/>
          <a:ext cx="0" cy="0"/>
          <a:chOff x="0" y="0"/>
          <a:chExt cx="0" cy="0"/>
        </a:xfrm>
      </p:grpSpPr>
      <p:sp>
        <p:nvSpPr>
          <p:cNvPr id="10"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a:t>Click to edit Master title style</a:t>
            </a:r>
            <a:endParaRPr lang="en-GB" dirty="0"/>
          </a:p>
        </p:txBody>
      </p:sp>
      <p:sp>
        <p:nvSpPr>
          <p:cNvPr id="11"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Fußzeilenplatzhalter 7"/>
          <p:cNvSpPr>
            <a:spLocks noGrp="1"/>
          </p:cNvSpPr>
          <p:nvPr>
            <p:ph type="ftr" sz="quarter" idx="3"/>
          </p:nvPr>
        </p:nvSpPr>
        <p:spPr>
          <a:xfrm>
            <a:off x="2895467" y="622868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4"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12DD5D6-4D5B-45BC-BA4C-0FA4CAAF3394}" type="datetime1">
              <a:rPr lang="en-US" smtClean="0">
                <a:solidFill>
                  <a:srgbClr val="1F497D"/>
                </a:solidFill>
              </a:rPr>
              <a:pPr lvl="1"/>
              <a:t>13/06/2023</a:t>
            </a:fld>
            <a:endParaRPr lang="en-GB" dirty="0">
              <a:solidFill>
                <a:srgbClr val="1F497D"/>
              </a:solidFill>
            </a:endParaRPr>
          </a:p>
        </p:txBody>
      </p:sp>
    </p:spTree>
    <p:extLst>
      <p:ext uri="{BB962C8B-B14F-4D97-AF65-F5344CB8AC3E}">
        <p14:creationId xmlns:p14="http://schemas.microsoft.com/office/powerpoint/2010/main" val="20460882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NSO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Fußzeilenplatzhalter 7"/>
          <p:cNvSpPr>
            <a:spLocks noGrp="1"/>
          </p:cNvSpPr>
          <p:nvPr>
            <p:ph type="ftr" sz="quarter" idx="3"/>
          </p:nvPr>
        </p:nvSpPr>
        <p:spPr>
          <a:xfrm>
            <a:off x="2895467" y="623503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AA8F6DC-237A-4057-8953-446ECCB83F9A}" type="datetime1">
              <a:rPr lang="en-US" smtClean="0">
                <a:solidFill>
                  <a:srgbClr val="1F497D"/>
                </a:solidFill>
              </a:rPr>
              <a:pPr lvl="1"/>
              <a:t>13/06/2023</a:t>
            </a:fld>
            <a:endParaRPr lang="en-GB" dirty="0">
              <a:solidFill>
                <a:srgbClr val="1F497D"/>
              </a:solidFill>
            </a:endParaRPr>
          </a:p>
        </p:txBody>
      </p:sp>
    </p:spTree>
    <p:extLst>
      <p:ext uri="{BB962C8B-B14F-4D97-AF65-F5344CB8AC3E}">
        <p14:creationId xmlns:p14="http://schemas.microsoft.com/office/powerpoint/2010/main" val="18299102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9.xml"/><Relationship Id="rId7" Type="http://schemas.openxmlformats.org/officeDocument/2006/relationships/image" Target="../media/image5.gif"/><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theme" Target="../theme/theme3.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3.xml"/><Relationship Id="rId7" Type="http://schemas.openxmlformats.org/officeDocument/2006/relationships/image" Target="../media/image6.gif"/><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theme" Target="../theme/theme4.xml"/><Relationship Id="rId4"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2.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3.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7.gif"/></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8.xml"/><Relationship Id="rId7" Type="http://schemas.openxmlformats.org/officeDocument/2006/relationships/image" Target="../media/image8.gif"/><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image" Target="../media/image2.png"/><Relationship Id="rId5" Type="http://schemas.openxmlformats.org/officeDocument/2006/relationships/theme" Target="../theme/theme6.xml"/><Relationship Id="rId4"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2.xml"/><Relationship Id="rId7" Type="http://schemas.openxmlformats.org/officeDocument/2006/relationships/image" Target="../media/image9.gif"/><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2.png"/><Relationship Id="rId5" Type="http://schemas.openxmlformats.org/officeDocument/2006/relationships/theme" Target="../theme/theme7.xml"/><Relationship Id="rId4" Type="http://schemas.openxmlformats.org/officeDocument/2006/relationships/slideLayout" Target="../slideLayouts/slideLayout33.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6.xml"/><Relationship Id="rId7" Type="http://schemas.openxmlformats.org/officeDocument/2006/relationships/image" Target="../media/image10.gif"/><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image" Target="../media/image2.png"/><Relationship Id="rId5" Type="http://schemas.openxmlformats.org/officeDocument/2006/relationships/theme" Target="../theme/theme8.xml"/><Relationship Id="rId4" Type="http://schemas.openxmlformats.org/officeDocument/2006/relationships/slideLayout" Target="../slideLayouts/slideLayout37.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image" Target="../media/image2.png"/><Relationship Id="rId5" Type="http://schemas.openxmlformats.org/officeDocument/2006/relationships/theme" Target="../theme/theme9.xml"/><Relationship Id="rId4" Type="http://schemas.openxmlformats.org/officeDocument/2006/relationships/slideLayout" Target="../slideLayouts/slideLayout41.xml"/></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4.xml"/><Relationship Id="rId7" Type="http://schemas.openxmlformats.org/officeDocument/2006/relationships/image" Target="../media/image11.png"/><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image" Target="../media/image2.png"/><Relationship Id="rId5" Type="http://schemas.openxmlformats.org/officeDocument/2006/relationships/theme" Target="../theme/theme10.xml"/><Relationship Id="rId4" Type="http://schemas.openxmlformats.org/officeDocument/2006/relationships/slideLayout" Target="../slideLayouts/slideLayout45.xml"/></Relationships>
</file>

<file path=ppt/slideMasters/_rels/slideMaster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48.xml"/><Relationship Id="rId7" Type="http://schemas.openxmlformats.org/officeDocument/2006/relationships/theme" Target="../theme/theme11.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5" Type="http://schemas.openxmlformats.org/officeDocument/2006/relationships/slideLayout" Target="../slideLayouts/slideLayout50.xml"/><Relationship Id="rId10" Type="http://schemas.openxmlformats.org/officeDocument/2006/relationships/image" Target="../media/image12.png"/><Relationship Id="rId4" Type="http://schemas.openxmlformats.org/officeDocument/2006/relationships/slideLayout" Target="../slideLayouts/slideLayout49.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6" descr="Logo_NATO_School_Logo_RGB.jpg"/>
          <p:cNvPicPr>
            <a:picLocks noChangeAspect="1"/>
          </p:cNvPicPr>
          <p:nvPr/>
        </p:nvPicPr>
        <p:blipFill>
          <a:blip r:embed="rId3"/>
          <a:stretch>
            <a:fillRect/>
          </a:stretch>
        </p:blipFill>
        <p:spPr>
          <a:xfrm>
            <a:off x="1578713" y="2819671"/>
            <a:ext cx="6132628" cy="1462888"/>
          </a:xfrm>
          <a:prstGeom prst="rect">
            <a:avLst/>
          </a:prstGeom>
        </p:spPr>
      </p:pic>
    </p:spTree>
    <p:extLst>
      <p:ext uri="{BB962C8B-B14F-4D97-AF65-F5344CB8AC3E}">
        <p14:creationId xmlns:p14="http://schemas.microsoft.com/office/powerpoint/2010/main" val="4213202153"/>
      </p:ext>
    </p:extLst>
  </p:cSld>
  <p:clrMap bg1="lt1" tx1="dk1" bg2="lt2" tx2="dk2" accent1="accent1" accent2="accent2" accent3="accent3" accent4="accent4" accent5="accent5" accent6="accent6" hlink="hlink" folHlink="folHlink"/>
  <p:sldLayoutIdLst>
    <p:sldLayoutId id="2147483745"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7" name="Bild 11" descr="Logo.png"/>
          <p:cNvPicPr>
            <a:picLocks noChangeAspect="1"/>
          </p:cNvPicPr>
          <p:nvPr/>
        </p:nvPicPr>
        <p:blipFill>
          <a:blip r:embed="rId7"/>
          <a:stretch>
            <a:fillRect/>
          </a:stretch>
        </p:blipFill>
        <p:spPr>
          <a:xfrm>
            <a:off x="7586961" y="6382657"/>
            <a:ext cx="1256817" cy="275186"/>
          </a:xfrm>
          <a:prstGeom prst="rect">
            <a:avLst/>
          </a:prstGeom>
        </p:spPr>
      </p:pic>
      <p:sp>
        <p:nvSpPr>
          <p:cNvPr id="8" name="Rechteck 15"/>
          <p:cNvSpPr/>
          <p:nvPr/>
        </p:nvSpPr>
        <p:spPr>
          <a:xfrm>
            <a:off x="-1" y="0"/>
            <a:ext cx="9144000" cy="6858000"/>
          </a:xfrm>
          <a:prstGeom prst="rect">
            <a:avLst/>
          </a:prstGeom>
          <a:solidFill>
            <a:srgbClr val="003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16" descr="NATO_Star.png"/>
          <p:cNvPicPr>
            <a:picLocks noChangeAspect="1"/>
          </p:cNvPicPr>
          <p:nvPr/>
        </p:nvPicPr>
        <p:blipFill>
          <a:blip r:embed="rId8">
            <a:alphaModFix amt="20000"/>
          </a:blip>
          <a:srcRect t="14047" r="35991"/>
          <a:stretch>
            <a:fillRect/>
          </a:stretch>
        </p:blipFill>
        <p:spPr>
          <a:xfrm>
            <a:off x="3301735" y="9152"/>
            <a:ext cx="5853069" cy="5672506"/>
          </a:xfrm>
          <a:prstGeom prst="rect">
            <a:avLst/>
          </a:prstGeom>
        </p:spPr>
      </p:pic>
      <p:sp>
        <p:nvSpPr>
          <p:cNvPr id="10" name="Rechteck 17"/>
          <p:cNvSpPr/>
          <p:nvPr/>
        </p:nvSpPr>
        <p:spPr>
          <a:xfrm>
            <a:off x="10804"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4"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BB2860-EF96-4CDF-BD58-09AA1E5EAA08}" type="datetime1">
              <a:rPr lang="en-US" smtClean="0"/>
              <a:pPr lvl="1"/>
              <a:t>13/06/2023</a:t>
            </a:fld>
            <a:endParaRPr lang="en-GB" dirty="0"/>
          </a:p>
        </p:txBody>
      </p:sp>
      <p:sp>
        <p:nvSpPr>
          <p:cNvPr id="3" name="Footer Placeholder 2">
            <a:extLst>
              <a:ext uri="{FF2B5EF4-FFF2-40B4-BE49-F238E27FC236}">
                <a16:creationId xmlns="" xmlns:a16="http://schemas.microsoft.com/office/drawing/2014/main" id="{D105DC8B-1008-484E-ADD5-61E21FACD78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Tree>
    <p:extLst>
      <p:ext uri="{BB962C8B-B14F-4D97-AF65-F5344CB8AC3E}">
        <p14:creationId xmlns:p14="http://schemas.microsoft.com/office/powerpoint/2010/main" val="4074323189"/>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842" r:id="rId5"/>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0"/>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11" descr="Logo.png"/>
          <p:cNvPicPr>
            <a:picLocks noChangeAspect="1"/>
          </p:cNvPicPr>
          <p:nvPr/>
        </p:nvPicPr>
        <p:blipFill>
          <a:blip r:embed="rId6"/>
          <a:stretch>
            <a:fillRect/>
          </a:stretch>
        </p:blipFill>
        <p:spPr>
          <a:xfrm>
            <a:off x="7586961" y="6382657"/>
            <a:ext cx="1256817" cy="275186"/>
          </a:xfrm>
          <a:prstGeom prst="rect">
            <a:avLst/>
          </a:prstGeom>
        </p:spPr>
      </p:pic>
      <p:sp>
        <p:nvSpPr>
          <p:cNvPr id="9" name="Rechteck 15"/>
          <p:cNvSpPr/>
          <p:nvPr/>
        </p:nvSpPr>
        <p:spPr>
          <a:xfrm>
            <a:off x="0" y="0"/>
            <a:ext cx="9144000" cy="6858000"/>
          </a:xfrm>
          <a:prstGeom prst="rect">
            <a:avLst/>
          </a:prstGeom>
          <a:solidFill>
            <a:srgbClr val="B43C19">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Rechteck 17"/>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8" descr="Logo.png"/>
          <p:cNvPicPr>
            <a:picLocks noChangeAspect="1"/>
          </p:cNvPicPr>
          <p:nvPr/>
        </p:nvPicPr>
        <p:blipFill>
          <a:blip r:embed="rId6"/>
          <a:stretch>
            <a:fillRect/>
          </a:stretch>
        </p:blipFill>
        <p:spPr>
          <a:xfrm>
            <a:off x="7586961" y="6395415"/>
            <a:ext cx="1256817" cy="275186"/>
          </a:xfrm>
          <a:prstGeom prst="rect">
            <a:avLst/>
          </a:prstGeom>
        </p:spPr>
      </p:pic>
      <p:pic>
        <p:nvPicPr>
          <p:cNvPr id="12" name="Bild 7" descr="INTEL_icon.gif"/>
          <p:cNvPicPr>
            <a:picLocks noChangeAspect="1"/>
          </p:cNvPicPr>
          <p:nvPr/>
        </p:nvPicPr>
        <p:blipFill>
          <a:blip r:embed="rId7"/>
          <a:stretch>
            <a:fillRect/>
          </a:stretch>
        </p:blipFill>
        <p:spPr>
          <a:xfrm>
            <a:off x="0" y="0"/>
            <a:ext cx="741459" cy="701016"/>
          </a:xfrm>
          <a:prstGeom prst="rect">
            <a:avLst/>
          </a:prstGeom>
        </p:spPr>
      </p:pic>
      <p:pic>
        <p:nvPicPr>
          <p:cNvPr id="13" name="Bild 8"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1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20"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21"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4B823F6-0441-4E7B-9B4C-A1EEE067147A}" type="datetime1">
              <a:rPr lang="en-US" smtClean="0"/>
              <a:pPr lvl="1"/>
              <a:t>13/06/2023</a:t>
            </a:fld>
            <a:endParaRPr lang="en-GB" dirty="0"/>
          </a:p>
        </p:txBody>
      </p:sp>
    </p:spTree>
    <p:extLst>
      <p:ext uri="{BB962C8B-B14F-4D97-AF65-F5344CB8AC3E}">
        <p14:creationId xmlns:p14="http://schemas.microsoft.com/office/powerpoint/2010/main" val="138653657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9152"/>
            <a:ext cx="9144000" cy="6858000"/>
          </a:xfrm>
          <a:prstGeom prst="rect">
            <a:avLst/>
          </a:prstGeom>
          <a:solidFill>
            <a:srgbClr val="0C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10804" y="6178894"/>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6"/>
          <a:stretch>
            <a:fillRect/>
          </a:stretch>
        </p:blipFill>
        <p:spPr>
          <a:xfrm>
            <a:off x="7586961" y="6382657"/>
            <a:ext cx="1256817" cy="275186"/>
          </a:xfrm>
          <a:prstGeom prst="rect">
            <a:avLst/>
          </a:prstGeom>
        </p:spPr>
      </p:pic>
      <p:pic>
        <p:nvPicPr>
          <p:cNvPr id="11" name="Bild 12" descr="COSEC_icon.gif"/>
          <p:cNvPicPr>
            <a:picLocks noChangeAspect="1"/>
          </p:cNvPicPr>
          <p:nvPr/>
        </p:nvPicPr>
        <p:blipFill>
          <a:blip r:embed="rId7"/>
          <a:stretch>
            <a:fillRect/>
          </a:stretch>
        </p:blipFill>
        <p:spPr>
          <a:xfrm>
            <a:off x="0" y="0"/>
            <a:ext cx="741459" cy="701016"/>
          </a:xfrm>
          <a:prstGeom prst="rect">
            <a:avLst/>
          </a:prstGeom>
        </p:spPr>
      </p:pic>
      <p:pic>
        <p:nvPicPr>
          <p:cNvPr id="12" name="Bild 13"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2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2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2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0761BA9-D523-4F2C-A54B-550E0BB6EC21}" type="datetime1">
              <a:rPr lang="en-US" smtClean="0"/>
              <a:pPr lvl="1"/>
              <a:t>13/06/2023</a:t>
            </a:fld>
            <a:endParaRPr lang="en-GB" dirty="0"/>
          </a:p>
        </p:txBody>
      </p:sp>
    </p:spTree>
    <p:extLst>
      <p:ext uri="{BB962C8B-B14F-4D97-AF65-F5344CB8AC3E}">
        <p14:creationId xmlns:p14="http://schemas.microsoft.com/office/powerpoint/2010/main" val="64963570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71"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BC8627">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13"/>
          <a:stretch>
            <a:fillRect/>
          </a:stretch>
        </p:blipFill>
        <p:spPr>
          <a:xfrm>
            <a:off x="7586961" y="6382657"/>
            <a:ext cx="1256817" cy="275186"/>
          </a:xfrm>
          <a:prstGeom prst="rect">
            <a:avLst/>
          </a:prstGeom>
        </p:spPr>
      </p:pic>
      <p:sp>
        <p:nvSpPr>
          <p:cNvPr id="10"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0" descr="Logo.png"/>
          <p:cNvPicPr>
            <a:picLocks noChangeAspect="1"/>
          </p:cNvPicPr>
          <p:nvPr/>
        </p:nvPicPr>
        <p:blipFill>
          <a:blip r:embed="rId13"/>
          <a:stretch>
            <a:fillRect/>
          </a:stretch>
        </p:blipFill>
        <p:spPr>
          <a:xfrm>
            <a:off x="7586961" y="6395415"/>
            <a:ext cx="1256817" cy="275186"/>
          </a:xfrm>
          <a:prstGeom prst="rect">
            <a:avLst/>
          </a:prstGeom>
        </p:spPr>
      </p:pic>
      <p:pic>
        <p:nvPicPr>
          <p:cNvPr id="12" name="Bild 13" descr="JOPS_icon.gif"/>
          <p:cNvPicPr>
            <a:picLocks noChangeAspect="1"/>
          </p:cNvPicPr>
          <p:nvPr/>
        </p:nvPicPr>
        <p:blipFill>
          <a:blip r:embed="rId14"/>
          <a:stretch>
            <a:fillRect/>
          </a:stretch>
        </p:blipFill>
        <p:spPr>
          <a:xfrm>
            <a:off x="0" y="0"/>
            <a:ext cx="741459" cy="701016"/>
          </a:xfrm>
          <a:prstGeom prst="rect">
            <a:avLst/>
          </a:prstGeom>
        </p:spPr>
      </p:pic>
      <p:pic>
        <p:nvPicPr>
          <p:cNvPr id="13" name="Bild 12" descr="NATO_Star.png"/>
          <p:cNvPicPr>
            <a:picLocks noChangeAspect="1"/>
          </p:cNvPicPr>
          <p:nvPr/>
        </p:nvPicPr>
        <p:blipFill>
          <a:blip r:embed="rId15">
            <a:alphaModFix amt="40000"/>
          </a:blip>
          <a:srcRect t="14047" r="35991"/>
          <a:stretch>
            <a:fillRect/>
          </a:stretch>
        </p:blipFill>
        <p:spPr>
          <a:xfrm>
            <a:off x="3301735" y="9152"/>
            <a:ext cx="5853069" cy="5672506"/>
          </a:xfrm>
          <a:prstGeom prst="rect">
            <a:avLst/>
          </a:prstGeom>
        </p:spPr>
      </p:pic>
      <p:sp>
        <p:nvSpPr>
          <p:cNvPr id="14"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3E3DDCEB-CEB2-4474-BBBD-42C666EFFE77}" type="datetime1">
              <a:rPr lang="en-US" smtClean="0"/>
              <a:pPr lvl="1"/>
              <a:t>13/06/2023</a:t>
            </a:fld>
            <a:endParaRPr lang="en-GB" dirty="0"/>
          </a:p>
        </p:txBody>
      </p:sp>
    </p:spTree>
    <p:extLst>
      <p:ext uri="{BB962C8B-B14F-4D97-AF65-F5344CB8AC3E}">
        <p14:creationId xmlns:p14="http://schemas.microsoft.com/office/powerpoint/2010/main" val="56215257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807" r:id="rId5"/>
    <p:sldLayoutId id="2147483809" r:id="rId6"/>
    <p:sldLayoutId id="2147483810" r:id="rId7"/>
    <p:sldLayoutId id="2147483811" r:id="rId8"/>
    <p:sldLayoutId id="2147483812" r:id="rId9"/>
    <p:sldLayoutId id="2147483814" r:id="rId10"/>
    <p:sldLayoutId id="2147483815"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60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0"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2" name="Bild 14" descr="JPD_icon.gif"/>
          <p:cNvPicPr>
            <a:picLocks noChangeAspect="1"/>
          </p:cNvPicPr>
          <p:nvPr/>
        </p:nvPicPr>
        <p:blipFill>
          <a:blip r:embed="rId7"/>
          <a:stretch>
            <a:fillRect/>
          </a:stretch>
        </p:blipFill>
        <p:spPr>
          <a:xfrm>
            <a:off x="0" y="0"/>
            <a:ext cx="741459" cy="701016"/>
          </a:xfrm>
          <a:prstGeom prst="rect">
            <a:avLst/>
          </a:prstGeom>
        </p:spPr>
      </p:pic>
      <p:pic>
        <p:nvPicPr>
          <p:cNvPr id="13" name="Bild 12"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14"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41CF40-70BA-42D5-A7E0-36D5BEB69569}" type="datetime1">
              <a:rPr lang="en-US" smtClean="0"/>
              <a:pPr lvl="1"/>
              <a:t>13/06/2023</a:t>
            </a:fld>
            <a:endParaRPr lang="en-GB" dirty="0"/>
          </a:p>
        </p:txBody>
      </p:sp>
    </p:spTree>
    <p:extLst>
      <p:ext uri="{BB962C8B-B14F-4D97-AF65-F5344CB8AC3E}">
        <p14:creationId xmlns:p14="http://schemas.microsoft.com/office/powerpoint/2010/main" val="2030058046"/>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hteck 8"/>
          <p:cNvSpPr/>
          <p:nvPr/>
        </p:nvSpPr>
        <p:spPr>
          <a:xfrm>
            <a:off x="0" y="0"/>
            <a:ext cx="9144000" cy="6858000"/>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2"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3"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4"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5" name="Bild 15" descr="NCOPD_icon.gif"/>
          <p:cNvPicPr>
            <a:picLocks noChangeAspect="1"/>
          </p:cNvPicPr>
          <p:nvPr/>
        </p:nvPicPr>
        <p:blipFill>
          <a:blip r:embed="rId7"/>
          <a:stretch>
            <a:fillRect/>
          </a:stretch>
        </p:blipFill>
        <p:spPr>
          <a:xfrm>
            <a:off x="0" y="0"/>
            <a:ext cx="741459" cy="701016"/>
          </a:xfrm>
          <a:prstGeom prst="rect">
            <a:avLst/>
          </a:prstGeom>
        </p:spPr>
      </p:pic>
      <p:pic>
        <p:nvPicPr>
          <p:cNvPr id="16" name="Bild 12"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5F164F2-F494-409A-9E49-4399B4EF363A}" type="datetime1">
              <a:rPr lang="en-US" smtClean="0"/>
              <a:pPr lvl="1"/>
              <a:t>13/06/2023</a:t>
            </a:fld>
            <a:endParaRPr lang="en-GB" dirty="0"/>
          </a:p>
        </p:txBody>
      </p:sp>
    </p:spTree>
    <p:extLst>
      <p:ext uri="{BB962C8B-B14F-4D97-AF65-F5344CB8AC3E}">
        <p14:creationId xmlns:p14="http://schemas.microsoft.com/office/powerpoint/2010/main" val="565807677"/>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hteck 8"/>
          <p:cNvSpPr/>
          <p:nvPr/>
        </p:nvSpPr>
        <p:spPr>
          <a:xfrm>
            <a:off x="0" y="0"/>
            <a:ext cx="9144000" cy="6858000"/>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2"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3"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4"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5" name="Bild 16" descr="PROT_icon.gif"/>
          <p:cNvPicPr>
            <a:picLocks noChangeAspect="1"/>
          </p:cNvPicPr>
          <p:nvPr/>
        </p:nvPicPr>
        <p:blipFill>
          <a:blip r:embed="rId7"/>
          <a:stretch>
            <a:fillRect/>
          </a:stretch>
        </p:blipFill>
        <p:spPr>
          <a:xfrm>
            <a:off x="0" y="0"/>
            <a:ext cx="741459" cy="701016"/>
          </a:xfrm>
          <a:prstGeom prst="rect">
            <a:avLst/>
          </a:prstGeom>
        </p:spPr>
      </p:pic>
      <p:pic>
        <p:nvPicPr>
          <p:cNvPr id="16" name="Bild 12" descr="NATO_Star.png"/>
          <p:cNvPicPr>
            <a:picLocks noChangeAspect="1"/>
          </p:cNvPicPr>
          <p:nvPr/>
        </p:nvPicPr>
        <p:blipFill>
          <a:blip r:embed="rId8">
            <a:alphaModFix amt="20000"/>
          </a:blip>
          <a:srcRect t="14047" r="35991"/>
          <a:stretch>
            <a:fillRect/>
          </a:stretch>
        </p:blipFill>
        <p:spPr>
          <a:xfrm>
            <a:off x="3301735" y="9152"/>
            <a:ext cx="5853069" cy="5672506"/>
          </a:xfrm>
          <a:prstGeom prst="rect">
            <a:avLst/>
          </a:prstGeom>
        </p:spPr>
      </p:pic>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1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7E678CC-4A2E-4389-B280-9DD130C7EB4F}" type="datetime1">
              <a:rPr lang="en-US" smtClean="0"/>
              <a:pPr lvl="1"/>
              <a:t>13/06/2023</a:t>
            </a:fld>
            <a:endParaRPr lang="en-GB" dirty="0"/>
          </a:p>
        </p:txBody>
      </p:sp>
    </p:spTree>
    <p:extLst>
      <p:ext uri="{BB962C8B-B14F-4D97-AF65-F5344CB8AC3E}">
        <p14:creationId xmlns:p14="http://schemas.microsoft.com/office/powerpoint/2010/main" val="79242869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10" descr="Logo.png"/>
          <p:cNvPicPr>
            <a:picLocks noChangeAspect="1"/>
          </p:cNvPicPr>
          <p:nvPr/>
        </p:nvPicPr>
        <p:blipFill>
          <a:blip r:embed="rId6"/>
          <a:stretch>
            <a:fillRect/>
          </a:stretch>
        </p:blipFill>
        <p:spPr>
          <a:xfrm>
            <a:off x="7586961" y="6395415"/>
            <a:ext cx="1256817" cy="275186"/>
          </a:xfrm>
          <a:prstGeom prst="rect">
            <a:avLst/>
          </a:prstGeom>
        </p:spPr>
      </p:pic>
      <p:sp>
        <p:nvSpPr>
          <p:cNvPr id="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t>| Slide </a:t>
            </a:r>
            <a:fld id="{AC1C9A27-5D71-496E-AC2B-58C1CA833928}" type="slidenum">
              <a:rPr lang="en-GB" smtClean="0"/>
              <a:pPr/>
              <a:t>‹#›</a:t>
            </a:fld>
            <a:endParaRPr lang="en-GB" dirty="0"/>
          </a:p>
        </p:txBody>
      </p:sp>
      <p:sp>
        <p:nvSpPr>
          <p:cNvPr id="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54D8506-EA97-4DC4-A4E2-C1F8CE278638}" type="datetime1">
              <a:rPr lang="en-US" smtClean="0"/>
              <a:pPr lvl="1"/>
              <a:t>13/06/2023</a:t>
            </a:fld>
            <a:endParaRPr lang="en-GB" dirty="0"/>
          </a:p>
        </p:txBody>
      </p:sp>
    </p:spTree>
    <p:extLst>
      <p:ext uri="{BB962C8B-B14F-4D97-AF65-F5344CB8AC3E}">
        <p14:creationId xmlns:p14="http://schemas.microsoft.com/office/powerpoint/2010/main" val="352589305"/>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BC8627">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sp>
        <p:nvSpPr>
          <p:cNvPr id="8" name="Rechteck 6"/>
          <p:cNvSpPr/>
          <p:nvPr/>
        </p:nvSpPr>
        <p:spPr>
          <a:xfrm>
            <a:off x="0" y="6169025"/>
            <a:ext cx="9144000" cy="6889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5124" name="Bild 7" descr="Logo.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586663" y="6383338"/>
            <a:ext cx="1257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hteck 9"/>
          <p:cNvSpPr/>
          <p:nvPr/>
        </p:nvSpPr>
        <p:spPr>
          <a:xfrm>
            <a:off x="0" y="6181725"/>
            <a:ext cx="9144000" cy="6889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solidFill>
                <a:prstClr val="white"/>
              </a:solidFill>
            </a:endParaRPr>
          </a:p>
        </p:txBody>
      </p:sp>
      <p:pic>
        <p:nvPicPr>
          <p:cNvPr id="5126" name="Bild 10" descr="Logo.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586663" y="6396038"/>
            <a:ext cx="1257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Bild 13" descr="JOPS_icon.gif"/>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7413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Bild 12" descr="NATO_Star.png"/>
          <p:cNvPicPr>
            <a:picLocks noChangeAspect="1"/>
          </p:cNvPicPr>
          <p:nvPr/>
        </p:nvPicPr>
        <p:blipFill>
          <a:blip r:embed="rId8">
            <a:extLst>
              <a:ext uri="{28A0092B-C50C-407E-A947-70E740481C1C}">
                <a14:useLocalDpi xmlns:a14="http://schemas.microsoft.com/office/drawing/2010/main" val="0"/>
              </a:ext>
            </a:extLst>
          </a:blip>
          <a:srcRect t="14047" r="35991"/>
          <a:stretch>
            <a:fillRect/>
          </a:stretch>
        </p:blipFill>
        <p:spPr bwMode="auto">
          <a:xfrm>
            <a:off x="3302000" y="9525"/>
            <a:ext cx="5853113"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lide Number Placeholder 1"/>
          <p:cNvSpPr>
            <a:spLocks noGrp="1"/>
          </p:cNvSpPr>
          <p:nvPr>
            <p:ph type="sldNum" sz="quarter" idx="4"/>
          </p:nvPr>
        </p:nvSpPr>
        <p:spPr>
          <a:xfrm>
            <a:off x="6938963" y="6410325"/>
            <a:ext cx="738187" cy="365125"/>
          </a:xfrm>
          <a:prstGeom prst="rect">
            <a:avLst/>
          </a:prstGeom>
        </p:spPr>
        <p:txBody>
          <a:bodyPr vert="horz" lIns="0" tIns="45720" rIns="91440" bIns="45720" rtlCol="0" anchor="ctr"/>
          <a:lstStyle>
            <a:lvl1pPr algn="l" fontAlgn="auto">
              <a:spcBef>
                <a:spcPts val="0"/>
              </a:spcBef>
              <a:spcAft>
                <a:spcPts val="0"/>
              </a:spcAft>
              <a:defRPr sz="900">
                <a:solidFill>
                  <a:schemeClr val="tx2"/>
                </a:solidFill>
                <a:latin typeface="Arial" pitchFamily="34" charset="0"/>
                <a:cs typeface="Arial" pitchFamily="34" charset="0"/>
              </a:defRPr>
            </a:lvl1pPr>
          </a:lstStyle>
          <a:p>
            <a:pPr>
              <a:defRPr/>
            </a:pPr>
            <a:r>
              <a:rPr lang="en-GB">
                <a:solidFill>
                  <a:srgbClr val="1F497D"/>
                </a:solidFill>
              </a:rPr>
              <a:t>| Slide </a:t>
            </a:r>
            <a:fld id="{70E3F473-2B93-4569-97CE-22948EA0241D}" type="slidenum">
              <a:rPr lang="en-GB">
                <a:solidFill>
                  <a:srgbClr val="1F497D"/>
                </a:solidFill>
              </a:rPr>
              <a:pPr>
                <a:defRPr/>
              </a:pPr>
              <a:t>‹#›</a:t>
            </a:fld>
            <a:endParaRPr lang="en-GB">
              <a:solidFill>
                <a:srgbClr val="1F497D"/>
              </a:solidFill>
            </a:endParaRPr>
          </a:p>
        </p:txBody>
      </p:sp>
      <p:sp>
        <p:nvSpPr>
          <p:cNvPr id="15" name="Fußzeilenplatzhalter 7"/>
          <p:cNvSpPr>
            <a:spLocks noGrp="1"/>
          </p:cNvSpPr>
          <p:nvPr>
            <p:ph type="ftr" sz="quarter" idx="3"/>
          </p:nvPr>
        </p:nvSpPr>
        <p:spPr>
          <a:xfrm>
            <a:off x="2895600" y="6235700"/>
            <a:ext cx="3352800" cy="688975"/>
          </a:xfrm>
          <a:prstGeom prst="rect">
            <a:avLst/>
          </a:prstGeom>
        </p:spPr>
        <p:txBody>
          <a:bodyPr vert="horz" lIns="0" tIns="0" rIns="0" bIns="0" rtlCol="0" anchor="ctr"/>
          <a:lstStyle>
            <a:lvl1pPr algn="ctr" fontAlgn="auto">
              <a:spcBef>
                <a:spcPts val="0"/>
              </a:spcBef>
              <a:spcAft>
                <a:spcPts val="0"/>
              </a:spcAft>
              <a:defRPr sz="1200">
                <a:solidFill>
                  <a:srgbClr val="033E5B"/>
                </a:solidFill>
                <a:latin typeface="Arial"/>
                <a:cs typeface="Arial"/>
              </a:defRPr>
            </a:lvl1pPr>
          </a:lstStyle>
          <a:p>
            <a:pPr>
              <a:defRPr/>
            </a:pPr>
            <a:endParaRPr lang="de-DE"/>
          </a:p>
        </p:txBody>
      </p:sp>
      <p:sp>
        <p:nvSpPr>
          <p:cNvPr id="16" name="Date Placeholder 3"/>
          <p:cNvSpPr>
            <a:spLocks noGrp="1"/>
          </p:cNvSpPr>
          <p:nvPr>
            <p:ph type="dt" sz="half" idx="2"/>
          </p:nvPr>
        </p:nvSpPr>
        <p:spPr>
          <a:xfrm>
            <a:off x="6145213" y="6410325"/>
            <a:ext cx="757237" cy="365125"/>
          </a:xfrm>
          <a:prstGeom prst="rect">
            <a:avLst/>
          </a:prstGeom>
        </p:spPr>
        <p:txBody>
          <a:bodyPr vert="horz" wrap="square" lIns="91440" tIns="45720" rIns="0" bIns="45720" numCol="1" anchor="ctr" anchorCtr="0" compatLnSpc="1">
            <a:prstTxWarp prst="textNoShape">
              <a:avLst/>
            </a:prstTxWarp>
          </a:bodyPr>
          <a:lstStyle>
            <a:lvl2pPr lvl="1" algn="r">
              <a:defRPr sz="900">
                <a:solidFill>
                  <a:schemeClr val="tx2"/>
                </a:solidFill>
                <a:latin typeface="Arial" charset="0"/>
                <a:cs typeface="Arial" charset="0"/>
              </a:defRPr>
            </a:lvl2pPr>
          </a:lstStyle>
          <a:p>
            <a:pPr lvl="1" fontAlgn="base">
              <a:spcBef>
                <a:spcPct val="0"/>
              </a:spcBef>
              <a:spcAft>
                <a:spcPct val="0"/>
              </a:spcAft>
              <a:defRPr/>
            </a:pPr>
            <a:endParaRPr lang="en-GB">
              <a:solidFill>
                <a:srgbClr val="1F497D"/>
              </a:solidFill>
            </a:endParaRPr>
          </a:p>
        </p:txBody>
      </p:sp>
    </p:spTree>
    <p:extLst>
      <p:ext uri="{BB962C8B-B14F-4D97-AF65-F5344CB8AC3E}">
        <p14:creationId xmlns:p14="http://schemas.microsoft.com/office/powerpoint/2010/main" val="3897422475"/>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60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8"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7" descr="Logo.png"/>
          <p:cNvPicPr>
            <a:picLocks noChangeAspect="1"/>
          </p:cNvPicPr>
          <p:nvPr/>
        </p:nvPicPr>
        <p:blipFill>
          <a:blip r:embed="rId8"/>
          <a:stretch>
            <a:fillRect/>
          </a:stretch>
        </p:blipFill>
        <p:spPr>
          <a:xfrm>
            <a:off x="7586961" y="6382657"/>
            <a:ext cx="1256817" cy="275186"/>
          </a:xfrm>
          <a:prstGeom prst="rect">
            <a:avLst/>
          </a:prstGeom>
        </p:spPr>
      </p:pic>
      <p:sp>
        <p:nvSpPr>
          <p:cNvPr id="10"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11" name="Bild 10" descr="Logo.png"/>
          <p:cNvPicPr>
            <a:picLocks noChangeAspect="1"/>
          </p:cNvPicPr>
          <p:nvPr/>
        </p:nvPicPr>
        <p:blipFill>
          <a:blip r:embed="rId8"/>
          <a:stretch>
            <a:fillRect/>
          </a:stretch>
        </p:blipFill>
        <p:spPr>
          <a:xfrm>
            <a:off x="7586961" y="6395415"/>
            <a:ext cx="1256817" cy="275186"/>
          </a:xfrm>
          <a:prstGeom prst="rect">
            <a:avLst/>
          </a:prstGeom>
        </p:spPr>
      </p:pic>
      <p:pic>
        <p:nvPicPr>
          <p:cNvPr id="13" name="Bild 12" descr="NATO_Star.png"/>
          <p:cNvPicPr>
            <a:picLocks noChangeAspect="1"/>
          </p:cNvPicPr>
          <p:nvPr/>
        </p:nvPicPr>
        <p:blipFill>
          <a:blip r:embed="rId9">
            <a:alphaModFix amt="40000"/>
          </a:blip>
          <a:srcRect t="14047" r="35991"/>
          <a:stretch>
            <a:fillRect/>
          </a:stretch>
        </p:blipFill>
        <p:spPr>
          <a:xfrm>
            <a:off x="3301735" y="9152"/>
            <a:ext cx="5853069" cy="5672506"/>
          </a:xfrm>
          <a:prstGeom prst="rect">
            <a:avLst/>
          </a:prstGeom>
        </p:spPr>
      </p:pic>
      <p:sp>
        <p:nvSpPr>
          <p:cNvPr id="14"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a:solidFill>
                  <a:srgbClr val="1F497D"/>
                </a:solidFill>
              </a:rPr>
              <a:t>| Slide </a:t>
            </a:r>
            <a:fld id="{AC1C9A27-5D71-496E-AC2B-58C1CA833928}" type="slidenum">
              <a:rPr lang="en-GB" smtClean="0">
                <a:solidFill>
                  <a:srgbClr val="1F497D"/>
                </a:solidFill>
              </a:rPr>
              <a:pPr/>
              <a:t>‹#›</a:t>
            </a:fld>
            <a:endParaRPr lang="en-GB" dirty="0">
              <a:solidFill>
                <a:srgbClr val="1F497D"/>
              </a:solidFill>
            </a:endParaRPr>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a:t>NATO UNCLASSIFIED</a:t>
            </a:r>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41CF40-70BA-42D5-A7E0-36D5BEB69569}" type="datetime1">
              <a:rPr lang="en-US" smtClean="0">
                <a:solidFill>
                  <a:srgbClr val="1F497D"/>
                </a:solidFill>
              </a:rPr>
              <a:pPr lvl="1"/>
              <a:t>13/06/2023</a:t>
            </a:fld>
            <a:endParaRPr lang="en-GB" dirty="0">
              <a:solidFill>
                <a:srgbClr val="1F497D"/>
              </a:solidFill>
            </a:endParaRPr>
          </a:p>
        </p:txBody>
      </p:sp>
      <p:pic>
        <p:nvPicPr>
          <p:cNvPr id="4098" name="Picture 2" descr="G:\PAO\Corporate Design\NATO SCHOOL Oberammergau NEW\Logos\Department Icons\20160518_NU_JPOD_Simple_Icon_100.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720000" cy="7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910189"/>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media1.mp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9.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media3.mp4"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media2.mp4"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6981" y="639726"/>
            <a:ext cx="6995298" cy="4968627"/>
          </a:xfrm>
        </p:spPr>
        <p:txBody>
          <a:bodyPr>
            <a:normAutofit/>
          </a:bodyPr>
          <a:lstStyle/>
          <a:p>
            <a:pPr algn="l"/>
            <a:r>
              <a:rPr lang="en-US" sz="5400" dirty="0"/>
              <a:t>Explosives Safety and Munitions Risk Management (ESMRM)</a:t>
            </a:r>
            <a:endParaRPr lang="en-GB" sz="5400" dirty="0"/>
          </a:p>
        </p:txBody>
      </p:sp>
      <p:sp>
        <p:nvSpPr>
          <p:cNvPr id="2" name="TextBox 1">
            <a:extLst>
              <a:ext uri="{FF2B5EF4-FFF2-40B4-BE49-F238E27FC236}">
                <a16:creationId xmlns="" xmlns:a16="http://schemas.microsoft.com/office/drawing/2014/main" id="{74725B88-9DB5-E249-87B9-02B82A4AF25A}"/>
              </a:ext>
            </a:extLst>
          </p:cNvPr>
          <p:cNvSpPr txBox="1"/>
          <p:nvPr/>
        </p:nvSpPr>
        <p:spPr>
          <a:xfrm>
            <a:off x="410519" y="4597758"/>
            <a:ext cx="6891951" cy="707886"/>
          </a:xfrm>
          <a:prstGeom prst="rect">
            <a:avLst/>
          </a:prstGeom>
          <a:noFill/>
        </p:spPr>
        <p:txBody>
          <a:bodyPr wrap="none" rtlCol="0">
            <a:spAutoFit/>
          </a:bodyPr>
          <a:lstStyle/>
          <a:p>
            <a:r>
              <a:rPr lang="en-GB" sz="2000" dirty="0">
                <a:solidFill>
                  <a:schemeClr val="bg1"/>
                </a:solidFill>
              </a:rPr>
              <a:t>Mr Kane LEAR,  ESMRM SO</a:t>
            </a:r>
          </a:p>
          <a:p>
            <a:r>
              <a:rPr lang="en-GB" sz="2000" dirty="0">
                <a:solidFill>
                  <a:schemeClr val="bg1"/>
                </a:solidFill>
              </a:rPr>
              <a:t>Munitions Safety Information Analysis Centre (MSIAC), NATO HQ</a:t>
            </a:r>
          </a:p>
        </p:txBody>
      </p:sp>
      <p:sp>
        <p:nvSpPr>
          <p:cNvPr id="3" name="TextBox 2">
            <a:extLst>
              <a:ext uri="{FF2B5EF4-FFF2-40B4-BE49-F238E27FC236}">
                <a16:creationId xmlns="" xmlns:a16="http://schemas.microsoft.com/office/drawing/2014/main" id="{D0B9F716-6A92-8048-8D97-A24A7A33DCEB}"/>
              </a:ext>
            </a:extLst>
          </p:cNvPr>
          <p:cNvSpPr txBox="1"/>
          <p:nvPr/>
        </p:nvSpPr>
        <p:spPr>
          <a:xfrm>
            <a:off x="618186" y="5608353"/>
            <a:ext cx="2300566" cy="369332"/>
          </a:xfrm>
          <a:prstGeom prst="rect">
            <a:avLst/>
          </a:prstGeom>
          <a:noFill/>
        </p:spPr>
        <p:txBody>
          <a:bodyPr wrap="none" rtlCol="0">
            <a:spAutoFit/>
          </a:bodyPr>
          <a:lstStyle/>
          <a:p>
            <a:r>
              <a:rPr lang="en-GB" dirty="0" err="1">
                <a:solidFill>
                  <a:srgbClr val="FFFF00"/>
                </a:solidFill>
              </a:rPr>
              <a:t>K.Lear@msiac.nato.int</a:t>
            </a:r>
            <a:endParaRPr lang="en-GB" dirty="0">
              <a:solidFill>
                <a:srgbClr val="FFFF00"/>
              </a:solidFill>
            </a:endParaRPr>
          </a:p>
        </p:txBody>
      </p:sp>
      <p:sp>
        <p:nvSpPr>
          <p:cNvPr id="4" name="TextBox 3">
            <a:extLst>
              <a:ext uri="{FF2B5EF4-FFF2-40B4-BE49-F238E27FC236}">
                <a16:creationId xmlns="" xmlns:a16="http://schemas.microsoft.com/office/drawing/2014/main" id="{5A2A9715-85C7-1546-95C9-6231DE035B9D}"/>
              </a:ext>
            </a:extLst>
          </p:cNvPr>
          <p:cNvSpPr txBox="1"/>
          <p:nvPr/>
        </p:nvSpPr>
        <p:spPr>
          <a:xfrm>
            <a:off x="-1300766" y="2395470"/>
            <a:ext cx="184731" cy="369332"/>
          </a:xfrm>
          <a:prstGeom prst="rect">
            <a:avLst/>
          </a:prstGeom>
          <a:noFill/>
        </p:spPr>
        <p:txBody>
          <a:bodyPr wrap="none" rtlCol="0">
            <a:spAutoFit/>
          </a:bodyPr>
          <a:lstStyle/>
          <a:p>
            <a:endParaRPr lang="en-GB" dirty="0"/>
          </a:p>
        </p:txBody>
      </p:sp>
      <p:sp>
        <p:nvSpPr>
          <p:cNvPr id="7" name="Rectangle 6">
            <a:extLst>
              <a:ext uri="{FF2B5EF4-FFF2-40B4-BE49-F238E27FC236}">
                <a16:creationId xmlns="" xmlns:a16="http://schemas.microsoft.com/office/drawing/2014/main" id="{CACD2895-668A-524D-AE57-787B10C016D6}"/>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25669970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2" name="TextBox 1"/>
          <p:cNvSpPr txBox="1"/>
          <p:nvPr/>
        </p:nvSpPr>
        <p:spPr>
          <a:xfrm>
            <a:off x="256031" y="0"/>
            <a:ext cx="8631936" cy="707886"/>
          </a:xfrm>
          <a:prstGeom prst="rect">
            <a:avLst/>
          </a:prstGeom>
          <a:noFill/>
        </p:spPr>
        <p:txBody>
          <a:bodyPr wrap="square" rtlCol="0">
            <a:spAutoFit/>
          </a:bodyPr>
          <a:lstStyle/>
          <a:p>
            <a:r>
              <a:rPr lang="en-US" sz="4000" dirty="0">
                <a:solidFill>
                  <a:schemeClr val="tx2"/>
                </a:solidFill>
              </a:rPr>
              <a:t>                 Why is ESMRM Important?</a:t>
            </a:r>
          </a:p>
        </p:txBody>
      </p:sp>
    </p:spTree>
    <p:extLst>
      <p:ext uri="{BB962C8B-B14F-4D97-AF65-F5344CB8AC3E}">
        <p14:creationId xmlns:p14="http://schemas.microsoft.com/office/powerpoint/2010/main" val="3227581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Approximately 2,750 metric tons of Ammonium Nitrate </a:t>
            </a:r>
          </a:p>
          <a:p>
            <a:pPr lvl="2"/>
            <a:r>
              <a:rPr lang="en-US" dirty="0"/>
              <a:t>Stored in a Hangar (warehouse) at the Port for &gt;6years</a:t>
            </a:r>
          </a:p>
          <a:p>
            <a:pPr lvl="2"/>
            <a:r>
              <a:rPr lang="en-US" dirty="0"/>
              <a:t>Senior leaders were aware of risk and took no action</a:t>
            </a:r>
          </a:p>
          <a:p>
            <a:pPr lvl="2"/>
            <a:r>
              <a:rPr lang="en-US" dirty="0"/>
              <a:t>Ammonium Nitrate was decomposing and off-gassing</a:t>
            </a:r>
          </a:p>
          <a:p>
            <a:pPr marL="495300" lvl="2" indent="0">
              <a:buNone/>
            </a:pPr>
            <a:endParaRPr lang="en-US" dirty="0"/>
          </a:p>
          <a:p>
            <a:r>
              <a:rPr lang="en-US" dirty="0"/>
              <a:t>A fire started and approximately 15-minutes later there was an explosion</a:t>
            </a:r>
          </a:p>
          <a:p>
            <a:pPr lvl="2"/>
            <a:r>
              <a:rPr lang="en-US" dirty="0"/>
              <a:t>Blast was felt over 240km away in Cyprus</a:t>
            </a:r>
          </a:p>
          <a:p>
            <a:pPr lvl="2"/>
            <a:r>
              <a:rPr lang="en-US" dirty="0"/>
              <a:t>Registered a 3.3 magnitude earthquake on the Richter Scale</a:t>
            </a:r>
          </a:p>
          <a:p>
            <a:pPr lvl="2"/>
            <a:r>
              <a:rPr lang="en-US" dirty="0"/>
              <a:t>&gt;200 dead</a:t>
            </a:r>
          </a:p>
          <a:p>
            <a:pPr lvl="2"/>
            <a:r>
              <a:rPr lang="en-US" dirty="0"/>
              <a:t>&gt;6500 people injured</a:t>
            </a:r>
          </a:p>
          <a:p>
            <a:pPr lvl="2"/>
            <a:r>
              <a:rPr lang="en-US" dirty="0"/>
              <a:t>&gt;300,000 people displaced from their residence</a:t>
            </a:r>
          </a:p>
          <a:p>
            <a:pPr lvl="2"/>
            <a:r>
              <a:rPr lang="en-US" dirty="0"/>
              <a:t>&gt;13bn EUR in infrastructure damage</a:t>
            </a:r>
          </a:p>
          <a:p>
            <a:r>
              <a:rPr lang="en-US" dirty="0"/>
              <a:t>	</a:t>
            </a:r>
          </a:p>
          <a:p>
            <a:endParaRPr lang="en-US" dirty="0"/>
          </a:p>
          <a:p>
            <a:endParaRPr lang="bs-Latn-BA" dirty="0"/>
          </a:p>
        </p:txBody>
      </p:sp>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917735" y="86361"/>
            <a:ext cx="7308527" cy="707886"/>
          </a:xfrm>
          <a:prstGeom prst="rect">
            <a:avLst/>
          </a:prstGeom>
          <a:noFill/>
        </p:spPr>
        <p:txBody>
          <a:bodyPr wrap="square" rtlCol="0">
            <a:spAutoFit/>
          </a:bodyPr>
          <a:lstStyle/>
          <a:p>
            <a:r>
              <a:rPr lang="en-US" sz="4000" dirty="0">
                <a:solidFill>
                  <a:schemeClr val="tx2"/>
                </a:solidFill>
              </a:rPr>
              <a:t>           Port of Beirut:</a:t>
            </a:r>
          </a:p>
        </p:txBody>
      </p:sp>
    </p:spTree>
    <p:extLst>
      <p:ext uri="{BB962C8B-B14F-4D97-AF65-F5344CB8AC3E}">
        <p14:creationId xmlns:p14="http://schemas.microsoft.com/office/powerpoint/2010/main" val="15676395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4</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5800"/>
            <a:ext cx="9144000" cy="5486400"/>
          </a:xfrm>
          <a:prstGeom prst="rect">
            <a:avLst/>
          </a:prstGeom>
        </p:spPr>
      </p:pic>
      <p:sp>
        <p:nvSpPr>
          <p:cNvPr id="9" name="TextBox 8"/>
          <p:cNvSpPr txBox="1"/>
          <p:nvPr/>
        </p:nvSpPr>
        <p:spPr>
          <a:xfrm>
            <a:off x="450761" y="6688"/>
            <a:ext cx="7677170" cy="707886"/>
          </a:xfrm>
          <a:prstGeom prst="rect">
            <a:avLst/>
          </a:prstGeom>
          <a:noFill/>
        </p:spPr>
        <p:txBody>
          <a:bodyPr wrap="square" rtlCol="0">
            <a:spAutoFit/>
          </a:bodyPr>
          <a:lstStyle/>
          <a:p>
            <a:r>
              <a:rPr lang="en-US" sz="4000" dirty="0">
                <a:solidFill>
                  <a:schemeClr val="tx2"/>
                </a:solidFill>
              </a:rPr>
              <a:t>                 Port of Beirut</a:t>
            </a:r>
          </a:p>
        </p:txBody>
      </p:sp>
    </p:spTree>
    <p:extLst>
      <p:ext uri="{BB962C8B-B14F-4D97-AF65-F5344CB8AC3E}">
        <p14:creationId xmlns:p14="http://schemas.microsoft.com/office/powerpoint/2010/main" val="13211331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5</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7225"/>
            <a:ext cx="9144000" cy="5605442"/>
          </a:xfrm>
          <a:prstGeom prst="rect">
            <a:avLst/>
          </a:prstGeom>
        </p:spPr>
      </p:pic>
      <p:sp>
        <p:nvSpPr>
          <p:cNvPr id="7" name="TextBox 6"/>
          <p:cNvSpPr txBox="1"/>
          <p:nvPr/>
        </p:nvSpPr>
        <p:spPr>
          <a:xfrm>
            <a:off x="689436" y="0"/>
            <a:ext cx="5950039" cy="707886"/>
          </a:xfrm>
          <a:prstGeom prst="rect">
            <a:avLst/>
          </a:prstGeom>
          <a:noFill/>
        </p:spPr>
        <p:txBody>
          <a:bodyPr wrap="square" rtlCol="0">
            <a:spAutoFit/>
          </a:bodyPr>
          <a:lstStyle/>
          <a:p>
            <a:r>
              <a:rPr lang="en-US" sz="4000" dirty="0">
                <a:solidFill>
                  <a:schemeClr val="tx2"/>
                </a:solidFill>
              </a:rPr>
              <a:t>                </a:t>
            </a:r>
            <a:r>
              <a:rPr lang="en-US" sz="4000" dirty="0">
                <a:solidFill>
                  <a:schemeClr val="tx2"/>
                </a:solidFill>
                <a:hlinkClick r:id="rId4" action="ppaction://hlinkfile"/>
              </a:rPr>
              <a:t>Port of Beirut</a:t>
            </a:r>
            <a:endParaRPr lang="en-US" sz="4000" dirty="0">
              <a:solidFill>
                <a:schemeClr val="tx2"/>
              </a:solidFill>
            </a:endParaRPr>
          </a:p>
        </p:txBody>
      </p:sp>
    </p:spTree>
    <p:extLst>
      <p:ext uri="{BB962C8B-B14F-4D97-AF65-F5344CB8AC3E}">
        <p14:creationId xmlns:p14="http://schemas.microsoft.com/office/powerpoint/2010/main" val="1198814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Smoking.bmp">
            <a:extLst>
              <a:ext uri="{FF2B5EF4-FFF2-40B4-BE49-F238E27FC236}">
                <a16:creationId xmlns="" xmlns:a16="http://schemas.microsoft.com/office/drawing/2014/main" id="{454C2ED0-4006-E74F-A1F1-CBEDD4C19926}"/>
              </a:ext>
            </a:extLst>
          </p:cNvPr>
          <p:cNvPicPr>
            <a:picLocks noChangeAspect="1"/>
          </p:cNvPicPr>
          <p:nvPr/>
        </p:nvPicPr>
        <p:blipFill>
          <a:blip r:embed="rId3">
            <a:alphaModFix amt="18000"/>
            <a:extLst>
              <a:ext uri="{28A0092B-C50C-407E-A947-70E740481C1C}">
                <a14:useLocalDpi xmlns:a14="http://schemas.microsoft.com/office/drawing/2010/main" val="0"/>
              </a:ext>
            </a:extLst>
          </a:blip>
          <a:srcRect/>
          <a:stretch>
            <a:fillRect/>
          </a:stretch>
        </p:blipFill>
        <p:spPr bwMode="auto">
          <a:xfrm>
            <a:off x="733647" y="95671"/>
            <a:ext cx="8049745" cy="5903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6</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978345" y="0"/>
            <a:ext cx="7560347" cy="707886"/>
          </a:xfrm>
          <a:prstGeom prst="rect">
            <a:avLst/>
          </a:prstGeom>
          <a:noFill/>
        </p:spPr>
        <p:txBody>
          <a:bodyPr wrap="square" rtlCol="0">
            <a:spAutoFit/>
          </a:bodyPr>
          <a:lstStyle/>
          <a:p>
            <a:r>
              <a:rPr lang="en-US" sz="4000" dirty="0">
                <a:solidFill>
                  <a:schemeClr val="tx2"/>
                </a:solidFill>
              </a:rPr>
              <a:t>           Explosives Safety</a:t>
            </a:r>
          </a:p>
        </p:txBody>
      </p:sp>
      <p:sp>
        <p:nvSpPr>
          <p:cNvPr id="8" name="TextBox 7">
            <a:extLst>
              <a:ext uri="{FF2B5EF4-FFF2-40B4-BE49-F238E27FC236}">
                <a16:creationId xmlns="" xmlns:a16="http://schemas.microsoft.com/office/drawing/2014/main" id="{D5CF3CA1-C583-D541-8E02-DA8F2D3139CB}"/>
              </a:ext>
            </a:extLst>
          </p:cNvPr>
          <p:cNvSpPr txBox="1"/>
          <p:nvPr/>
        </p:nvSpPr>
        <p:spPr>
          <a:xfrm>
            <a:off x="733647" y="1146218"/>
            <a:ext cx="6724133" cy="2769989"/>
          </a:xfrm>
          <a:prstGeom prst="rect">
            <a:avLst/>
          </a:prstGeom>
          <a:noFill/>
        </p:spPr>
        <p:txBody>
          <a:bodyPr wrap="square" rtlCol="0">
            <a:spAutoFit/>
          </a:bodyPr>
          <a:lstStyle/>
          <a:p>
            <a:pPr marL="285750" indent="-285750">
              <a:buFont typeface="Arial" panose="020B0604020202020204" pitchFamily="34" charset="0"/>
              <a:buChar char="•"/>
            </a:pPr>
            <a:r>
              <a:rPr lang="en-GB" sz="2400" dirty="0">
                <a:solidFill>
                  <a:schemeClr val="accent2"/>
                </a:solidFill>
              </a:rPr>
              <a:t>What publications regulate it?</a:t>
            </a:r>
          </a:p>
          <a:p>
            <a:pPr marL="285750" indent="-285750">
              <a:buFont typeface="Arial" panose="020B0604020202020204" pitchFamily="34" charset="0"/>
              <a:buChar char="•"/>
            </a:pPr>
            <a:r>
              <a:rPr lang="en-GB" sz="2400" dirty="0">
                <a:solidFill>
                  <a:schemeClr val="accent2"/>
                </a:solidFill>
              </a:rPr>
              <a:t>ESMRM – what and why?</a:t>
            </a:r>
          </a:p>
          <a:p>
            <a:pPr marL="285750" indent="-285750">
              <a:buFont typeface="Arial" panose="020B0604020202020204" pitchFamily="34" charset="0"/>
              <a:buChar char="•"/>
            </a:pPr>
            <a:r>
              <a:rPr lang="en-GB" sz="2400" dirty="0">
                <a:solidFill>
                  <a:schemeClr val="accent2"/>
                </a:solidFill>
              </a:rPr>
              <a:t>Who’s responsible?</a:t>
            </a:r>
          </a:p>
          <a:p>
            <a:pPr marL="285750" indent="-285750">
              <a:buFont typeface="Arial" panose="020B0604020202020204" pitchFamily="34" charset="0"/>
              <a:buChar char="•"/>
            </a:pPr>
            <a:r>
              <a:rPr lang="en-GB" sz="2400" dirty="0">
                <a:solidFill>
                  <a:schemeClr val="accent2"/>
                </a:solidFill>
              </a:rPr>
              <a:t>Authority</a:t>
            </a:r>
          </a:p>
          <a:p>
            <a:pPr marL="285750" indent="-285750">
              <a:buFont typeface="Arial" panose="020B0604020202020204" pitchFamily="34" charset="0"/>
              <a:buChar char="•"/>
            </a:pPr>
            <a:r>
              <a:rPr lang="en-GB" sz="2400" dirty="0">
                <a:solidFill>
                  <a:schemeClr val="accent2"/>
                </a:solidFill>
              </a:rPr>
              <a:t>Referral</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4561565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7</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004103" y="21653"/>
            <a:ext cx="7740653" cy="707886"/>
          </a:xfrm>
          <a:prstGeom prst="rect">
            <a:avLst/>
          </a:prstGeom>
          <a:noFill/>
        </p:spPr>
        <p:txBody>
          <a:bodyPr wrap="square" rtlCol="0">
            <a:spAutoFit/>
          </a:bodyPr>
          <a:lstStyle/>
          <a:p>
            <a:r>
              <a:rPr lang="en-US" sz="4000" dirty="0">
                <a:solidFill>
                  <a:schemeClr val="tx2"/>
                </a:solidFill>
              </a:rPr>
              <a:t>          Explosives Safety - Regulations</a:t>
            </a:r>
          </a:p>
        </p:txBody>
      </p:sp>
      <p:pic>
        <p:nvPicPr>
          <p:cNvPr id="8" name="image3.png">
            <a:extLst>
              <a:ext uri="{FF2B5EF4-FFF2-40B4-BE49-F238E27FC236}">
                <a16:creationId xmlns="" xmlns:a16="http://schemas.microsoft.com/office/drawing/2014/main" id="{C88C0BCA-6D92-324D-9BC5-EC495EE9B1AD}"/>
              </a:ext>
            </a:extLst>
          </p:cNvPr>
          <p:cNvPicPr/>
          <p:nvPr/>
        </p:nvPicPr>
        <p:blipFill>
          <a:blip r:embed="rId3" cstate="print"/>
          <a:stretch>
            <a:fillRect/>
          </a:stretch>
        </p:blipFill>
        <p:spPr>
          <a:xfrm>
            <a:off x="574558" y="823094"/>
            <a:ext cx="7487617" cy="5139823"/>
          </a:xfrm>
          <a:prstGeom prst="rect">
            <a:avLst/>
          </a:prstGeom>
        </p:spPr>
      </p:pic>
    </p:spTree>
    <p:extLst>
      <p:ext uri="{BB962C8B-B14F-4D97-AF65-F5344CB8AC3E}">
        <p14:creationId xmlns:p14="http://schemas.microsoft.com/office/powerpoint/2010/main" val="1628013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8</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029859" y="86361"/>
            <a:ext cx="8410354" cy="707886"/>
          </a:xfrm>
          <a:prstGeom prst="rect">
            <a:avLst/>
          </a:prstGeom>
          <a:noFill/>
        </p:spPr>
        <p:txBody>
          <a:bodyPr wrap="square" rtlCol="0">
            <a:spAutoFit/>
          </a:bodyPr>
          <a:lstStyle/>
          <a:p>
            <a:r>
              <a:rPr lang="en-US" sz="4000" dirty="0">
                <a:solidFill>
                  <a:schemeClr val="tx2"/>
                </a:solidFill>
              </a:rPr>
              <a:t>          Explosives Safety - Regulations</a:t>
            </a:r>
          </a:p>
        </p:txBody>
      </p:sp>
      <p:sp>
        <p:nvSpPr>
          <p:cNvPr id="7" name="Content Placeholder 2">
            <a:extLst>
              <a:ext uri="{FF2B5EF4-FFF2-40B4-BE49-F238E27FC236}">
                <a16:creationId xmlns="" xmlns:a16="http://schemas.microsoft.com/office/drawing/2014/main" id="{2B73AF69-239E-2347-966A-9A76A1055B87}"/>
              </a:ext>
            </a:extLst>
          </p:cNvPr>
          <p:cNvSpPr>
            <a:spLocks noGrp="1"/>
          </p:cNvSpPr>
          <p:nvPr>
            <p:ph idx="1"/>
          </p:nvPr>
        </p:nvSpPr>
        <p:spPr>
          <a:xfrm>
            <a:off x="457200" y="1134531"/>
            <a:ext cx="8229600" cy="4935600"/>
          </a:xfrm>
        </p:spPr>
        <p:txBody>
          <a:bodyPr/>
          <a:lstStyle/>
          <a:p>
            <a:r>
              <a:rPr lang="en-US" dirty="0"/>
              <a:t>NATO explosives safety requirements are contained in:</a:t>
            </a:r>
          </a:p>
          <a:p>
            <a:pPr marL="342900" indent="-342900">
              <a:buFont typeface="Arial" panose="020B0604020202020204" pitchFamily="34" charset="0"/>
              <a:buChar char="•"/>
            </a:pPr>
            <a:r>
              <a:rPr lang="en-US" b="0" dirty="0"/>
              <a:t>Allied Ammunition Storage and Transport Publication (AASTP)-1, “Manual of NATO Safety Principles for Storage of Military Ammunition and Explosives,” </a:t>
            </a:r>
          </a:p>
          <a:p>
            <a:pPr marL="342900" indent="-342900">
              <a:buFont typeface="Arial" panose="020B0604020202020204" pitchFamily="34" charset="0"/>
              <a:buChar char="•"/>
            </a:pPr>
            <a:r>
              <a:rPr lang="en-US" b="0" dirty="0"/>
              <a:t>AASTP-3, “Manual of NATO Safety Principles for the Hazard Classification of Military Ammunition and Explosives,” </a:t>
            </a:r>
          </a:p>
          <a:p>
            <a:pPr marL="342900" indent="-342900">
              <a:buFont typeface="Arial" panose="020B0604020202020204" pitchFamily="34" charset="0"/>
              <a:buChar char="•"/>
            </a:pPr>
            <a:r>
              <a:rPr lang="en-US" b="0" dirty="0"/>
              <a:t>AASTP-4, “Manual on the NATO Principles for the Application of Risk Analysis to the Storage and Transportation of Military Ammunition and Explosives,” </a:t>
            </a:r>
          </a:p>
          <a:p>
            <a:pPr marL="342900" indent="-342900">
              <a:buFont typeface="Arial" panose="020B0604020202020204" pitchFamily="34" charset="0"/>
              <a:buChar char="•"/>
            </a:pPr>
            <a:r>
              <a:rPr lang="en-US" b="0" dirty="0"/>
              <a:t>AASTP-5, “NATO Guidelines for the Storage, Maintenance and Transport of Ammunition on Deployed Missions or Operations</a:t>
            </a:r>
            <a:endParaRPr lang="en-GB" b="0" dirty="0"/>
          </a:p>
        </p:txBody>
      </p:sp>
    </p:spTree>
    <p:extLst>
      <p:ext uri="{BB962C8B-B14F-4D97-AF65-F5344CB8AC3E}">
        <p14:creationId xmlns:p14="http://schemas.microsoft.com/office/powerpoint/2010/main" val="20352978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969957" y="0"/>
            <a:ext cx="8689197" cy="707886"/>
          </a:xfrm>
          <a:prstGeom prst="rect">
            <a:avLst/>
          </a:prstGeom>
          <a:noFill/>
        </p:spPr>
        <p:txBody>
          <a:bodyPr wrap="square" rtlCol="0">
            <a:spAutoFit/>
          </a:bodyPr>
          <a:lstStyle/>
          <a:p>
            <a:r>
              <a:rPr lang="en-US" sz="4000" dirty="0">
                <a:solidFill>
                  <a:schemeClr val="tx2"/>
                </a:solidFill>
              </a:rPr>
              <a:t>          ESMRM Source Document</a:t>
            </a:r>
          </a:p>
        </p:txBody>
      </p:sp>
      <p:pic>
        <p:nvPicPr>
          <p:cNvPr id="7" name="Picture 6"/>
          <p:cNvPicPr>
            <a:picLocks noChangeAspect="1"/>
          </p:cNvPicPr>
          <p:nvPr/>
        </p:nvPicPr>
        <p:blipFill rotWithShape="1">
          <a:blip r:embed="rId3"/>
          <a:srcRect l="13052" t="8594" r="69575" b="5510"/>
          <a:stretch/>
        </p:blipFill>
        <p:spPr>
          <a:xfrm>
            <a:off x="2694765" y="948821"/>
            <a:ext cx="3736861" cy="5196485"/>
          </a:xfrm>
          <a:prstGeom prst="rect">
            <a:avLst/>
          </a:prstGeom>
        </p:spPr>
      </p:pic>
      <p:sp>
        <p:nvSpPr>
          <p:cNvPr id="2" name="TextBox 1">
            <a:extLst>
              <a:ext uri="{FF2B5EF4-FFF2-40B4-BE49-F238E27FC236}">
                <a16:creationId xmlns="" xmlns:a16="http://schemas.microsoft.com/office/drawing/2014/main" id="{C91540E2-C164-334F-906B-8B27306BDAD3}"/>
              </a:ext>
            </a:extLst>
          </p:cNvPr>
          <p:cNvSpPr txBox="1"/>
          <p:nvPr/>
        </p:nvSpPr>
        <p:spPr>
          <a:xfrm rot="19055043">
            <a:off x="911041" y="2781837"/>
            <a:ext cx="3567448" cy="769441"/>
          </a:xfrm>
          <a:prstGeom prst="rect">
            <a:avLst/>
          </a:prstGeom>
          <a:noFill/>
        </p:spPr>
        <p:txBody>
          <a:bodyPr wrap="square" rtlCol="0">
            <a:spAutoFit/>
          </a:bodyPr>
          <a:lstStyle/>
          <a:p>
            <a:r>
              <a:rPr lang="en-GB" sz="4400" dirty="0">
                <a:solidFill>
                  <a:srgbClr val="FFC000"/>
                </a:solidFill>
                <a:latin typeface="Chalkduster" panose="03050602040202020205" pitchFamily="66" charset="77"/>
              </a:rPr>
              <a:t>POLICY</a:t>
            </a:r>
          </a:p>
        </p:txBody>
      </p:sp>
      <p:sp>
        <p:nvSpPr>
          <p:cNvPr id="5" name="Rectangle 4">
            <a:extLst>
              <a:ext uri="{FF2B5EF4-FFF2-40B4-BE49-F238E27FC236}">
                <a16:creationId xmlns="" xmlns:a16="http://schemas.microsoft.com/office/drawing/2014/main" id="{7CC0A090-AC8A-6946-A434-81D212A5791D}"/>
              </a:ext>
            </a:extLst>
          </p:cNvPr>
          <p:cNvSpPr/>
          <p:nvPr/>
        </p:nvSpPr>
        <p:spPr>
          <a:xfrm>
            <a:off x="3362608" y="6367966"/>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24056024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6298" y="1180214"/>
            <a:ext cx="3795928" cy="4954772"/>
          </a:xfrm>
          <a:prstGeom prst="rect">
            <a:avLst/>
          </a:prstGeom>
          <a:ln>
            <a:solidFill>
              <a:schemeClr val="accent1"/>
            </a:solidFill>
          </a:ln>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4453" t="9528" r="13904" b="16308"/>
          <a:stretch/>
        </p:blipFill>
        <p:spPr>
          <a:xfrm>
            <a:off x="649831" y="1291856"/>
            <a:ext cx="3799896" cy="4843130"/>
          </a:xfrm>
          <a:prstGeom prst="rect">
            <a:avLst/>
          </a:prstGeom>
          <a:ln>
            <a:solidFill>
              <a:schemeClr val="accent1"/>
            </a:solidFill>
          </a:ln>
        </p:spPr>
      </p:pic>
      <p:sp>
        <p:nvSpPr>
          <p:cNvPr id="10" name="TextBox 9"/>
          <p:cNvSpPr txBox="1"/>
          <p:nvPr/>
        </p:nvSpPr>
        <p:spPr>
          <a:xfrm>
            <a:off x="1111625" y="79209"/>
            <a:ext cx="8431619" cy="707886"/>
          </a:xfrm>
          <a:prstGeom prst="rect">
            <a:avLst/>
          </a:prstGeom>
          <a:noFill/>
        </p:spPr>
        <p:txBody>
          <a:bodyPr wrap="square" rtlCol="0">
            <a:spAutoFit/>
          </a:bodyPr>
          <a:lstStyle/>
          <a:p>
            <a:r>
              <a:rPr lang="en-US" sz="4000" dirty="0">
                <a:solidFill>
                  <a:schemeClr val="tx2"/>
                </a:solidFill>
              </a:rPr>
              <a:t>           ESMRM Core Documents</a:t>
            </a:r>
          </a:p>
        </p:txBody>
      </p:sp>
      <p:sp>
        <p:nvSpPr>
          <p:cNvPr id="7" name="TextBox 6">
            <a:extLst>
              <a:ext uri="{FF2B5EF4-FFF2-40B4-BE49-F238E27FC236}">
                <a16:creationId xmlns="" xmlns:a16="http://schemas.microsoft.com/office/drawing/2014/main" id="{2A0E76E8-ED99-4F4B-A517-49D19D1BB60A}"/>
              </a:ext>
            </a:extLst>
          </p:cNvPr>
          <p:cNvSpPr txBox="1"/>
          <p:nvPr/>
        </p:nvSpPr>
        <p:spPr>
          <a:xfrm rot="19055043">
            <a:off x="-207361" y="3580328"/>
            <a:ext cx="3567448" cy="769441"/>
          </a:xfrm>
          <a:prstGeom prst="rect">
            <a:avLst/>
          </a:prstGeom>
          <a:noFill/>
        </p:spPr>
        <p:txBody>
          <a:bodyPr wrap="square" rtlCol="0">
            <a:spAutoFit/>
          </a:bodyPr>
          <a:lstStyle/>
          <a:p>
            <a:r>
              <a:rPr lang="en-GB" sz="4400" dirty="0">
                <a:solidFill>
                  <a:srgbClr val="FFC000"/>
                </a:solidFill>
                <a:latin typeface="Chalkduster" panose="03050602040202020205" pitchFamily="66" charset="77"/>
              </a:rPr>
              <a:t>STANAG</a:t>
            </a:r>
          </a:p>
        </p:txBody>
      </p:sp>
      <p:sp>
        <p:nvSpPr>
          <p:cNvPr id="8" name="TextBox 7">
            <a:extLst>
              <a:ext uri="{FF2B5EF4-FFF2-40B4-BE49-F238E27FC236}">
                <a16:creationId xmlns="" xmlns:a16="http://schemas.microsoft.com/office/drawing/2014/main" id="{34827C3B-39E7-4046-A62B-8CDC7A86A985}"/>
              </a:ext>
            </a:extLst>
          </p:cNvPr>
          <p:cNvSpPr txBox="1"/>
          <p:nvPr/>
        </p:nvSpPr>
        <p:spPr>
          <a:xfrm rot="19055043">
            <a:off x="7107564" y="4963670"/>
            <a:ext cx="1490180" cy="769441"/>
          </a:xfrm>
          <a:prstGeom prst="rect">
            <a:avLst/>
          </a:prstGeom>
          <a:noFill/>
        </p:spPr>
        <p:txBody>
          <a:bodyPr wrap="square" rtlCol="0">
            <a:spAutoFit/>
          </a:bodyPr>
          <a:lstStyle/>
          <a:p>
            <a:r>
              <a:rPr lang="en-GB" sz="4400" dirty="0">
                <a:solidFill>
                  <a:srgbClr val="FFC000"/>
                </a:solidFill>
                <a:latin typeface="Chalkduster" panose="03050602040202020205" pitchFamily="66" charset="77"/>
              </a:rPr>
              <a:t>ALP</a:t>
            </a:r>
          </a:p>
        </p:txBody>
      </p:sp>
      <p:sp>
        <p:nvSpPr>
          <p:cNvPr id="9" name="Rectangle 8">
            <a:extLst>
              <a:ext uri="{FF2B5EF4-FFF2-40B4-BE49-F238E27FC236}">
                <a16:creationId xmlns="" xmlns:a16="http://schemas.microsoft.com/office/drawing/2014/main" id="{B7A32254-8A6C-2442-BA7D-B7F4AC35F213}"/>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
        <p:nvSpPr>
          <p:cNvPr id="2" name="Rectangle 1"/>
          <p:cNvSpPr/>
          <p:nvPr/>
        </p:nvSpPr>
        <p:spPr>
          <a:xfrm>
            <a:off x="6256020" y="2834640"/>
            <a:ext cx="1059180" cy="259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rgbClr val="FF0000"/>
                </a:solidFill>
              </a:rPr>
              <a:t>Dec 2022</a:t>
            </a:r>
            <a:endParaRPr lang="en-GB" sz="1600" b="1" dirty="0">
              <a:solidFill>
                <a:srgbClr val="FF0000"/>
              </a:solidFill>
            </a:endParaRPr>
          </a:p>
        </p:txBody>
      </p:sp>
    </p:spTree>
    <p:extLst>
      <p:ext uri="{BB962C8B-B14F-4D97-AF65-F5344CB8AC3E}">
        <p14:creationId xmlns:p14="http://schemas.microsoft.com/office/powerpoint/2010/main" val="30799982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11</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055619" y="154563"/>
            <a:ext cx="7508832" cy="707886"/>
          </a:xfrm>
          <a:prstGeom prst="rect">
            <a:avLst/>
          </a:prstGeom>
          <a:noFill/>
        </p:spPr>
        <p:txBody>
          <a:bodyPr wrap="square" rtlCol="0">
            <a:spAutoFit/>
          </a:bodyPr>
          <a:lstStyle/>
          <a:p>
            <a:r>
              <a:rPr lang="en-US" sz="4000" dirty="0">
                <a:solidFill>
                  <a:schemeClr val="tx2"/>
                </a:solidFill>
              </a:rPr>
              <a:t>          ESMRM – What &amp; Why</a:t>
            </a:r>
          </a:p>
        </p:txBody>
      </p:sp>
      <p:sp>
        <p:nvSpPr>
          <p:cNvPr id="7" name="Rectangle 6">
            <a:extLst>
              <a:ext uri="{FF2B5EF4-FFF2-40B4-BE49-F238E27FC236}">
                <a16:creationId xmlns="" xmlns:a16="http://schemas.microsoft.com/office/drawing/2014/main" id="{3CD287A6-84DE-BE46-8BBA-EA621E4BEC53}"/>
              </a:ext>
            </a:extLst>
          </p:cNvPr>
          <p:cNvSpPr/>
          <p:nvPr/>
        </p:nvSpPr>
        <p:spPr>
          <a:xfrm>
            <a:off x="733647" y="998481"/>
            <a:ext cx="7611863" cy="4431983"/>
          </a:xfrm>
          <a:prstGeom prst="rect">
            <a:avLst/>
          </a:prstGeom>
        </p:spPr>
        <p:txBody>
          <a:bodyPr wrap="square">
            <a:spAutoFit/>
          </a:bodyPr>
          <a:lstStyle/>
          <a:p>
            <a:r>
              <a:rPr lang="en-GB" sz="2400" b="1" dirty="0">
                <a:solidFill>
                  <a:schemeClr val="accent2"/>
                </a:solidFill>
              </a:rPr>
              <a:t>What</a:t>
            </a:r>
            <a:r>
              <a:rPr lang="en-GB" sz="2400" dirty="0">
                <a:solidFill>
                  <a:schemeClr val="accent2"/>
                </a:solidFill>
              </a:rPr>
              <a:t> </a:t>
            </a:r>
          </a:p>
          <a:p>
            <a:pPr marL="285750" indent="-285750">
              <a:buFont typeface="Arial" panose="020B0604020202020204" pitchFamily="34" charset="0"/>
              <a:buChar char="•"/>
            </a:pPr>
            <a:r>
              <a:rPr lang="en-GB" sz="2400" dirty="0">
                <a:solidFill>
                  <a:schemeClr val="accent2"/>
                </a:solidFill>
              </a:rPr>
              <a:t>ESMRM is a systematic approach that integrates </a:t>
            </a:r>
            <a:r>
              <a:rPr lang="en-GB" sz="2400" dirty="0">
                <a:solidFill>
                  <a:srgbClr val="FF0000"/>
                </a:solidFill>
              </a:rPr>
              <a:t>risk assessment </a:t>
            </a:r>
            <a:r>
              <a:rPr lang="en-GB" sz="2400" dirty="0">
                <a:solidFill>
                  <a:schemeClr val="accent2"/>
                </a:solidFill>
              </a:rPr>
              <a:t>into the planning and execution of all NATO activity with the goal of identifying potential consequences associated with munitions operations and presenting </a:t>
            </a:r>
            <a:r>
              <a:rPr lang="en-GB" sz="2400" dirty="0">
                <a:solidFill>
                  <a:srgbClr val="FF0000"/>
                </a:solidFill>
              </a:rPr>
              <a:t>risk reduction </a:t>
            </a:r>
            <a:r>
              <a:rPr lang="en-GB" sz="2400" dirty="0">
                <a:solidFill>
                  <a:schemeClr val="accent2"/>
                </a:solidFill>
              </a:rPr>
              <a:t>alternatives and </a:t>
            </a:r>
            <a:r>
              <a:rPr lang="en-GB" sz="2400" dirty="0">
                <a:solidFill>
                  <a:srgbClr val="FF0000"/>
                </a:solidFill>
              </a:rPr>
              <a:t>risk decision criteria</a:t>
            </a:r>
            <a:r>
              <a:rPr lang="en-GB" sz="2400" dirty="0">
                <a:solidFill>
                  <a:schemeClr val="accent2"/>
                </a:solidFill>
              </a:rPr>
              <a:t> for </a:t>
            </a:r>
            <a:r>
              <a:rPr lang="en-GB" sz="2400" dirty="0">
                <a:solidFill>
                  <a:srgbClr val="FF0000"/>
                </a:solidFill>
              </a:rPr>
              <a:t>authorised</a:t>
            </a:r>
            <a:r>
              <a:rPr lang="en-GB" sz="2400" dirty="0">
                <a:solidFill>
                  <a:schemeClr val="accent2"/>
                </a:solidFill>
              </a:rPr>
              <a:t> decision makers. (ALP 16)</a:t>
            </a:r>
          </a:p>
          <a:p>
            <a:endParaRPr lang="en-GB" sz="2400" dirty="0">
              <a:solidFill>
                <a:schemeClr val="accent2"/>
              </a:solidFill>
            </a:endParaRPr>
          </a:p>
          <a:p>
            <a:pPr marL="285750" indent="-285750">
              <a:buFont typeface="Arial" panose="020B0604020202020204" pitchFamily="34" charset="0"/>
              <a:buChar char="•"/>
            </a:pPr>
            <a:r>
              <a:rPr lang="en-GB" sz="2400" dirty="0">
                <a:solidFill>
                  <a:schemeClr val="accent2"/>
                </a:solidFill>
              </a:rPr>
              <a:t>ESMRM allows NATO commanders to deliver operational effect at </a:t>
            </a:r>
            <a:r>
              <a:rPr lang="en-GB" sz="2400" dirty="0">
                <a:solidFill>
                  <a:srgbClr val="FF0000"/>
                </a:solidFill>
              </a:rPr>
              <a:t>tolerable levels of explosives safety risk </a:t>
            </a:r>
            <a:r>
              <a:rPr lang="en-GB" sz="2400" dirty="0">
                <a:solidFill>
                  <a:schemeClr val="accent2"/>
                </a:solidFill>
              </a:rPr>
              <a:t>in order to positively contribute to mission success</a:t>
            </a:r>
            <a:r>
              <a:rPr lang="de-DE" sz="2400" dirty="0">
                <a:solidFill>
                  <a:schemeClr val="accent2"/>
                </a:solidFill>
              </a:rPr>
              <a:t> </a:t>
            </a:r>
            <a:r>
              <a:rPr lang="en-GB" sz="2400" dirty="0">
                <a:solidFill>
                  <a:schemeClr val="accent2"/>
                </a:solidFill>
              </a:rPr>
              <a:t> (ALP 16)</a:t>
            </a:r>
          </a:p>
          <a:p>
            <a:endParaRPr lang="en-GB" dirty="0"/>
          </a:p>
        </p:txBody>
      </p:sp>
    </p:spTree>
    <p:extLst>
      <p:ext uri="{BB962C8B-B14F-4D97-AF65-F5344CB8AC3E}">
        <p14:creationId xmlns:p14="http://schemas.microsoft.com/office/powerpoint/2010/main" val="30722622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12</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197287" y="142847"/>
            <a:ext cx="7508832" cy="707886"/>
          </a:xfrm>
          <a:prstGeom prst="rect">
            <a:avLst/>
          </a:prstGeom>
          <a:noFill/>
        </p:spPr>
        <p:txBody>
          <a:bodyPr wrap="square" rtlCol="0">
            <a:spAutoFit/>
          </a:bodyPr>
          <a:lstStyle/>
          <a:p>
            <a:r>
              <a:rPr lang="en-US" sz="4000" dirty="0">
                <a:solidFill>
                  <a:schemeClr val="tx2"/>
                </a:solidFill>
              </a:rPr>
              <a:t>          ESMRM – What &amp; Why</a:t>
            </a:r>
          </a:p>
        </p:txBody>
      </p:sp>
      <p:sp>
        <p:nvSpPr>
          <p:cNvPr id="7" name="Rectangle 6">
            <a:extLst>
              <a:ext uri="{FF2B5EF4-FFF2-40B4-BE49-F238E27FC236}">
                <a16:creationId xmlns="" xmlns:a16="http://schemas.microsoft.com/office/drawing/2014/main" id="{3CD287A6-84DE-BE46-8BBA-EA621E4BEC53}"/>
              </a:ext>
            </a:extLst>
          </p:cNvPr>
          <p:cNvSpPr/>
          <p:nvPr/>
        </p:nvSpPr>
        <p:spPr>
          <a:xfrm>
            <a:off x="733647" y="998481"/>
            <a:ext cx="7611863" cy="2215991"/>
          </a:xfrm>
          <a:prstGeom prst="rect">
            <a:avLst/>
          </a:prstGeom>
        </p:spPr>
        <p:txBody>
          <a:bodyPr wrap="square">
            <a:spAutoFit/>
          </a:bodyPr>
          <a:lstStyle/>
          <a:p>
            <a:r>
              <a:rPr lang="en-GB" sz="2400" b="1" dirty="0">
                <a:solidFill>
                  <a:schemeClr val="accent2"/>
                </a:solidFill>
              </a:rPr>
              <a:t>What</a:t>
            </a:r>
            <a:r>
              <a:rPr lang="en-GB" sz="2400" dirty="0">
                <a:solidFill>
                  <a:schemeClr val="accent2"/>
                </a:solidFill>
              </a:rPr>
              <a:t> </a:t>
            </a:r>
          </a:p>
          <a:p>
            <a:pPr marL="285750" indent="-285750">
              <a:buFont typeface="Arial" panose="020B0604020202020204" pitchFamily="34" charset="0"/>
              <a:buChar char="•"/>
            </a:pPr>
            <a:r>
              <a:rPr lang="en-GB" sz="2400" dirty="0">
                <a:solidFill>
                  <a:schemeClr val="accent2"/>
                </a:solidFill>
              </a:rPr>
              <a:t>Risk assessment</a:t>
            </a:r>
          </a:p>
          <a:p>
            <a:pPr marL="285750" indent="-285750">
              <a:buFont typeface="Arial" panose="020B0604020202020204" pitchFamily="34" charset="0"/>
              <a:buChar char="•"/>
            </a:pPr>
            <a:r>
              <a:rPr lang="en-GB" sz="2400" dirty="0">
                <a:solidFill>
                  <a:schemeClr val="accent2"/>
                </a:solidFill>
              </a:rPr>
              <a:t>Risk management</a:t>
            </a:r>
          </a:p>
          <a:p>
            <a:pPr marL="285750" indent="-285750">
              <a:buFont typeface="Arial" panose="020B0604020202020204" pitchFamily="34" charset="0"/>
              <a:buChar char="•"/>
            </a:pPr>
            <a:r>
              <a:rPr lang="en-GB" sz="2400" dirty="0">
                <a:solidFill>
                  <a:schemeClr val="accent2"/>
                </a:solidFill>
              </a:rPr>
              <a:t>Process</a:t>
            </a:r>
          </a:p>
          <a:p>
            <a:pPr marL="285750" indent="-285750">
              <a:buFont typeface="Arial" panose="020B0604020202020204" pitchFamily="34" charset="0"/>
              <a:buChar char="•"/>
            </a:pPr>
            <a:r>
              <a:rPr lang="en-GB" sz="2400" dirty="0">
                <a:solidFill>
                  <a:schemeClr val="accent2"/>
                </a:solidFill>
              </a:rPr>
              <a:t>Regulation</a:t>
            </a:r>
          </a:p>
          <a:p>
            <a:endParaRPr lang="en-GB" dirty="0"/>
          </a:p>
        </p:txBody>
      </p:sp>
    </p:spTree>
    <p:extLst>
      <p:ext uri="{BB962C8B-B14F-4D97-AF65-F5344CB8AC3E}">
        <p14:creationId xmlns:p14="http://schemas.microsoft.com/office/powerpoint/2010/main" val="33361866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13</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028651" y="127008"/>
            <a:ext cx="7508832" cy="707886"/>
          </a:xfrm>
          <a:prstGeom prst="rect">
            <a:avLst/>
          </a:prstGeom>
          <a:noFill/>
        </p:spPr>
        <p:txBody>
          <a:bodyPr wrap="square" rtlCol="0">
            <a:spAutoFit/>
          </a:bodyPr>
          <a:lstStyle/>
          <a:p>
            <a:r>
              <a:rPr lang="en-US" sz="4000" dirty="0">
                <a:solidFill>
                  <a:schemeClr val="tx2"/>
                </a:solidFill>
              </a:rPr>
              <a:t>          ESMRM – What and Why</a:t>
            </a:r>
          </a:p>
        </p:txBody>
      </p:sp>
      <p:sp>
        <p:nvSpPr>
          <p:cNvPr id="7" name="Rectangle 6">
            <a:extLst>
              <a:ext uri="{FF2B5EF4-FFF2-40B4-BE49-F238E27FC236}">
                <a16:creationId xmlns="" xmlns:a16="http://schemas.microsoft.com/office/drawing/2014/main" id="{3CD287A6-84DE-BE46-8BBA-EA621E4BEC53}"/>
              </a:ext>
            </a:extLst>
          </p:cNvPr>
          <p:cNvSpPr/>
          <p:nvPr/>
        </p:nvSpPr>
        <p:spPr>
          <a:xfrm>
            <a:off x="83488" y="800475"/>
            <a:ext cx="7611863" cy="1631216"/>
          </a:xfrm>
          <a:prstGeom prst="rect">
            <a:avLst/>
          </a:prstGeom>
        </p:spPr>
        <p:txBody>
          <a:bodyPr wrap="square">
            <a:spAutoFit/>
          </a:bodyPr>
          <a:lstStyle/>
          <a:p>
            <a:r>
              <a:rPr lang="en-US" b="1" dirty="0"/>
              <a:t>Assessment and Management</a:t>
            </a:r>
          </a:p>
          <a:p>
            <a:r>
              <a:rPr lang="en-US" sz="1600" dirty="0"/>
              <a:t>- 75,000 </a:t>
            </a:r>
            <a:r>
              <a:rPr lang="en-US" sz="1600" dirty="0" err="1"/>
              <a:t>lbs</a:t>
            </a:r>
            <a:r>
              <a:rPr lang="en-US" sz="1600" dirty="0"/>
              <a:t> NEW /34,020 kg NEQ</a:t>
            </a:r>
          </a:p>
          <a:p>
            <a:pPr>
              <a:lnSpc>
                <a:spcPct val="100000"/>
              </a:lnSpc>
              <a:spcBef>
                <a:spcPts val="0"/>
              </a:spcBef>
            </a:pPr>
            <a:r>
              <a:rPr lang="en-US" sz="1600" dirty="0"/>
              <a:t>     - 185 personnel affected (port workers)</a:t>
            </a:r>
          </a:p>
          <a:p>
            <a:pPr>
              <a:lnSpc>
                <a:spcPct val="100000"/>
              </a:lnSpc>
              <a:spcBef>
                <a:spcPts val="0"/>
              </a:spcBef>
            </a:pPr>
            <a:r>
              <a:rPr lang="en-US" sz="1600" dirty="0"/>
              <a:t>     - Potential for 10 dead from a munitions mishap</a:t>
            </a:r>
          </a:p>
          <a:p>
            <a:pPr>
              <a:lnSpc>
                <a:spcPct val="100000"/>
              </a:lnSpc>
              <a:spcBef>
                <a:spcPts val="0"/>
              </a:spcBef>
            </a:pPr>
            <a:r>
              <a:rPr lang="en-US" sz="1600" dirty="0"/>
              <a:t>     - 168,112,684 USD /  94,415,868 EURO infrastructure damage</a:t>
            </a:r>
            <a:endParaRPr lang="en-GB" sz="1600" dirty="0">
              <a:solidFill>
                <a:schemeClr val="accent2"/>
              </a:solidFill>
            </a:endParaRPr>
          </a:p>
          <a:p>
            <a:endParaRPr lang="en-GB" dirty="0"/>
          </a:p>
        </p:txBody>
      </p:sp>
      <p:pic>
        <p:nvPicPr>
          <p:cNvPr id="10" name="Picture 9">
            <a:extLst>
              <a:ext uri="{FF2B5EF4-FFF2-40B4-BE49-F238E27FC236}">
                <a16:creationId xmlns="" xmlns:a16="http://schemas.microsoft.com/office/drawing/2014/main" id="{431E3087-38E9-A441-94E1-17175C047DC9}"/>
              </a:ext>
            </a:extLst>
          </p:cNvPr>
          <p:cNvPicPr>
            <a:picLocks noChangeAspect="1"/>
          </p:cNvPicPr>
          <p:nvPr/>
        </p:nvPicPr>
        <p:blipFill>
          <a:blip r:embed="rId3"/>
          <a:stretch>
            <a:fillRect/>
          </a:stretch>
        </p:blipFill>
        <p:spPr>
          <a:xfrm>
            <a:off x="1196076" y="2128080"/>
            <a:ext cx="6111992" cy="3318514"/>
          </a:xfrm>
          <a:prstGeom prst="rect">
            <a:avLst/>
          </a:prstGeom>
        </p:spPr>
      </p:pic>
      <p:sp>
        <p:nvSpPr>
          <p:cNvPr id="2" name="Rectangle 1">
            <a:extLst>
              <a:ext uri="{FF2B5EF4-FFF2-40B4-BE49-F238E27FC236}">
                <a16:creationId xmlns="" xmlns:a16="http://schemas.microsoft.com/office/drawing/2014/main" id="{E1EDD98A-20C5-8A42-A025-0D3AA8E6780C}"/>
              </a:ext>
            </a:extLst>
          </p:cNvPr>
          <p:cNvSpPr/>
          <p:nvPr/>
        </p:nvSpPr>
        <p:spPr>
          <a:xfrm>
            <a:off x="-90153" y="4502200"/>
            <a:ext cx="7959144" cy="1908215"/>
          </a:xfrm>
          <a:prstGeom prst="rect">
            <a:avLst/>
          </a:prstGeom>
        </p:spPr>
        <p:txBody>
          <a:bodyPr wrap="square">
            <a:spAutoFit/>
          </a:bodyPr>
          <a:lstStyle/>
          <a:p>
            <a:pPr marL="342900" indent="-342900">
              <a:lnSpc>
                <a:spcPct val="100000"/>
              </a:lnSpc>
              <a:spcBef>
                <a:spcPts val="0"/>
              </a:spcBef>
              <a:buFontTx/>
              <a:buChar char="-"/>
            </a:pPr>
            <a:endParaRPr lang="en-US" sz="2800" dirty="0"/>
          </a:p>
          <a:p>
            <a:pPr marL="342900" lvl="2" indent="-342900">
              <a:lnSpc>
                <a:spcPct val="100000"/>
              </a:lnSpc>
              <a:spcBef>
                <a:spcPts val="0"/>
              </a:spcBef>
              <a:buFontTx/>
              <a:buChar char="-"/>
            </a:pPr>
            <a:endParaRPr lang="en-US" b="1" dirty="0"/>
          </a:p>
          <a:p>
            <a:pPr marL="0" lvl="2">
              <a:lnSpc>
                <a:spcPct val="100000"/>
              </a:lnSpc>
              <a:spcBef>
                <a:spcPts val="0"/>
              </a:spcBef>
            </a:pPr>
            <a:r>
              <a:rPr lang="en-US" b="1" dirty="0"/>
              <a:t>COAs</a:t>
            </a:r>
          </a:p>
          <a:p>
            <a:pPr marL="0" lvl="2" indent="0">
              <a:lnSpc>
                <a:spcPct val="100000"/>
              </a:lnSpc>
              <a:spcBef>
                <a:spcPts val="0"/>
              </a:spcBef>
              <a:buNone/>
            </a:pPr>
            <a:r>
              <a:rPr lang="en-US" dirty="0"/>
              <a:t>     1. Utilize alternate port location to minimize exposures</a:t>
            </a:r>
          </a:p>
          <a:p>
            <a:pPr marL="0" lvl="2" indent="0">
              <a:lnSpc>
                <a:spcPct val="100000"/>
              </a:lnSpc>
              <a:spcBef>
                <a:spcPts val="0"/>
              </a:spcBef>
              <a:buNone/>
            </a:pPr>
            <a:r>
              <a:rPr lang="en-US" dirty="0"/>
              <a:t>     2. Conduct ops at night (non-duty </a:t>
            </a:r>
            <a:r>
              <a:rPr lang="en-US" dirty="0" err="1"/>
              <a:t>hrs</a:t>
            </a:r>
            <a:r>
              <a:rPr lang="en-US" dirty="0"/>
              <a:t>) to reduce unrelated worker exposures</a:t>
            </a:r>
          </a:p>
          <a:p>
            <a:pPr marL="0" lvl="2" indent="0">
              <a:lnSpc>
                <a:spcPct val="100000"/>
              </a:lnSpc>
              <a:spcBef>
                <a:spcPts val="0"/>
              </a:spcBef>
              <a:buNone/>
            </a:pPr>
            <a:r>
              <a:rPr lang="en-US" dirty="0"/>
              <a:t>     3. Offload munitions directly on trucks for immediate transport</a:t>
            </a:r>
          </a:p>
        </p:txBody>
      </p:sp>
    </p:spTree>
    <p:extLst>
      <p:ext uri="{BB962C8B-B14F-4D97-AF65-F5344CB8AC3E}">
        <p14:creationId xmlns:p14="http://schemas.microsoft.com/office/powerpoint/2010/main" val="17722313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14</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836678" y="81292"/>
            <a:ext cx="7508832" cy="769441"/>
          </a:xfrm>
          <a:prstGeom prst="rect">
            <a:avLst/>
          </a:prstGeom>
          <a:noFill/>
        </p:spPr>
        <p:txBody>
          <a:bodyPr wrap="square" rtlCol="0">
            <a:spAutoFit/>
          </a:bodyPr>
          <a:lstStyle/>
          <a:p>
            <a:r>
              <a:rPr lang="en-US" sz="4400" dirty="0">
                <a:solidFill>
                  <a:schemeClr val="tx2"/>
                </a:solidFill>
              </a:rPr>
              <a:t>          ESMRM – What &amp; Why</a:t>
            </a:r>
          </a:p>
        </p:txBody>
      </p:sp>
      <p:sp>
        <p:nvSpPr>
          <p:cNvPr id="7" name="Rectangle 6">
            <a:extLst>
              <a:ext uri="{FF2B5EF4-FFF2-40B4-BE49-F238E27FC236}">
                <a16:creationId xmlns="" xmlns:a16="http://schemas.microsoft.com/office/drawing/2014/main" id="{3CD287A6-84DE-BE46-8BBA-EA621E4BEC53}"/>
              </a:ext>
            </a:extLst>
          </p:cNvPr>
          <p:cNvSpPr/>
          <p:nvPr/>
        </p:nvSpPr>
        <p:spPr>
          <a:xfrm>
            <a:off x="733647" y="998481"/>
            <a:ext cx="7611863" cy="2215991"/>
          </a:xfrm>
          <a:prstGeom prst="rect">
            <a:avLst/>
          </a:prstGeom>
        </p:spPr>
        <p:txBody>
          <a:bodyPr wrap="square">
            <a:spAutoFit/>
          </a:bodyPr>
          <a:lstStyle/>
          <a:p>
            <a:r>
              <a:rPr lang="en-GB" sz="2400" b="1" dirty="0">
                <a:solidFill>
                  <a:schemeClr val="accent2"/>
                </a:solidFill>
              </a:rPr>
              <a:t>What</a:t>
            </a:r>
            <a:r>
              <a:rPr lang="en-GB" sz="2400" dirty="0">
                <a:solidFill>
                  <a:schemeClr val="accent2"/>
                </a:solidFill>
              </a:rPr>
              <a:t> </a:t>
            </a:r>
          </a:p>
          <a:p>
            <a:pPr marL="285750" indent="-285750">
              <a:buFont typeface="Arial" panose="020B0604020202020204" pitchFamily="34" charset="0"/>
              <a:buChar char="•"/>
            </a:pPr>
            <a:r>
              <a:rPr lang="en-GB" sz="2400" dirty="0">
                <a:solidFill>
                  <a:schemeClr val="accent4"/>
                </a:solidFill>
              </a:rPr>
              <a:t>Risk assessment</a:t>
            </a:r>
          </a:p>
          <a:p>
            <a:pPr marL="285750" indent="-285750">
              <a:buFont typeface="Arial" panose="020B0604020202020204" pitchFamily="34" charset="0"/>
              <a:buChar char="•"/>
            </a:pPr>
            <a:r>
              <a:rPr lang="en-GB" sz="2400" dirty="0">
                <a:solidFill>
                  <a:schemeClr val="accent4"/>
                </a:solidFill>
              </a:rPr>
              <a:t>Risk management</a:t>
            </a:r>
          </a:p>
          <a:p>
            <a:pPr marL="285750" indent="-285750">
              <a:buFont typeface="Arial" panose="020B0604020202020204" pitchFamily="34" charset="0"/>
              <a:buChar char="•"/>
            </a:pPr>
            <a:r>
              <a:rPr lang="en-GB" sz="2400" dirty="0">
                <a:solidFill>
                  <a:schemeClr val="accent2"/>
                </a:solidFill>
              </a:rPr>
              <a:t>Process</a:t>
            </a:r>
          </a:p>
          <a:p>
            <a:pPr marL="285750" indent="-285750">
              <a:buFont typeface="Arial" panose="020B0604020202020204" pitchFamily="34" charset="0"/>
              <a:buChar char="•"/>
            </a:pPr>
            <a:r>
              <a:rPr lang="en-GB" sz="2400" dirty="0">
                <a:solidFill>
                  <a:schemeClr val="accent5"/>
                </a:solidFill>
              </a:rPr>
              <a:t>Regulation</a:t>
            </a:r>
          </a:p>
          <a:p>
            <a:endParaRPr lang="en-GB" dirty="0"/>
          </a:p>
        </p:txBody>
      </p:sp>
    </p:spTree>
    <p:extLst>
      <p:ext uri="{BB962C8B-B14F-4D97-AF65-F5344CB8AC3E}">
        <p14:creationId xmlns:p14="http://schemas.microsoft.com/office/powerpoint/2010/main" val="9254621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9" name="TextBox 8"/>
          <p:cNvSpPr txBox="1"/>
          <p:nvPr/>
        </p:nvSpPr>
        <p:spPr>
          <a:xfrm>
            <a:off x="123263" y="-89995"/>
            <a:ext cx="8081010" cy="707886"/>
          </a:xfrm>
          <a:prstGeom prst="rect">
            <a:avLst/>
          </a:prstGeom>
          <a:noFill/>
        </p:spPr>
        <p:txBody>
          <a:bodyPr wrap="square" rtlCol="0">
            <a:spAutoFit/>
          </a:bodyPr>
          <a:lstStyle/>
          <a:p>
            <a:pPr algn="ctr"/>
            <a:r>
              <a:rPr lang="en-US" sz="4000" dirty="0">
                <a:solidFill>
                  <a:schemeClr val="tx2"/>
                </a:solidFill>
              </a:rPr>
              <a:t>ESMRM Process</a:t>
            </a:r>
          </a:p>
        </p:txBody>
      </p:sp>
      <p:sp>
        <p:nvSpPr>
          <p:cNvPr id="8" name="Rectangle 7">
            <a:extLst>
              <a:ext uri="{FF2B5EF4-FFF2-40B4-BE49-F238E27FC236}">
                <a16:creationId xmlns="" xmlns:a16="http://schemas.microsoft.com/office/drawing/2014/main" id="{0763BEDE-5029-0C4C-BD1C-FF0626B2E1D6}"/>
              </a:ext>
            </a:extLst>
          </p:cNvPr>
          <p:cNvSpPr/>
          <p:nvPr/>
        </p:nvSpPr>
        <p:spPr>
          <a:xfrm>
            <a:off x="876710" y="604801"/>
            <a:ext cx="1884784" cy="493589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 xmlns:a16="http://schemas.microsoft.com/office/drawing/2014/main" id="{459329C9-1441-8240-B5E6-C45A75266A36}"/>
              </a:ext>
            </a:extLst>
          </p:cNvPr>
          <p:cNvSpPr/>
          <p:nvPr/>
        </p:nvSpPr>
        <p:spPr>
          <a:xfrm>
            <a:off x="1114640" y="754092"/>
            <a:ext cx="1408923" cy="142758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 xmlns:a16="http://schemas.microsoft.com/office/drawing/2014/main" id="{10744F1A-D8E0-F04B-9C02-158AEB5109B2}"/>
              </a:ext>
            </a:extLst>
          </p:cNvPr>
          <p:cNvSpPr/>
          <p:nvPr/>
        </p:nvSpPr>
        <p:spPr>
          <a:xfrm>
            <a:off x="1114640" y="2330967"/>
            <a:ext cx="1408923" cy="1427584"/>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 xmlns:a16="http://schemas.microsoft.com/office/drawing/2014/main" id="{283448B2-A559-1C48-9EC1-7D2D421A5495}"/>
              </a:ext>
            </a:extLst>
          </p:cNvPr>
          <p:cNvSpPr/>
          <p:nvPr/>
        </p:nvSpPr>
        <p:spPr>
          <a:xfrm>
            <a:off x="1114639" y="3935831"/>
            <a:ext cx="1408923" cy="1427584"/>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own Arrow 13">
            <a:extLst>
              <a:ext uri="{FF2B5EF4-FFF2-40B4-BE49-F238E27FC236}">
                <a16:creationId xmlns="" xmlns:a16="http://schemas.microsoft.com/office/drawing/2014/main" id="{12C139C0-0211-DA45-A776-2A1CA0B66723}"/>
              </a:ext>
            </a:extLst>
          </p:cNvPr>
          <p:cNvSpPr/>
          <p:nvPr/>
        </p:nvSpPr>
        <p:spPr>
          <a:xfrm>
            <a:off x="123263" y="754092"/>
            <a:ext cx="634482" cy="4550765"/>
          </a:xfrm>
          <a:prstGeom prst="downArrow">
            <a:avLst/>
          </a:prstGeom>
          <a:gradFill flip="none" rotWithShape="1">
            <a:gsLst>
              <a:gs pos="0">
                <a:srgbClr val="FF0000"/>
              </a:gs>
              <a:gs pos="50000">
                <a:srgbClr val="FFC000"/>
              </a:gs>
              <a:gs pos="100000">
                <a:srgbClr val="92D05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 xmlns:a16="http://schemas.microsoft.com/office/drawing/2014/main" id="{28086424-087A-CB43-82FD-597F95D4AA16}"/>
              </a:ext>
            </a:extLst>
          </p:cNvPr>
          <p:cNvSpPr txBox="1"/>
          <p:nvPr/>
        </p:nvSpPr>
        <p:spPr>
          <a:xfrm>
            <a:off x="2999423" y="617174"/>
            <a:ext cx="5910944" cy="1477328"/>
          </a:xfrm>
          <a:prstGeom prst="rect">
            <a:avLst/>
          </a:prstGeom>
          <a:noFill/>
        </p:spPr>
        <p:txBody>
          <a:bodyPr wrap="square" rtlCol="0">
            <a:spAutoFit/>
          </a:bodyPr>
          <a:lstStyle/>
          <a:p>
            <a:r>
              <a:rPr lang="en-GB" dirty="0">
                <a:solidFill>
                  <a:srgbClr val="FF0000"/>
                </a:solidFill>
              </a:rPr>
              <a:t>Potential Mission Impact</a:t>
            </a:r>
            <a:r>
              <a:rPr lang="en-GB" dirty="0"/>
              <a:t>:</a:t>
            </a:r>
          </a:p>
          <a:p>
            <a:pPr marL="285750" indent="-285750">
              <a:buFont typeface="Arial" panose="020B0604020202020204" pitchFamily="34" charset="0"/>
              <a:buChar char="•"/>
            </a:pPr>
            <a:r>
              <a:rPr lang="en-GB" dirty="0"/>
              <a:t>Munitions Safety issues identified during operations planning or execution   -</a:t>
            </a:r>
            <a:r>
              <a:rPr lang="en-GB" i="1" dirty="0"/>
              <a:t> unintended explosive events, public safety, secondary hazards, distribution issues… </a:t>
            </a:r>
            <a:r>
              <a:rPr lang="en-GB" b="1" dirty="0"/>
              <a:t>ESMRM Assessment required</a:t>
            </a:r>
          </a:p>
        </p:txBody>
      </p:sp>
      <p:sp>
        <p:nvSpPr>
          <p:cNvPr id="16" name="TextBox 15">
            <a:extLst>
              <a:ext uri="{FF2B5EF4-FFF2-40B4-BE49-F238E27FC236}">
                <a16:creationId xmlns="" xmlns:a16="http://schemas.microsoft.com/office/drawing/2014/main" id="{7B637ABF-7046-AE4B-8BA8-B8724F906685}"/>
              </a:ext>
            </a:extLst>
          </p:cNvPr>
          <p:cNvSpPr txBox="1"/>
          <p:nvPr/>
        </p:nvSpPr>
        <p:spPr>
          <a:xfrm>
            <a:off x="2999423" y="2512457"/>
            <a:ext cx="3436325" cy="1477328"/>
          </a:xfrm>
          <a:prstGeom prst="rect">
            <a:avLst/>
          </a:prstGeom>
          <a:noFill/>
        </p:spPr>
        <p:txBody>
          <a:bodyPr wrap="none" rtlCol="0">
            <a:spAutoFit/>
          </a:bodyPr>
          <a:lstStyle/>
          <a:p>
            <a:r>
              <a:rPr lang="en-GB" dirty="0">
                <a:solidFill>
                  <a:srgbClr val="BD8628"/>
                </a:solidFill>
              </a:rPr>
              <a:t>Develop Solutions</a:t>
            </a:r>
            <a:r>
              <a:rPr lang="en-GB" dirty="0"/>
              <a:t>:</a:t>
            </a:r>
          </a:p>
          <a:p>
            <a:pPr marL="285750" indent="-285750">
              <a:buFont typeface="Arial" panose="020B0604020202020204" pitchFamily="34" charset="0"/>
              <a:buChar char="•"/>
            </a:pPr>
            <a:r>
              <a:rPr lang="en-GB" dirty="0"/>
              <a:t>Risk Analysis</a:t>
            </a:r>
          </a:p>
          <a:p>
            <a:pPr marL="285750" indent="-285750">
              <a:buFont typeface="Arial" panose="020B0604020202020204" pitchFamily="34" charset="0"/>
              <a:buChar char="•"/>
            </a:pPr>
            <a:r>
              <a:rPr lang="en-GB" dirty="0"/>
              <a:t>Risk Reduction COAs developed</a:t>
            </a:r>
          </a:p>
          <a:p>
            <a:pPr marL="285750" indent="-285750">
              <a:buFont typeface="Arial" panose="020B0604020202020204" pitchFamily="34" charset="0"/>
              <a:buChar char="•"/>
            </a:pPr>
            <a:r>
              <a:rPr lang="en-GB" dirty="0"/>
              <a:t>Commander’s risk decision</a:t>
            </a:r>
          </a:p>
          <a:p>
            <a:pPr marL="285750" indent="-285750">
              <a:buFont typeface="Arial" panose="020B0604020202020204" pitchFamily="34" charset="0"/>
              <a:buChar char="•"/>
            </a:pPr>
            <a:endParaRPr lang="en-GB" dirty="0"/>
          </a:p>
        </p:txBody>
      </p:sp>
      <p:sp>
        <p:nvSpPr>
          <p:cNvPr id="17" name="TextBox 16">
            <a:extLst>
              <a:ext uri="{FF2B5EF4-FFF2-40B4-BE49-F238E27FC236}">
                <a16:creationId xmlns="" xmlns:a16="http://schemas.microsoft.com/office/drawing/2014/main" id="{A26051C3-57DF-E04D-98F1-69D078BEE306}"/>
              </a:ext>
            </a:extLst>
          </p:cNvPr>
          <p:cNvSpPr txBox="1"/>
          <p:nvPr/>
        </p:nvSpPr>
        <p:spPr>
          <a:xfrm>
            <a:off x="2999423" y="4104528"/>
            <a:ext cx="2849947" cy="1477328"/>
          </a:xfrm>
          <a:prstGeom prst="rect">
            <a:avLst/>
          </a:prstGeom>
          <a:noFill/>
        </p:spPr>
        <p:txBody>
          <a:bodyPr wrap="none" rtlCol="0">
            <a:spAutoFit/>
          </a:bodyPr>
          <a:lstStyle/>
          <a:p>
            <a:r>
              <a:rPr lang="en-GB" dirty="0">
                <a:solidFill>
                  <a:srgbClr val="00B050"/>
                </a:solidFill>
              </a:rPr>
              <a:t>Solution in Place</a:t>
            </a:r>
            <a:r>
              <a:rPr lang="en-GB" dirty="0"/>
              <a:t>:</a:t>
            </a:r>
          </a:p>
          <a:p>
            <a:pPr marL="285750" indent="-285750">
              <a:buFont typeface="Arial" panose="020B0604020202020204" pitchFamily="34" charset="0"/>
              <a:buChar char="•"/>
            </a:pPr>
            <a:r>
              <a:rPr lang="en-GB" dirty="0"/>
              <a:t>Apply mitigation</a:t>
            </a:r>
          </a:p>
          <a:p>
            <a:pPr marL="285750" indent="-285750">
              <a:buFont typeface="Arial" panose="020B0604020202020204" pitchFamily="34" charset="0"/>
              <a:buChar char="•"/>
            </a:pPr>
            <a:r>
              <a:rPr lang="en-GB" dirty="0"/>
              <a:t>Manage mitigation</a:t>
            </a:r>
          </a:p>
          <a:p>
            <a:pPr marL="285750" indent="-285750">
              <a:buFont typeface="Arial" panose="020B0604020202020204" pitchFamily="34" charset="0"/>
              <a:buChar char="•"/>
            </a:pPr>
            <a:r>
              <a:rPr lang="en-GB" dirty="0"/>
              <a:t>Ongoing Assessment……..</a:t>
            </a:r>
          </a:p>
          <a:p>
            <a:pPr marL="285750" indent="-285750">
              <a:buFont typeface="Arial" panose="020B0604020202020204" pitchFamily="34" charset="0"/>
              <a:buChar char="•"/>
            </a:pPr>
            <a:endParaRPr lang="en-GB" dirty="0"/>
          </a:p>
        </p:txBody>
      </p:sp>
      <p:sp>
        <p:nvSpPr>
          <p:cNvPr id="19" name="Bent-Up Arrow 18">
            <a:extLst>
              <a:ext uri="{FF2B5EF4-FFF2-40B4-BE49-F238E27FC236}">
                <a16:creationId xmlns="" xmlns:a16="http://schemas.microsoft.com/office/drawing/2014/main" id="{6F8CADF0-3E50-924E-8E1A-81C9EA291A89}"/>
              </a:ext>
            </a:extLst>
          </p:cNvPr>
          <p:cNvSpPr/>
          <p:nvPr/>
        </p:nvSpPr>
        <p:spPr>
          <a:xfrm>
            <a:off x="5837031" y="2311615"/>
            <a:ext cx="1896215" cy="2893871"/>
          </a:xfrm>
          <a:prstGeom prst="bentUpArrow">
            <a:avLst>
              <a:gd name="adj1" fmla="val 9211"/>
              <a:gd name="adj2" fmla="val 11432"/>
              <a:gd name="adj3" fmla="val 40789"/>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 xmlns:a16="http://schemas.microsoft.com/office/drawing/2014/main" id="{F5D5B1CA-08F3-9C42-A69C-E286334170D0}"/>
              </a:ext>
            </a:extLst>
          </p:cNvPr>
          <p:cNvSpPr txBox="1"/>
          <p:nvPr/>
        </p:nvSpPr>
        <p:spPr>
          <a:xfrm>
            <a:off x="858583" y="5578700"/>
            <a:ext cx="7077634" cy="707886"/>
          </a:xfrm>
          <a:prstGeom prst="rect">
            <a:avLst/>
          </a:prstGeom>
          <a:solidFill>
            <a:schemeClr val="tx1">
              <a:lumMod val="50000"/>
              <a:lumOff val="50000"/>
            </a:schemeClr>
          </a:solidFill>
        </p:spPr>
        <p:txBody>
          <a:bodyPr wrap="square" rtlCol="0">
            <a:spAutoFit/>
          </a:bodyPr>
          <a:lstStyle/>
          <a:p>
            <a:pPr algn="ctr"/>
            <a:r>
              <a:rPr lang="en-US" sz="2000" b="1" dirty="0">
                <a:solidFill>
                  <a:srgbClr val="F0F0F0"/>
                </a:solidFill>
              </a:rPr>
              <a:t>Using the </a:t>
            </a:r>
            <a:r>
              <a:rPr lang="en-US" sz="2000" b="1" dirty="0">
                <a:solidFill>
                  <a:srgbClr val="FFFF00"/>
                </a:solidFill>
              </a:rPr>
              <a:t>ESMRM Process</a:t>
            </a:r>
            <a:r>
              <a:rPr lang="en-US" sz="2000" b="1" dirty="0">
                <a:solidFill>
                  <a:srgbClr val="F0F0F0"/>
                </a:solidFill>
              </a:rPr>
              <a:t> during mission planning and execution </a:t>
            </a:r>
          </a:p>
          <a:p>
            <a:pPr algn="ctr"/>
            <a:r>
              <a:rPr lang="en-US" sz="2000" b="1" dirty="0">
                <a:solidFill>
                  <a:srgbClr val="F0F0F0"/>
                </a:solidFill>
              </a:rPr>
              <a:t>directly contributes to </a:t>
            </a:r>
            <a:r>
              <a:rPr lang="en-US" sz="2000" b="1" dirty="0">
                <a:solidFill>
                  <a:srgbClr val="FFFF00"/>
                </a:solidFill>
              </a:rPr>
              <a:t>Mission success </a:t>
            </a:r>
          </a:p>
        </p:txBody>
      </p:sp>
    </p:spTree>
    <p:extLst>
      <p:ext uri="{BB962C8B-B14F-4D97-AF65-F5344CB8AC3E}">
        <p14:creationId xmlns:p14="http://schemas.microsoft.com/office/powerpoint/2010/main" val="13914828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16</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2" name="TextBox 1"/>
          <p:cNvSpPr txBox="1"/>
          <p:nvPr/>
        </p:nvSpPr>
        <p:spPr>
          <a:xfrm>
            <a:off x="-84079" y="-33370"/>
            <a:ext cx="8532620" cy="707886"/>
          </a:xfrm>
          <a:prstGeom prst="rect">
            <a:avLst/>
          </a:prstGeom>
          <a:noFill/>
        </p:spPr>
        <p:txBody>
          <a:bodyPr wrap="square" rtlCol="0">
            <a:spAutoFit/>
          </a:bodyPr>
          <a:lstStyle/>
          <a:p>
            <a:pPr algn="ctr"/>
            <a:r>
              <a:rPr lang="en-US" sz="4000" dirty="0">
                <a:solidFill>
                  <a:schemeClr val="tx2"/>
                </a:solidFill>
              </a:rPr>
              <a:t>            </a:t>
            </a:r>
            <a:r>
              <a:rPr lang="en-US" sz="4000" dirty="0">
                <a:solidFill>
                  <a:schemeClr val="tx2"/>
                </a:solidFill>
                <a:hlinkClick r:id="rId3" action="ppaction://hlinkfile"/>
              </a:rPr>
              <a:t>VIDEO – Port Scenario</a:t>
            </a:r>
            <a:endParaRPr lang="en-US" sz="4000" dirty="0">
              <a:solidFill>
                <a:schemeClr val="tx2"/>
              </a:solidFill>
            </a:endParaRPr>
          </a:p>
        </p:txBody>
      </p:sp>
    </p:spTree>
    <p:extLst>
      <p:ext uri="{BB962C8B-B14F-4D97-AF65-F5344CB8AC3E}">
        <p14:creationId xmlns:p14="http://schemas.microsoft.com/office/powerpoint/2010/main" val="38482655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3646" y="1198329"/>
            <a:ext cx="7953153" cy="4935600"/>
          </a:xfrm>
        </p:spPr>
        <p:txBody>
          <a:bodyPr/>
          <a:lstStyle/>
          <a:p>
            <a:pPr marL="342900" indent="-342900">
              <a:spcAft>
                <a:spcPts val="2400"/>
              </a:spcAft>
              <a:buFont typeface="Arial" panose="020B0604020202020204" pitchFamily="34" charset="0"/>
              <a:buChar char="•"/>
            </a:pPr>
            <a:r>
              <a:rPr lang="en-US" sz="2400" dirty="0"/>
              <a:t>Basic illustration of things can go wrong with munitions</a:t>
            </a:r>
          </a:p>
          <a:p>
            <a:pPr marL="342900" indent="-342900">
              <a:spcAft>
                <a:spcPts val="2400"/>
              </a:spcAft>
              <a:buFont typeface="Arial" panose="020B0604020202020204" pitchFamily="34" charset="0"/>
              <a:buChar char="•"/>
            </a:pPr>
            <a:r>
              <a:rPr lang="en-US" sz="2400" dirty="0"/>
              <a:t>Identifies the requirement for assessing risk</a:t>
            </a:r>
          </a:p>
          <a:p>
            <a:pPr marL="342900" indent="-342900">
              <a:spcAft>
                <a:spcPts val="2400"/>
              </a:spcAft>
              <a:buFont typeface="Arial" panose="020B0604020202020204" pitchFamily="34" charset="0"/>
              <a:buChar char="•"/>
            </a:pPr>
            <a:r>
              <a:rPr lang="en-US" sz="2400" dirty="0"/>
              <a:t>Demonstrates the need for SMEs</a:t>
            </a:r>
          </a:p>
          <a:p>
            <a:pPr marL="342900" indent="-342900">
              <a:spcAft>
                <a:spcPts val="2400"/>
              </a:spcAft>
              <a:buFont typeface="Arial" panose="020B0604020202020204" pitchFamily="34" charset="0"/>
              <a:buChar char="•"/>
            </a:pPr>
            <a:r>
              <a:rPr lang="en-US" sz="2400" dirty="0"/>
              <a:t>Unintended explosive event at Tactical Level could  have Strategic implications</a:t>
            </a:r>
          </a:p>
          <a:p>
            <a:endParaRPr lang="en-US" sz="2400" dirty="0"/>
          </a:p>
        </p:txBody>
      </p:sp>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17</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2275366" y="18543"/>
            <a:ext cx="4869711" cy="707886"/>
          </a:xfrm>
          <a:prstGeom prst="rect">
            <a:avLst/>
          </a:prstGeom>
          <a:noFill/>
        </p:spPr>
        <p:txBody>
          <a:bodyPr wrap="square" rtlCol="0">
            <a:spAutoFit/>
          </a:bodyPr>
          <a:lstStyle/>
          <a:p>
            <a:r>
              <a:rPr lang="en-US" sz="4000" dirty="0">
                <a:solidFill>
                  <a:schemeClr val="tx2"/>
                </a:solidFill>
              </a:rPr>
              <a:t>Video Discussion</a:t>
            </a:r>
          </a:p>
        </p:txBody>
      </p:sp>
    </p:spTree>
    <p:extLst>
      <p:ext uri="{BB962C8B-B14F-4D97-AF65-F5344CB8AC3E}">
        <p14:creationId xmlns:p14="http://schemas.microsoft.com/office/powerpoint/2010/main" val="5679026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18</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036524" y="142847"/>
            <a:ext cx="7508832" cy="707886"/>
          </a:xfrm>
          <a:prstGeom prst="rect">
            <a:avLst/>
          </a:prstGeom>
          <a:noFill/>
        </p:spPr>
        <p:txBody>
          <a:bodyPr wrap="square" rtlCol="0">
            <a:spAutoFit/>
          </a:bodyPr>
          <a:lstStyle/>
          <a:p>
            <a:r>
              <a:rPr lang="en-US" sz="4000" dirty="0">
                <a:solidFill>
                  <a:schemeClr val="tx2"/>
                </a:solidFill>
              </a:rPr>
              <a:t>          ESMRM – What &amp; Why</a:t>
            </a:r>
          </a:p>
        </p:txBody>
      </p:sp>
      <p:sp>
        <p:nvSpPr>
          <p:cNvPr id="7" name="Rectangle 6">
            <a:extLst>
              <a:ext uri="{FF2B5EF4-FFF2-40B4-BE49-F238E27FC236}">
                <a16:creationId xmlns="" xmlns:a16="http://schemas.microsoft.com/office/drawing/2014/main" id="{3CD287A6-84DE-BE46-8BBA-EA621E4BEC53}"/>
              </a:ext>
            </a:extLst>
          </p:cNvPr>
          <p:cNvSpPr/>
          <p:nvPr/>
        </p:nvSpPr>
        <p:spPr>
          <a:xfrm>
            <a:off x="733647" y="998481"/>
            <a:ext cx="7611863" cy="2215991"/>
          </a:xfrm>
          <a:prstGeom prst="rect">
            <a:avLst/>
          </a:prstGeom>
        </p:spPr>
        <p:txBody>
          <a:bodyPr wrap="square">
            <a:spAutoFit/>
          </a:bodyPr>
          <a:lstStyle/>
          <a:p>
            <a:r>
              <a:rPr lang="en-GB" sz="2400" b="1" dirty="0">
                <a:solidFill>
                  <a:schemeClr val="accent2"/>
                </a:solidFill>
              </a:rPr>
              <a:t>What</a:t>
            </a:r>
            <a:r>
              <a:rPr lang="en-GB" sz="2400" dirty="0">
                <a:solidFill>
                  <a:schemeClr val="accent2"/>
                </a:solidFill>
              </a:rPr>
              <a:t> </a:t>
            </a:r>
          </a:p>
          <a:p>
            <a:pPr marL="285750" indent="-285750">
              <a:buFont typeface="Arial" panose="020B0604020202020204" pitchFamily="34" charset="0"/>
              <a:buChar char="•"/>
            </a:pPr>
            <a:r>
              <a:rPr lang="en-GB" sz="2400" dirty="0">
                <a:solidFill>
                  <a:schemeClr val="accent4"/>
                </a:solidFill>
              </a:rPr>
              <a:t>Risk assessment</a:t>
            </a:r>
          </a:p>
          <a:p>
            <a:pPr marL="285750" indent="-285750">
              <a:buFont typeface="Arial" panose="020B0604020202020204" pitchFamily="34" charset="0"/>
              <a:buChar char="•"/>
            </a:pPr>
            <a:r>
              <a:rPr lang="en-GB" sz="2400" dirty="0">
                <a:solidFill>
                  <a:schemeClr val="accent4"/>
                </a:solidFill>
              </a:rPr>
              <a:t>Risk management</a:t>
            </a:r>
          </a:p>
          <a:p>
            <a:pPr marL="285750" indent="-285750">
              <a:buFont typeface="Arial" panose="020B0604020202020204" pitchFamily="34" charset="0"/>
              <a:buChar char="•"/>
            </a:pPr>
            <a:r>
              <a:rPr lang="en-GB" sz="2400" dirty="0">
                <a:solidFill>
                  <a:schemeClr val="accent5">
                    <a:lumMod val="75000"/>
                  </a:schemeClr>
                </a:solidFill>
              </a:rPr>
              <a:t>Process</a:t>
            </a:r>
          </a:p>
          <a:p>
            <a:pPr marL="285750" indent="-285750">
              <a:buFont typeface="Arial" panose="020B0604020202020204" pitchFamily="34" charset="0"/>
              <a:buChar char="•"/>
            </a:pPr>
            <a:r>
              <a:rPr lang="en-GB" sz="2400" dirty="0">
                <a:solidFill>
                  <a:schemeClr val="accent2"/>
                </a:solidFill>
              </a:rPr>
              <a:t>Regulation</a:t>
            </a:r>
          </a:p>
          <a:p>
            <a:endParaRPr lang="en-GB" dirty="0"/>
          </a:p>
        </p:txBody>
      </p:sp>
      <p:sp>
        <p:nvSpPr>
          <p:cNvPr id="2" name="TextBox 1">
            <a:extLst>
              <a:ext uri="{FF2B5EF4-FFF2-40B4-BE49-F238E27FC236}">
                <a16:creationId xmlns="" xmlns:a16="http://schemas.microsoft.com/office/drawing/2014/main" id="{4AAC3EDA-3D78-654C-B879-D55DDC3BD031}"/>
              </a:ext>
            </a:extLst>
          </p:cNvPr>
          <p:cNvSpPr txBox="1"/>
          <p:nvPr/>
        </p:nvSpPr>
        <p:spPr>
          <a:xfrm>
            <a:off x="1648495" y="3159025"/>
            <a:ext cx="3621504" cy="461665"/>
          </a:xfrm>
          <a:prstGeom prst="rect">
            <a:avLst/>
          </a:prstGeom>
          <a:noFill/>
        </p:spPr>
        <p:txBody>
          <a:bodyPr wrap="none" rtlCol="0">
            <a:spAutoFit/>
          </a:bodyPr>
          <a:lstStyle/>
          <a:p>
            <a:pPr marL="342900" indent="-342900">
              <a:buFont typeface="Arial" panose="020B0604020202020204" pitchFamily="34" charset="0"/>
              <a:buChar char="•"/>
            </a:pPr>
            <a:r>
              <a:rPr lang="en-GB" sz="2400" dirty="0"/>
              <a:t>Provided through ALP 16</a:t>
            </a:r>
          </a:p>
        </p:txBody>
      </p:sp>
    </p:spTree>
    <p:extLst>
      <p:ext uri="{BB962C8B-B14F-4D97-AF65-F5344CB8AC3E}">
        <p14:creationId xmlns:p14="http://schemas.microsoft.com/office/powerpoint/2010/main" val="21423784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19</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107135" y="74324"/>
            <a:ext cx="7508832" cy="707886"/>
          </a:xfrm>
          <a:prstGeom prst="rect">
            <a:avLst/>
          </a:prstGeom>
          <a:noFill/>
        </p:spPr>
        <p:txBody>
          <a:bodyPr wrap="square" rtlCol="0">
            <a:spAutoFit/>
          </a:bodyPr>
          <a:lstStyle/>
          <a:p>
            <a:r>
              <a:rPr lang="en-US" sz="4000" dirty="0">
                <a:solidFill>
                  <a:schemeClr val="tx2"/>
                </a:solidFill>
              </a:rPr>
              <a:t>          ESMRM – What &amp; Why</a:t>
            </a:r>
          </a:p>
        </p:txBody>
      </p:sp>
      <p:sp>
        <p:nvSpPr>
          <p:cNvPr id="7" name="Rectangle 6">
            <a:extLst>
              <a:ext uri="{FF2B5EF4-FFF2-40B4-BE49-F238E27FC236}">
                <a16:creationId xmlns="" xmlns:a16="http://schemas.microsoft.com/office/drawing/2014/main" id="{3CD287A6-84DE-BE46-8BBA-EA621E4BEC53}"/>
              </a:ext>
            </a:extLst>
          </p:cNvPr>
          <p:cNvSpPr/>
          <p:nvPr/>
        </p:nvSpPr>
        <p:spPr>
          <a:xfrm>
            <a:off x="733647" y="998481"/>
            <a:ext cx="7611863" cy="5170646"/>
          </a:xfrm>
          <a:prstGeom prst="rect">
            <a:avLst/>
          </a:prstGeom>
        </p:spPr>
        <p:txBody>
          <a:bodyPr wrap="square">
            <a:spAutoFit/>
          </a:bodyPr>
          <a:lstStyle/>
          <a:p>
            <a:r>
              <a:rPr lang="en-GB" sz="2400" b="1" dirty="0">
                <a:solidFill>
                  <a:schemeClr val="accent2"/>
                </a:solidFill>
              </a:rPr>
              <a:t>Why</a:t>
            </a:r>
          </a:p>
          <a:p>
            <a:endParaRPr lang="en-GB" sz="2400" b="1" dirty="0">
              <a:solidFill>
                <a:schemeClr val="accent2"/>
              </a:solidFill>
            </a:endParaRPr>
          </a:p>
          <a:p>
            <a:pPr marL="342900" indent="-342900">
              <a:buFont typeface="Arial" panose="020B0604020202020204" pitchFamily="34" charset="0"/>
              <a:buChar char="•"/>
            </a:pPr>
            <a:r>
              <a:rPr lang="en-GB" sz="2400" dirty="0">
                <a:solidFill>
                  <a:schemeClr val="accent2"/>
                </a:solidFill>
              </a:rPr>
              <a:t>AASTP-5, “NATO Guidelines for the Storage, Maintenance and Transport of Ammunition on Deployed Missions or Operations</a:t>
            </a:r>
          </a:p>
          <a:p>
            <a:endParaRPr lang="en-GB" sz="2400" dirty="0">
              <a:solidFill>
                <a:schemeClr val="accent2"/>
              </a:solidFill>
            </a:endParaRPr>
          </a:p>
          <a:p>
            <a:pPr marL="342900" indent="-342900">
              <a:buFont typeface="Arial" panose="020B0604020202020204" pitchFamily="34" charset="0"/>
              <a:buChar char="•"/>
            </a:pPr>
            <a:r>
              <a:rPr lang="en-GB" sz="2400" dirty="0">
                <a:solidFill>
                  <a:schemeClr val="accent2"/>
                </a:solidFill>
              </a:rPr>
              <a:t>Afghan campaign highlighted critical safety issues in explosives safety and a Capability Gap in explosives safety risk management</a:t>
            </a:r>
          </a:p>
          <a:p>
            <a:endParaRPr lang="en-GB" sz="2400" dirty="0">
              <a:solidFill>
                <a:schemeClr val="accent2"/>
              </a:solidFill>
            </a:endParaRPr>
          </a:p>
          <a:p>
            <a:pPr marL="342900" indent="-342900">
              <a:buFont typeface="Arial" panose="020B0604020202020204" pitchFamily="34" charset="0"/>
              <a:buChar char="•"/>
            </a:pPr>
            <a:endParaRPr lang="en-US"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endParaRPr lang="en-GB" dirty="0"/>
          </a:p>
        </p:txBody>
      </p:sp>
      <p:sp>
        <p:nvSpPr>
          <p:cNvPr id="3" name="TextBox 2">
            <a:extLst>
              <a:ext uri="{FF2B5EF4-FFF2-40B4-BE49-F238E27FC236}">
                <a16:creationId xmlns="" xmlns:a16="http://schemas.microsoft.com/office/drawing/2014/main" id="{19C3EC21-AC37-F540-AD97-D127F5382525}"/>
              </a:ext>
            </a:extLst>
          </p:cNvPr>
          <p:cNvSpPr txBox="1"/>
          <p:nvPr/>
        </p:nvSpPr>
        <p:spPr>
          <a:xfrm rot="20126522">
            <a:off x="3129566" y="1856319"/>
            <a:ext cx="2173865" cy="584775"/>
          </a:xfrm>
          <a:prstGeom prst="rect">
            <a:avLst/>
          </a:prstGeom>
          <a:noFill/>
        </p:spPr>
        <p:txBody>
          <a:bodyPr wrap="none" rtlCol="0">
            <a:spAutoFit/>
          </a:bodyPr>
          <a:lstStyle/>
          <a:p>
            <a:r>
              <a:rPr lang="en-GB" sz="3200" b="1" dirty="0">
                <a:solidFill>
                  <a:srgbClr val="FF0000"/>
                </a:solidFill>
                <a:latin typeface="Chalkduster" panose="03050602040202020205" pitchFamily="66" charset="77"/>
              </a:rPr>
              <a:t>4000 Kg</a:t>
            </a:r>
          </a:p>
        </p:txBody>
      </p:sp>
    </p:spTree>
    <p:extLst>
      <p:ext uri="{BB962C8B-B14F-4D97-AF65-F5344CB8AC3E}">
        <p14:creationId xmlns:p14="http://schemas.microsoft.com/office/powerpoint/2010/main" val="2651329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20</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8" name="Left-Right Arrow 7">
            <a:extLst>
              <a:ext uri="{FF2B5EF4-FFF2-40B4-BE49-F238E27FC236}">
                <a16:creationId xmlns="" xmlns:a16="http://schemas.microsoft.com/office/drawing/2014/main" id="{03937501-00DD-1F4E-99BD-CE427C234939}"/>
              </a:ext>
            </a:extLst>
          </p:cNvPr>
          <p:cNvSpPr/>
          <p:nvPr/>
        </p:nvSpPr>
        <p:spPr>
          <a:xfrm rot="1540791">
            <a:off x="1849114" y="2964310"/>
            <a:ext cx="4781808" cy="2690694"/>
          </a:xfrm>
          <a:prstGeom prst="leftRightArrow">
            <a:avLst/>
          </a:prstGeom>
          <a:solidFill>
            <a:schemeClr val="accent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Copperplate" panose="02000504000000020004" pitchFamily="2" charset="77"/>
              </a:rPr>
              <a:t>Risk Management</a:t>
            </a:r>
          </a:p>
        </p:txBody>
      </p:sp>
      <p:sp>
        <p:nvSpPr>
          <p:cNvPr id="7" name="Content Placeholder 2">
            <a:extLst>
              <a:ext uri="{FF2B5EF4-FFF2-40B4-BE49-F238E27FC236}">
                <a16:creationId xmlns="" xmlns:a16="http://schemas.microsoft.com/office/drawing/2014/main" id="{C018B1EF-FA92-0D4C-AB30-9FA40F209153}"/>
              </a:ext>
            </a:extLst>
          </p:cNvPr>
          <p:cNvSpPr txBox="1">
            <a:spLocks/>
          </p:cNvSpPr>
          <p:nvPr/>
        </p:nvSpPr>
        <p:spPr>
          <a:xfrm>
            <a:off x="5939463" y="3572767"/>
            <a:ext cx="3681055" cy="2064228"/>
          </a:xfrm>
          <a:prstGeom prst="rect">
            <a:avLst/>
          </a:prstGeom>
        </p:spPr>
        <p:txBody>
          <a:bodyPr/>
          <a:lstStyle>
            <a:lvl1pPr marL="0" indent="0" algn="l" defTabSz="914400" rtl="0" eaLnBrk="1" latinLnBrk="0" hangingPunct="1">
              <a:lnSpc>
                <a:spcPct val="114000"/>
              </a:lnSpc>
              <a:spcBef>
                <a:spcPct val="20000"/>
              </a:spcBef>
              <a:buFont typeface="Arial" pitchFamily="34" charset="0"/>
              <a:buNone/>
              <a:defRPr lang="en-US" sz="2000" b="1" i="0" kern="1200" dirty="0" smtClean="0">
                <a:solidFill>
                  <a:srgbClr val="003D5C"/>
                </a:solidFill>
                <a:latin typeface="Arial"/>
                <a:ea typeface="+mn-ea"/>
                <a:cs typeface="Arial"/>
              </a:defRPr>
            </a:lvl1pPr>
            <a:lvl2pPr marL="0" indent="0" algn="l" defTabSz="914400" rtl="0" eaLnBrk="1" latinLnBrk="0" hangingPunct="1">
              <a:lnSpc>
                <a:spcPct val="114000"/>
              </a:lnSpc>
              <a:spcBef>
                <a:spcPct val="20000"/>
              </a:spcBef>
              <a:buFont typeface="Arial" pitchFamily="34" charset="0"/>
              <a:buNone/>
              <a:defRPr lang="en-US" sz="1800" kern="1200" dirty="0" smtClean="0">
                <a:solidFill>
                  <a:srgbClr val="003D5C"/>
                </a:solidFill>
                <a:latin typeface="Arial" pitchFamily="34" charset="0"/>
                <a:ea typeface="+mn-ea"/>
                <a:cs typeface="Arial" pitchFamily="34" charset="0"/>
              </a:defRPr>
            </a:lvl2pPr>
            <a:lvl3pPr marL="723900" indent="-228600" algn="l" defTabSz="914400" rtl="0" eaLnBrk="1" latinLnBrk="0" hangingPunct="1">
              <a:lnSpc>
                <a:spcPct val="114000"/>
              </a:lnSpc>
              <a:spcBef>
                <a:spcPct val="20000"/>
              </a:spcBef>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gn="l" defTabSz="914400" rtl="0" eaLnBrk="1" latinLnBrk="0" hangingPunct="1">
              <a:lnSpc>
                <a:spcPct val="114000"/>
              </a:lnSpc>
              <a:spcBef>
                <a:spcPct val="20000"/>
              </a:spcBef>
              <a:buFont typeface="Arial" pitchFamily="34" charset="0"/>
              <a:buChar char="–"/>
              <a:defRPr lang="en-US" sz="1600" kern="1200" dirty="0" smtClean="0">
                <a:solidFill>
                  <a:srgbClr val="003D5C"/>
                </a:solidFill>
                <a:latin typeface="Arial"/>
                <a:ea typeface="+mn-ea"/>
                <a:cs typeface="Arial"/>
              </a:defRPr>
            </a:lvl4pPr>
            <a:lvl5pPr marL="18288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ct val="100000"/>
              </a:lnSpc>
              <a:spcBef>
                <a:spcPts val="0"/>
              </a:spcBef>
            </a:pPr>
            <a:r>
              <a:rPr lang="en-GB" sz="2800" dirty="0"/>
              <a:t>Post RAP</a:t>
            </a:r>
          </a:p>
          <a:p>
            <a:pPr marL="342900" lvl="1" indent="-342900">
              <a:lnSpc>
                <a:spcPct val="100000"/>
              </a:lnSpc>
              <a:spcBef>
                <a:spcPts val="0"/>
              </a:spcBef>
              <a:buFont typeface="Arial" pitchFamily="34" charset="0"/>
              <a:buChar char="•"/>
            </a:pPr>
            <a:r>
              <a:rPr lang="en-GB" sz="2800" dirty="0"/>
              <a:t>Strategic shock</a:t>
            </a:r>
          </a:p>
          <a:p>
            <a:pPr marL="342900" lvl="1" indent="-342900">
              <a:lnSpc>
                <a:spcPct val="100000"/>
              </a:lnSpc>
              <a:spcBef>
                <a:spcPts val="0"/>
              </a:spcBef>
              <a:buFont typeface="Arial" pitchFamily="34" charset="0"/>
              <a:buChar char="•"/>
            </a:pPr>
            <a:r>
              <a:rPr lang="en-GB" sz="2800" dirty="0"/>
              <a:t>360 focus</a:t>
            </a:r>
          </a:p>
          <a:p>
            <a:pPr marL="342900" lvl="1" indent="-342900">
              <a:lnSpc>
                <a:spcPct val="100000"/>
              </a:lnSpc>
              <a:spcBef>
                <a:spcPts val="0"/>
              </a:spcBef>
              <a:buFont typeface="Arial" pitchFamily="34" charset="0"/>
              <a:buChar char="•"/>
            </a:pPr>
            <a:r>
              <a:rPr lang="en-GB" sz="2800" dirty="0"/>
              <a:t>Greater reach</a:t>
            </a:r>
          </a:p>
          <a:p>
            <a:pPr marL="342900" lvl="1" indent="-342900">
              <a:lnSpc>
                <a:spcPct val="100000"/>
              </a:lnSpc>
              <a:spcBef>
                <a:spcPts val="0"/>
              </a:spcBef>
              <a:buFont typeface="Arial" pitchFamily="34" charset="0"/>
              <a:buChar char="•"/>
            </a:pPr>
            <a:r>
              <a:rPr lang="en-GB" sz="2800" dirty="0"/>
              <a:t>Rotational forces</a:t>
            </a:r>
          </a:p>
          <a:p>
            <a:pPr lvl="1">
              <a:spcAft>
                <a:spcPts val="2400"/>
              </a:spcAft>
            </a:pPr>
            <a:endParaRPr lang="de-DE" sz="2000" dirty="0"/>
          </a:p>
          <a:p>
            <a:pPr lvl="1">
              <a:spcAft>
                <a:spcPts val="2400"/>
              </a:spcAft>
            </a:pPr>
            <a:endParaRPr lang="de-DE" sz="2000" dirty="0"/>
          </a:p>
        </p:txBody>
      </p:sp>
      <p:sp>
        <p:nvSpPr>
          <p:cNvPr id="3" name="Content Placeholder 2"/>
          <p:cNvSpPr>
            <a:spLocks noGrp="1"/>
          </p:cNvSpPr>
          <p:nvPr>
            <p:ph idx="1"/>
          </p:nvPr>
        </p:nvSpPr>
        <p:spPr>
          <a:xfrm>
            <a:off x="0" y="684240"/>
            <a:ext cx="5037942" cy="2064228"/>
          </a:xfrm>
        </p:spPr>
        <p:txBody>
          <a:bodyPr/>
          <a:lstStyle/>
          <a:p>
            <a:pPr lvl="1">
              <a:lnSpc>
                <a:spcPct val="100000"/>
              </a:lnSpc>
              <a:spcBef>
                <a:spcPts val="0"/>
              </a:spcBef>
            </a:pPr>
            <a:r>
              <a:rPr lang="en-US" sz="2800" b="1" dirty="0"/>
              <a:t>Why</a:t>
            </a:r>
          </a:p>
          <a:p>
            <a:pPr lvl="1">
              <a:lnSpc>
                <a:spcPct val="100000"/>
              </a:lnSpc>
              <a:spcBef>
                <a:spcPts val="0"/>
              </a:spcBef>
            </a:pPr>
            <a:endParaRPr lang="en-US" sz="2800" b="1" dirty="0"/>
          </a:p>
          <a:p>
            <a:pPr lvl="1">
              <a:lnSpc>
                <a:spcPct val="100000"/>
              </a:lnSpc>
              <a:spcBef>
                <a:spcPts val="0"/>
              </a:spcBef>
            </a:pPr>
            <a:r>
              <a:rPr lang="en-US" sz="2800" dirty="0"/>
              <a:t>Cold War</a:t>
            </a:r>
          </a:p>
          <a:p>
            <a:pPr lvl="1">
              <a:lnSpc>
                <a:spcPct val="100000"/>
              </a:lnSpc>
              <a:spcBef>
                <a:spcPts val="0"/>
              </a:spcBef>
            </a:pPr>
            <a:endParaRPr lang="en-US" sz="800" dirty="0"/>
          </a:p>
          <a:p>
            <a:pPr marL="342900" lvl="1" indent="-342900">
              <a:lnSpc>
                <a:spcPct val="100000"/>
              </a:lnSpc>
              <a:spcBef>
                <a:spcPts val="0"/>
              </a:spcBef>
              <a:buFont typeface="Arial" panose="020B0604020202020204" pitchFamily="34" charset="0"/>
              <a:buChar char="•"/>
            </a:pPr>
            <a:r>
              <a:rPr lang="en-US" sz="2800" dirty="0" err="1"/>
              <a:t>Authorised</a:t>
            </a:r>
            <a:endParaRPr lang="en-US" sz="2800" dirty="0"/>
          </a:p>
          <a:p>
            <a:pPr marL="342900" lvl="1" indent="-342900">
              <a:lnSpc>
                <a:spcPct val="100000"/>
              </a:lnSpc>
              <a:spcBef>
                <a:spcPts val="0"/>
              </a:spcBef>
              <a:buFont typeface="Arial" panose="020B0604020202020204" pitchFamily="34" charset="0"/>
              <a:buChar char="•"/>
            </a:pPr>
            <a:r>
              <a:rPr lang="en-US" sz="2800" dirty="0"/>
              <a:t>Munitions Infrastructure</a:t>
            </a:r>
          </a:p>
          <a:p>
            <a:pPr marL="342900" lvl="1" indent="-342900">
              <a:lnSpc>
                <a:spcPct val="100000"/>
              </a:lnSpc>
              <a:spcBef>
                <a:spcPts val="0"/>
              </a:spcBef>
              <a:buFont typeface="Arial" panose="020B0604020202020204" pitchFamily="34" charset="0"/>
              <a:buChar char="•"/>
            </a:pPr>
            <a:r>
              <a:rPr lang="en-US" sz="2800" dirty="0"/>
              <a:t>Pre-positioned stock</a:t>
            </a:r>
          </a:p>
          <a:p>
            <a:pPr marL="342900" lvl="1" indent="-342900">
              <a:lnSpc>
                <a:spcPct val="100000"/>
              </a:lnSpc>
              <a:spcBef>
                <a:spcPts val="0"/>
              </a:spcBef>
              <a:buFont typeface="Arial" panose="020B0604020202020204" pitchFamily="34" charset="0"/>
              <a:buChar char="•"/>
            </a:pPr>
            <a:r>
              <a:rPr lang="en-US" sz="2800" dirty="0"/>
              <a:t>Regional forces </a:t>
            </a:r>
          </a:p>
          <a:p>
            <a:pPr marL="342900" lvl="1" indent="-342900">
              <a:lnSpc>
                <a:spcPct val="100000"/>
              </a:lnSpc>
              <a:spcBef>
                <a:spcPts val="0"/>
              </a:spcBef>
              <a:buFont typeface="Arial" panose="020B0604020202020204" pitchFamily="34" charset="0"/>
              <a:buChar char="•"/>
            </a:pPr>
            <a:r>
              <a:rPr lang="en-US" sz="2800" dirty="0"/>
              <a:t>Regional TREX</a:t>
            </a:r>
          </a:p>
          <a:p>
            <a:pPr marL="342900" lvl="1" indent="-342900">
              <a:lnSpc>
                <a:spcPct val="100000"/>
              </a:lnSpc>
              <a:spcBef>
                <a:spcPts val="0"/>
              </a:spcBef>
              <a:buFont typeface="Arial" panose="020B0604020202020204" pitchFamily="34" charset="0"/>
              <a:buChar char="•"/>
            </a:pPr>
            <a:r>
              <a:rPr lang="en-US" sz="2800" dirty="0"/>
              <a:t>Planned responses </a:t>
            </a:r>
          </a:p>
          <a:p>
            <a:pPr marL="342900" lvl="1" indent="-342900">
              <a:lnSpc>
                <a:spcPct val="100000"/>
              </a:lnSpc>
              <a:spcBef>
                <a:spcPts val="0"/>
              </a:spcBef>
              <a:buFont typeface="Arial" panose="020B0604020202020204" pitchFamily="34" charset="0"/>
              <a:buChar char="•"/>
            </a:pPr>
            <a:endParaRPr lang="en-US" sz="2000" dirty="0"/>
          </a:p>
          <a:p>
            <a:pPr lvl="1">
              <a:spcAft>
                <a:spcPts val="2400"/>
              </a:spcAft>
            </a:pPr>
            <a:endParaRPr lang="en-US" sz="2000" dirty="0"/>
          </a:p>
          <a:p>
            <a:pPr lvl="1">
              <a:spcAft>
                <a:spcPts val="2400"/>
              </a:spcAft>
            </a:pPr>
            <a:endParaRPr lang="en-US" sz="2000" dirty="0"/>
          </a:p>
        </p:txBody>
      </p:sp>
      <p:sp>
        <p:nvSpPr>
          <p:cNvPr id="10" name="TextBox 9">
            <a:extLst>
              <a:ext uri="{FF2B5EF4-FFF2-40B4-BE49-F238E27FC236}">
                <a16:creationId xmlns="" xmlns:a16="http://schemas.microsoft.com/office/drawing/2014/main" id="{8CAC9D32-F52C-E446-A1A1-807A93E96251}"/>
              </a:ext>
            </a:extLst>
          </p:cNvPr>
          <p:cNvSpPr txBox="1"/>
          <p:nvPr/>
        </p:nvSpPr>
        <p:spPr>
          <a:xfrm>
            <a:off x="1283526" y="86205"/>
            <a:ext cx="7508832" cy="707886"/>
          </a:xfrm>
          <a:prstGeom prst="rect">
            <a:avLst/>
          </a:prstGeom>
          <a:noFill/>
        </p:spPr>
        <p:txBody>
          <a:bodyPr wrap="square" rtlCol="0">
            <a:spAutoFit/>
          </a:bodyPr>
          <a:lstStyle/>
          <a:p>
            <a:r>
              <a:rPr lang="en-US" sz="4000" dirty="0">
                <a:solidFill>
                  <a:schemeClr val="tx2"/>
                </a:solidFill>
              </a:rPr>
              <a:t>          ESMRM – What &amp; Why</a:t>
            </a:r>
          </a:p>
        </p:txBody>
      </p:sp>
    </p:spTree>
    <p:extLst>
      <p:ext uri="{BB962C8B-B14F-4D97-AF65-F5344CB8AC3E}">
        <p14:creationId xmlns:p14="http://schemas.microsoft.com/office/powerpoint/2010/main" val="6254428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21</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055619" y="56807"/>
            <a:ext cx="7508832" cy="707886"/>
          </a:xfrm>
          <a:prstGeom prst="rect">
            <a:avLst/>
          </a:prstGeom>
          <a:noFill/>
        </p:spPr>
        <p:txBody>
          <a:bodyPr wrap="square" rtlCol="0">
            <a:spAutoFit/>
          </a:bodyPr>
          <a:lstStyle/>
          <a:p>
            <a:r>
              <a:rPr lang="en-US" sz="4000" dirty="0">
                <a:solidFill>
                  <a:schemeClr val="tx2"/>
                </a:solidFill>
              </a:rPr>
              <a:t>           ES – Responsibility</a:t>
            </a:r>
          </a:p>
        </p:txBody>
      </p:sp>
      <p:sp>
        <p:nvSpPr>
          <p:cNvPr id="8" name="Rectangle 7">
            <a:extLst>
              <a:ext uri="{FF2B5EF4-FFF2-40B4-BE49-F238E27FC236}">
                <a16:creationId xmlns="" xmlns:a16="http://schemas.microsoft.com/office/drawing/2014/main" id="{4B7907FE-8623-8D46-B0BE-4E5E432742E1}"/>
              </a:ext>
            </a:extLst>
          </p:cNvPr>
          <p:cNvSpPr/>
          <p:nvPr/>
        </p:nvSpPr>
        <p:spPr>
          <a:xfrm>
            <a:off x="141669" y="755834"/>
            <a:ext cx="8860664" cy="9017853"/>
          </a:xfrm>
          <a:prstGeom prst="rect">
            <a:avLst/>
          </a:prstGeom>
        </p:spPr>
        <p:txBody>
          <a:bodyPr wrap="square">
            <a:spAutoFit/>
          </a:bodyPr>
          <a:lstStyle/>
          <a:p>
            <a:r>
              <a:rPr lang="en-GB" sz="2000" dirty="0"/>
              <a:t>Quotes from the current AJP 4</a:t>
            </a:r>
          </a:p>
          <a:p>
            <a:endParaRPr lang="en-GB" sz="2000" dirty="0"/>
          </a:p>
          <a:p>
            <a:pPr marL="285750" indent="-285750">
              <a:buFont typeface="Arial" panose="020B0604020202020204" pitchFamily="34" charset="0"/>
              <a:buChar char="•"/>
            </a:pPr>
            <a:r>
              <a:rPr lang="en-GB" sz="2000" b="1" dirty="0"/>
              <a:t>Joint task force J4 staff  </a:t>
            </a:r>
            <a:r>
              <a:rPr lang="en-GB" sz="2000" dirty="0"/>
              <a:t>- coordinate and staff explosives safety and munitions risk management (ESMRM) assessments in support of </a:t>
            </a:r>
            <a:r>
              <a:rPr lang="en-GB" sz="2000" dirty="0">
                <a:solidFill>
                  <a:srgbClr val="FF0000"/>
                </a:solidFill>
              </a:rPr>
              <a:t>COM JTF’s risk decision </a:t>
            </a:r>
          </a:p>
          <a:p>
            <a:pPr marL="285750" indent="-285750">
              <a:buFont typeface="Arial" panose="020B0604020202020204" pitchFamily="34" charset="0"/>
              <a:buChar char="•"/>
            </a:pPr>
            <a:r>
              <a:rPr lang="en-GB" sz="2000" b="1" dirty="0"/>
              <a:t>Logistic Risk and Opportunities </a:t>
            </a:r>
            <a:r>
              <a:rPr lang="en-GB" sz="2000" dirty="0"/>
              <a:t>- Explosives safety and risk management assessments are conducted and that </a:t>
            </a:r>
            <a:r>
              <a:rPr lang="en-GB" sz="2000" dirty="0">
                <a:solidFill>
                  <a:srgbClr val="FF0000"/>
                </a:solidFill>
              </a:rPr>
              <a:t>all munitions-related risks </a:t>
            </a:r>
            <a:r>
              <a:rPr lang="en-GB" sz="2000" dirty="0"/>
              <a:t>are identified to </a:t>
            </a:r>
            <a:r>
              <a:rPr lang="en-GB" sz="2000" dirty="0">
                <a:solidFill>
                  <a:srgbClr val="FF0000"/>
                </a:solidFill>
              </a:rPr>
              <a:t>COM JTF </a:t>
            </a:r>
          </a:p>
          <a:p>
            <a:pPr marL="285750" indent="-285750">
              <a:buFont typeface="Arial" panose="020B0604020202020204" pitchFamily="34" charset="0"/>
              <a:buChar char="•"/>
            </a:pPr>
            <a:r>
              <a:rPr lang="en-GB" sz="2000" b="1" dirty="0"/>
              <a:t>Storage area command and control</a:t>
            </a:r>
            <a:r>
              <a:rPr lang="en-GB" sz="2000" dirty="0"/>
              <a:t>. POL storage areas may come within COM JLSG’s chain of command. However, whilst ammunition storage facility </a:t>
            </a:r>
            <a:r>
              <a:rPr lang="en-GB" sz="2000" dirty="0">
                <a:solidFill>
                  <a:srgbClr val="FF0000"/>
                </a:solidFill>
              </a:rPr>
              <a:t>could be </a:t>
            </a:r>
            <a:r>
              <a:rPr lang="en-GB" sz="2000" dirty="0"/>
              <a:t>under COM JLSG’s control, the management of munitions is </a:t>
            </a:r>
            <a:r>
              <a:rPr lang="en-GB" sz="2000" dirty="0">
                <a:solidFill>
                  <a:srgbClr val="FF0000"/>
                </a:solidFill>
              </a:rPr>
              <a:t>more likely </a:t>
            </a:r>
            <a:r>
              <a:rPr lang="en-GB" sz="2000" dirty="0"/>
              <a:t>to be undertaken on a national or multinational basis </a:t>
            </a:r>
          </a:p>
          <a:p>
            <a:pPr marL="285750" indent="-285750">
              <a:buFont typeface="Arial" panose="020B0604020202020204" pitchFamily="34" charset="0"/>
              <a:buChar char="•"/>
            </a:pPr>
            <a:r>
              <a:rPr lang="en-GB" sz="2000" b="1" dirty="0"/>
              <a:t>Supply</a:t>
            </a:r>
            <a:r>
              <a:rPr lang="en-GB" sz="2000" dirty="0"/>
              <a:t>. POL and A&amp;E management </a:t>
            </a:r>
            <a:r>
              <a:rPr lang="en-GB" sz="2000" dirty="0">
                <a:solidFill>
                  <a:srgbClr val="FF0000"/>
                </a:solidFill>
              </a:rPr>
              <a:t>will normally </a:t>
            </a:r>
            <a:r>
              <a:rPr lang="en-GB" sz="2000" dirty="0"/>
              <a:t>be accomplished by means of purpose-built storage areas and the employment of specialist POL and A&amp;E staff. </a:t>
            </a:r>
          </a:p>
          <a:p>
            <a:pPr marL="285750" indent="-285750">
              <a:buFont typeface="Arial" panose="020B0604020202020204" pitchFamily="34" charset="0"/>
              <a:buChar char="•"/>
            </a:pPr>
            <a:r>
              <a:rPr lang="en-GB" sz="2000" b="1" dirty="0"/>
              <a:t>Supply</a:t>
            </a:r>
            <a:r>
              <a:rPr lang="en-GB" sz="2000" dirty="0"/>
              <a:t>. Within the JTF headquarters (HQ) </a:t>
            </a:r>
            <a:r>
              <a:rPr lang="en-GB" sz="2000" dirty="0">
                <a:solidFill>
                  <a:srgbClr val="FF0000"/>
                </a:solidFill>
              </a:rPr>
              <a:t>and/or</a:t>
            </a:r>
            <a:r>
              <a:rPr lang="en-GB" sz="2000" dirty="0"/>
              <a:t> JLSG HQ, the staff will ensure that correct supply procedures are followed including; accounting of stocks; visibility of available assets to support operations; maintenance of safety; and quality of product </a:t>
            </a:r>
          </a:p>
          <a:p>
            <a:endParaRPr lang="de-DE" dirty="0"/>
          </a:p>
          <a:p>
            <a:endParaRPr lang="en-GB" dirty="0"/>
          </a:p>
          <a:p>
            <a:endParaRPr lang="en-GB" dirty="0"/>
          </a:p>
          <a:p>
            <a:endParaRPr lang="en-GB" sz="2400" b="1" dirty="0">
              <a:solidFill>
                <a:schemeClr val="accent2"/>
              </a:solidFill>
            </a:endParaRPr>
          </a:p>
          <a:p>
            <a:endParaRPr lang="en-GB" sz="2400" b="1" dirty="0">
              <a:solidFill>
                <a:schemeClr val="accent2"/>
              </a:solidFill>
            </a:endParaRPr>
          </a:p>
          <a:p>
            <a:endParaRPr lang="en-GB" sz="2400" b="1" dirty="0">
              <a:solidFill>
                <a:schemeClr val="accent2"/>
              </a:solidFill>
            </a:endParaRPr>
          </a:p>
          <a:p>
            <a:endParaRPr lang="en-GB" sz="2400" dirty="0">
              <a:solidFill>
                <a:schemeClr val="accent2"/>
              </a:solidFill>
            </a:endParaRPr>
          </a:p>
          <a:p>
            <a:pPr marL="342900" indent="-342900">
              <a:buFont typeface="Arial" panose="020B0604020202020204" pitchFamily="34" charset="0"/>
              <a:buChar char="•"/>
            </a:pPr>
            <a:endParaRPr lang="en-US"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endParaRPr lang="en-GB" dirty="0"/>
          </a:p>
        </p:txBody>
      </p:sp>
    </p:spTree>
    <p:extLst>
      <p:ext uri="{BB962C8B-B14F-4D97-AF65-F5344CB8AC3E}">
        <p14:creationId xmlns:p14="http://schemas.microsoft.com/office/powerpoint/2010/main" val="7523710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22</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132892" y="60177"/>
            <a:ext cx="7508832" cy="707886"/>
          </a:xfrm>
          <a:prstGeom prst="rect">
            <a:avLst/>
          </a:prstGeom>
          <a:noFill/>
        </p:spPr>
        <p:txBody>
          <a:bodyPr wrap="square" rtlCol="0">
            <a:spAutoFit/>
          </a:bodyPr>
          <a:lstStyle/>
          <a:p>
            <a:r>
              <a:rPr lang="en-US" sz="4000" dirty="0">
                <a:solidFill>
                  <a:schemeClr val="tx2"/>
                </a:solidFill>
              </a:rPr>
              <a:t>           ES – Responsibility</a:t>
            </a:r>
          </a:p>
        </p:txBody>
      </p:sp>
      <p:sp>
        <p:nvSpPr>
          <p:cNvPr id="8" name="Rectangle 7">
            <a:extLst>
              <a:ext uri="{FF2B5EF4-FFF2-40B4-BE49-F238E27FC236}">
                <a16:creationId xmlns="" xmlns:a16="http://schemas.microsoft.com/office/drawing/2014/main" id="{4B7907FE-8623-8D46-B0BE-4E5E432742E1}"/>
              </a:ext>
            </a:extLst>
          </p:cNvPr>
          <p:cNvSpPr/>
          <p:nvPr/>
        </p:nvSpPr>
        <p:spPr>
          <a:xfrm>
            <a:off x="141669" y="755834"/>
            <a:ext cx="8860664" cy="9017853"/>
          </a:xfrm>
          <a:prstGeom prst="rect">
            <a:avLst/>
          </a:prstGeom>
          <a:noFill/>
        </p:spPr>
        <p:txBody>
          <a:bodyPr wrap="square">
            <a:spAutoFit/>
          </a:bodyPr>
          <a:lstStyle/>
          <a:p>
            <a:r>
              <a:rPr lang="en-GB" sz="2000" dirty="0"/>
              <a:t>Quotes from the current AJP 4</a:t>
            </a:r>
          </a:p>
          <a:p>
            <a:endParaRPr lang="en-GB" sz="2000" dirty="0">
              <a:solidFill>
                <a:schemeClr val="bg1">
                  <a:lumMod val="75000"/>
                </a:schemeClr>
              </a:solidFill>
            </a:endParaRPr>
          </a:p>
          <a:p>
            <a:pPr marL="285750" indent="-285750">
              <a:buFont typeface="Arial" panose="020B0604020202020204" pitchFamily="34" charset="0"/>
              <a:buChar char="•"/>
            </a:pPr>
            <a:r>
              <a:rPr lang="en-GB" sz="2000" b="1" dirty="0">
                <a:solidFill>
                  <a:schemeClr val="bg1">
                    <a:lumMod val="75000"/>
                  </a:schemeClr>
                </a:solidFill>
              </a:rPr>
              <a:t>Joint task force J4 staff  </a:t>
            </a:r>
            <a:r>
              <a:rPr lang="en-GB" sz="2000" dirty="0">
                <a:solidFill>
                  <a:schemeClr val="bg1">
                    <a:lumMod val="75000"/>
                  </a:schemeClr>
                </a:solidFill>
              </a:rPr>
              <a:t>- coordinate and staff explosives safety and munitions risk management (ESMRM) assessments in support of COM JTF’s risk decision </a:t>
            </a:r>
          </a:p>
          <a:p>
            <a:pPr marL="285750" indent="-285750">
              <a:buFont typeface="Arial" panose="020B0604020202020204" pitchFamily="34" charset="0"/>
              <a:buChar char="•"/>
            </a:pPr>
            <a:r>
              <a:rPr lang="en-GB" sz="2000" b="1" dirty="0">
                <a:solidFill>
                  <a:schemeClr val="bg1">
                    <a:lumMod val="75000"/>
                  </a:schemeClr>
                </a:solidFill>
              </a:rPr>
              <a:t>Logistic Risk and Opportunities </a:t>
            </a:r>
            <a:r>
              <a:rPr lang="en-GB" sz="2000" dirty="0">
                <a:solidFill>
                  <a:schemeClr val="bg1">
                    <a:lumMod val="75000"/>
                  </a:schemeClr>
                </a:solidFill>
              </a:rPr>
              <a:t>- Explosives safety and risk management assessments are conducted and that all munitions-related risks are identified to COM JTF </a:t>
            </a:r>
          </a:p>
          <a:p>
            <a:pPr marL="285750" indent="-285750">
              <a:buFont typeface="Arial" panose="020B0604020202020204" pitchFamily="34" charset="0"/>
              <a:buChar char="•"/>
            </a:pPr>
            <a:r>
              <a:rPr lang="en-GB" sz="2000" b="1" dirty="0">
                <a:solidFill>
                  <a:schemeClr val="bg1">
                    <a:lumMod val="75000"/>
                  </a:schemeClr>
                </a:solidFill>
              </a:rPr>
              <a:t>Storage area command and control</a:t>
            </a:r>
            <a:r>
              <a:rPr lang="en-GB" sz="2000" dirty="0">
                <a:solidFill>
                  <a:schemeClr val="bg1">
                    <a:lumMod val="75000"/>
                  </a:schemeClr>
                </a:solidFill>
              </a:rPr>
              <a:t>. POL storage areas may come within COM JLSG’s chain of command. However, whilst ammunition storage facility could be under COM JLSG’s control, the management of munitions is more likely to be undertaken on a national or multinational basis </a:t>
            </a:r>
          </a:p>
          <a:p>
            <a:pPr marL="285750" indent="-285750">
              <a:buFont typeface="Arial" panose="020B0604020202020204" pitchFamily="34" charset="0"/>
              <a:buChar char="•"/>
            </a:pPr>
            <a:r>
              <a:rPr lang="en-GB" sz="2000" b="1" dirty="0">
                <a:solidFill>
                  <a:schemeClr val="bg1">
                    <a:lumMod val="75000"/>
                  </a:schemeClr>
                </a:solidFill>
              </a:rPr>
              <a:t>Supply</a:t>
            </a:r>
            <a:r>
              <a:rPr lang="en-GB" sz="2000" dirty="0">
                <a:solidFill>
                  <a:schemeClr val="bg1">
                    <a:lumMod val="75000"/>
                  </a:schemeClr>
                </a:solidFill>
              </a:rPr>
              <a:t>. POL and A&amp;E management will normally be accomplished by means of purpose-built storage areas and the employment of specialist POL and A&amp;E staff. </a:t>
            </a:r>
          </a:p>
          <a:p>
            <a:pPr marL="285750" indent="-285750">
              <a:buFont typeface="Arial" panose="020B0604020202020204" pitchFamily="34" charset="0"/>
              <a:buChar char="•"/>
            </a:pPr>
            <a:r>
              <a:rPr lang="en-GB" sz="2000" b="1" dirty="0">
                <a:solidFill>
                  <a:schemeClr val="bg1">
                    <a:lumMod val="75000"/>
                  </a:schemeClr>
                </a:solidFill>
              </a:rPr>
              <a:t>Supply</a:t>
            </a:r>
            <a:r>
              <a:rPr lang="en-GB" sz="2000" dirty="0">
                <a:solidFill>
                  <a:schemeClr val="bg1">
                    <a:lumMod val="75000"/>
                  </a:schemeClr>
                </a:solidFill>
              </a:rPr>
              <a:t>. Within the JTF headquarters (HQ) and/or JLSG HQ, the staff will ensure that correct supply procedures are followed including; accounting of stocks; visibility of available assets to support operations; maintenance of safety; and quality of product </a:t>
            </a:r>
          </a:p>
          <a:p>
            <a:endParaRPr lang="de-DE" dirty="0"/>
          </a:p>
          <a:p>
            <a:endParaRPr lang="en-GB" dirty="0"/>
          </a:p>
          <a:p>
            <a:endParaRPr lang="en-GB" dirty="0"/>
          </a:p>
          <a:p>
            <a:endParaRPr lang="en-GB" sz="2400" b="1" dirty="0">
              <a:solidFill>
                <a:schemeClr val="accent2"/>
              </a:solidFill>
            </a:endParaRPr>
          </a:p>
          <a:p>
            <a:endParaRPr lang="en-GB" sz="2400" b="1" dirty="0">
              <a:solidFill>
                <a:schemeClr val="accent2"/>
              </a:solidFill>
            </a:endParaRPr>
          </a:p>
          <a:p>
            <a:endParaRPr lang="en-GB" sz="2400" b="1" dirty="0">
              <a:solidFill>
                <a:schemeClr val="accent2"/>
              </a:solidFill>
            </a:endParaRPr>
          </a:p>
          <a:p>
            <a:endParaRPr lang="en-GB" sz="2400" dirty="0">
              <a:solidFill>
                <a:schemeClr val="accent2"/>
              </a:solidFill>
            </a:endParaRPr>
          </a:p>
          <a:p>
            <a:pPr marL="342900" indent="-342900">
              <a:buFont typeface="Arial" panose="020B0604020202020204" pitchFamily="34" charset="0"/>
              <a:buChar char="•"/>
            </a:pPr>
            <a:endParaRPr lang="en-US"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endParaRPr lang="en-GB" dirty="0"/>
          </a:p>
        </p:txBody>
      </p:sp>
      <p:sp>
        <p:nvSpPr>
          <p:cNvPr id="2" name="TextBox 1">
            <a:extLst>
              <a:ext uri="{FF2B5EF4-FFF2-40B4-BE49-F238E27FC236}">
                <a16:creationId xmlns="" xmlns:a16="http://schemas.microsoft.com/office/drawing/2014/main" id="{9120E852-41A3-EF42-A8DE-B06190234740}"/>
              </a:ext>
            </a:extLst>
          </p:cNvPr>
          <p:cNvSpPr txBox="1"/>
          <p:nvPr/>
        </p:nvSpPr>
        <p:spPr>
          <a:xfrm rot="18870324">
            <a:off x="1276463" y="3089102"/>
            <a:ext cx="5898524" cy="646331"/>
          </a:xfrm>
          <a:prstGeom prst="rect">
            <a:avLst/>
          </a:prstGeom>
          <a:noFill/>
        </p:spPr>
        <p:txBody>
          <a:bodyPr wrap="square" rtlCol="0">
            <a:spAutoFit/>
          </a:bodyPr>
          <a:lstStyle/>
          <a:p>
            <a:r>
              <a:rPr lang="en-GB" sz="3600" dirty="0">
                <a:solidFill>
                  <a:srgbClr val="FF0000"/>
                </a:solidFill>
              </a:rPr>
              <a:t>UNCLEAR Responsibility for ES</a:t>
            </a:r>
          </a:p>
        </p:txBody>
      </p:sp>
    </p:spTree>
    <p:extLst>
      <p:ext uri="{BB962C8B-B14F-4D97-AF65-F5344CB8AC3E}">
        <p14:creationId xmlns:p14="http://schemas.microsoft.com/office/powerpoint/2010/main" val="22231197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23</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9" name="TextBox 8"/>
          <p:cNvSpPr txBox="1"/>
          <p:nvPr/>
        </p:nvSpPr>
        <p:spPr>
          <a:xfrm>
            <a:off x="1004103" y="49890"/>
            <a:ext cx="7508832" cy="707886"/>
          </a:xfrm>
          <a:prstGeom prst="rect">
            <a:avLst/>
          </a:prstGeom>
          <a:noFill/>
        </p:spPr>
        <p:txBody>
          <a:bodyPr wrap="square" rtlCol="0">
            <a:spAutoFit/>
          </a:bodyPr>
          <a:lstStyle/>
          <a:p>
            <a:r>
              <a:rPr lang="en-US" sz="4000" dirty="0">
                <a:solidFill>
                  <a:schemeClr val="tx2"/>
                </a:solidFill>
              </a:rPr>
              <a:t>           ES – Responsibility</a:t>
            </a:r>
          </a:p>
        </p:txBody>
      </p:sp>
      <p:sp>
        <p:nvSpPr>
          <p:cNvPr id="8" name="Rectangle 7">
            <a:extLst>
              <a:ext uri="{FF2B5EF4-FFF2-40B4-BE49-F238E27FC236}">
                <a16:creationId xmlns="" xmlns:a16="http://schemas.microsoft.com/office/drawing/2014/main" id="{4B7907FE-8623-8D46-B0BE-4E5E432742E1}"/>
              </a:ext>
            </a:extLst>
          </p:cNvPr>
          <p:cNvSpPr/>
          <p:nvPr/>
        </p:nvSpPr>
        <p:spPr>
          <a:xfrm>
            <a:off x="141669" y="755834"/>
            <a:ext cx="8860664" cy="9017853"/>
          </a:xfrm>
          <a:prstGeom prst="rect">
            <a:avLst/>
          </a:prstGeom>
          <a:noFill/>
        </p:spPr>
        <p:txBody>
          <a:bodyPr wrap="square">
            <a:spAutoFit/>
          </a:bodyPr>
          <a:lstStyle/>
          <a:p>
            <a:r>
              <a:rPr lang="en-GB" sz="2000" dirty="0">
                <a:solidFill>
                  <a:schemeClr val="bg1">
                    <a:lumMod val="50000"/>
                  </a:schemeClr>
                </a:solidFill>
              </a:rPr>
              <a:t>Quotes from the current AJP 4</a:t>
            </a:r>
          </a:p>
          <a:p>
            <a:endParaRPr lang="en-GB" sz="2000" dirty="0">
              <a:solidFill>
                <a:schemeClr val="bg1">
                  <a:lumMod val="75000"/>
                </a:schemeClr>
              </a:solidFill>
            </a:endParaRPr>
          </a:p>
          <a:p>
            <a:pPr marL="285750" indent="-285750">
              <a:buFont typeface="Arial" panose="020B0604020202020204" pitchFamily="34" charset="0"/>
              <a:buChar char="•"/>
            </a:pPr>
            <a:r>
              <a:rPr lang="en-GB" sz="2000" b="1" dirty="0">
                <a:solidFill>
                  <a:schemeClr val="bg1">
                    <a:lumMod val="75000"/>
                  </a:schemeClr>
                </a:solidFill>
              </a:rPr>
              <a:t>Joint task force J4 staff  </a:t>
            </a:r>
            <a:r>
              <a:rPr lang="en-GB" sz="2000" dirty="0">
                <a:solidFill>
                  <a:schemeClr val="bg1">
                    <a:lumMod val="75000"/>
                  </a:schemeClr>
                </a:solidFill>
              </a:rPr>
              <a:t>- coordinate and staff explosives safety and munitions risk management (ESMRM) assessments in support of COM JTF’s risk decision </a:t>
            </a:r>
          </a:p>
          <a:p>
            <a:pPr marL="285750" indent="-285750">
              <a:buFont typeface="Arial" panose="020B0604020202020204" pitchFamily="34" charset="0"/>
              <a:buChar char="•"/>
            </a:pPr>
            <a:r>
              <a:rPr lang="en-GB" sz="2000" b="1" dirty="0">
                <a:solidFill>
                  <a:schemeClr val="bg1">
                    <a:lumMod val="75000"/>
                  </a:schemeClr>
                </a:solidFill>
              </a:rPr>
              <a:t>Logistic Risk and Opportunities </a:t>
            </a:r>
            <a:r>
              <a:rPr lang="en-GB" sz="2000" dirty="0">
                <a:solidFill>
                  <a:schemeClr val="bg1">
                    <a:lumMod val="75000"/>
                  </a:schemeClr>
                </a:solidFill>
              </a:rPr>
              <a:t>- Explosives safety and risk management assessments are conducted and that all munitions-related risks are identified to COM JTF </a:t>
            </a:r>
          </a:p>
          <a:p>
            <a:pPr marL="285750" indent="-285750">
              <a:buFont typeface="Arial" panose="020B0604020202020204" pitchFamily="34" charset="0"/>
              <a:buChar char="•"/>
            </a:pPr>
            <a:r>
              <a:rPr lang="en-GB" sz="2000" b="1" dirty="0">
                <a:solidFill>
                  <a:schemeClr val="bg1">
                    <a:lumMod val="75000"/>
                  </a:schemeClr>
                </a:solidFill>
              </a:rPr>
              <a:t>Storage area command and control</a:t>
            </a:r>
            <a:r>
              <a:rPr lang="en-GB" sz="2000" dirty="0">
                <a:solidFill>
                  <a:schemeClr val="bg1">
                    <a:lumMod val="75000"/>
                  </a:schemeClr>
                </a:solidFill>
              </a:rPr>
              <a:t>. POL storage areas may come within COM JLSG’s chain of command. However, whilst ammunition storage facility could be under COM JLSG’s control, the management of munitions is more likely to be undertaken on a national or multinational basis </a:t>
            </a:r>
          </a:p>
          <a:p>
            <a:pPr marL="285750" indent="-285750">
              <a:buFont typeface="Arial" panose="020B0604020202020204" pitchFamily="34" charset="0"/>
              <a:buChar char="•"/>
            </a:pPr>
            <a:r>
              <a:rPr lang="en-GB" sz="2000" b="1" dirty="0">
                <a:solidFill>
                  <a:schemeClr val="bg1">
                    <a:lumMod val="75000"/>
                  </a:schemeClr>
                </a:solidFill>
              </a:rPr>
              <a:t>Supply</a:t>
            </a:r>
            <a:r>
              <a:rPr lang="en-GB" sz="2000" dirty="0">
                <a:solidFill>
                  <a:schemeClr val="bg1">
                    <a:lumMod val="75000"/>
                  </a:schemeClr>
                </a:solidFill>
              </a:rPr>
              <a:t>. POL and A&amp;E management will normally be accomplished by means of purpose-built storage areas and the employment of specialist POL and A&amp;E staff. </a:t>
            </a:r>
          </a:p>
          <a:p>
            <a:pPr marL="285750" indent="-285750">
              <a:buFont typeface="Arial" panose="020B0604020202020204" pitchFamily="34" charset="0"/>
              <a:buChar char="•"/>
            </a:pPr>
            <a:r>
              <a:rPr lang="en-GB" sz="2000" b="1" dirty="0">
                <a:solidFill>
                  <a:schemeClr val="bg1">
                    <a:lumMod val="75000"/>
                  </a:schemeClr>
                </a:solidFill>
              </a:rPr>
              <a:t>Supply</a:t>
            </a:r>
            <a:r>
              <a:rPr lang="en-GB" sz="2000" dirty="0">
                <a:solidFill>
                  <a:schemeClr val="bg1">
                    <a:lumMod val="75000"/>
                  </a:schemeClr>
                </a:solidFill>
              </a:rPr>
              <a:t>. Within the JTF headquarters (HQ) and/or JLSG HQ, the staff will ensure that correct supply procedures are followed including; accounting of stocks; visibility of available assets to support operations; maintenance of safety; and quality of product </a:t>
            </a:r>
          </a:p>
          <a:p>
            <a:endParaRPr lang="de-DE" dirty="0"/>
          </a:p>
          <a:p>
            <a:endParaRPr lang="en-GB" dirty="0"/>
          </a:p>
          <a:p>
            <a:endParaRPr lang="en-GB" dirty="0"/>
          </a:p>
          <a:p>
            <a:endParaRPr lang="en-GB" sz="2400" b="1" dirty="0">
              <a:solidFill>
                <a:schemeClr val="accent2"/>
              </a:solidFill>
            </a:endParaRPr>
          </a:p>
          <a:p>
            <a:endParaRPr lang="en-GB" sz="2400" b="1" dirty="0">
              <a:solidFill>
                <a:schemeClr val="accent2"/>
              </a:solidFill>
            </a:endParaRPr>
          </a:p>
          <a:p>
            <a:endParaRPr lang="en-GB" sz="2400" b="1" dirty="0">
              <a:solidFill>
                <a:schemeClr val="accent2"/>
              </a:solidFill>
            </a:endParaRPr>
          </a:p>
          <a:p>
            <a:endParaRPr lang="en-GB" sz="2400" dirty="0">
              <a:solidFill>
                <a:schemeClr val="accent2"/>
              </a:solidFill>
            </a:endParaRPr>
          </a:p>
          <a:p>
            <a:pPr marL="342900" indent="-342900">
              <a:buFont typeface="Arial" panose="020B0604020202020204" pitchFamily="34" charset="0"/>
              <a:buChar char="•"/>
            </a:pPr>
            <a:endParaRPr lang="en-US"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pPr marL="342900" indent="-342900">
              <a:buFont typeface="Arial" panose="020B0604020202020204" pitchFamily="34" charset="0"/>
              <a:buChar char="•"/>
            </a:pPr>
            <a:endParaRPr lang="en-GB" sz="2400" dirty="0">
              <a:solidFill>
                <a:schemeClr val="accent2"/>
              </a:solidFill>
            </a:endParaRPr>
          </a:p>
          <a:p>
            <a:endParaRPr lang="en-GB" dirty="0"/>
          </a:p>
        </p:txBody>
      </p:sp>
      <p:sp>
        <p:nvSpPr>
          <p:cNvPr id="2" name="TextBox 1">
            <a:extLst>
              <a:ext uri="{FF2B5EF4-FFF2-40B4-BE49-F238E27FC236}">
                <a16:creationId xmlns="" xmlns:a16="http://schemas.microsoft.com/office/drawing/2014/main" id="{9120E852-41A3-EF42-A8DE-B06190234740}"/>
              </a:ext>
            </a:extLst>
          </p:cNvPr>
          <p:cNvSpPr txBox="1"/>
          <p:nvPr/>
        </p:nvSpPr>
        <p:spPr>
          <a:xfrm rot="18870324">
            <a:off x="1276463" y="3089102"/>
            <a:ext cx="5898524" cy="646331"/>
          </a:xfrm>
          <a:prstGeom prst="rect">
            <a:avLst/>
          </a:prstGeom>
          <a:solidFill>
            <a:schemeClr val="bg2">
              <a:alpha val="6000"/>
            </a:schemeClr>
          </a:solidFill>
        </p:spPr>
        <p:txBody>
          <a:bodyPr wrap="square" rtlCol="0">
            <a:spAutoFit/>
          </a:bodyPr>
          <a:lstStyle/>
          <a:p>
            <a:r>
              <a:rPr lang="en-GB" sz="3600" dirty="0">
                <a:solidFill>
                  <a:srgbClr val="FFCBAE"/>
                </a:solidFill>
              </a:rPr>
              <a:t>UNCLEAR Responsibility for ES</a:t>
            </a:r>
          </a:p>
        </p:txBody>
      </p:sp>
      <p:sp>
        <p:nvSpPr>
          <p:cNvPr id="3" name="TextBox 2">
            <a:extLst>
              <a:ext uri="{FF2B5EF4-FFF2-40B4-BE49-F238E27FC236}">
                <a16:creationId xmlns="" xmlns:a16="http://schemas.microsoft.com/office/drawing/2014/main" id="{4F0F4DA0-5807-E645-A44B-9AF6538F71ED}"/>
              </a:ext>
            </a:extLst>
          </p:cNvPr>
          <p:cNvSpPr txBox="1"/>
          <p:nvPr/>
        </p:nvSpPr>
        <p:spPr>
          <a:xfrm>
            <a:off x="1686856" y="2112904"/>
            <a:ext cx="4675254" cy="2800767"/>
          </a:xfrm>
          <a:prstGeom prst="rect">
            <a:avLst/>
          </a:prstGeom>
          <a:noFill/>
        </p:spPr>
        <p:txBody>
          <a:bodyPr wrap="none" rtlCol="0">
            <a:spAutoFit/>
          </a:bodyPr>
          <a:lstStyle/>
          <a:p>
            <a:pPr marL="571500" indent="-571500">
              <a:buFont typeface="Arial" panose="020B0604020202020204" pitchFamily="34" charset="0"/>
              <a:buChar char="•"/>
            </a:pPr>
            <a:r>
              <a:rPr lang="en-GB" sz="4400" b="1" dirty="0"/>
              <a:t>MC 319/4</a:t>
            </a:r>
          </a:p>
          <a:p>
            <a:pPr marL="571500" indent="-571500">
              <a:buFont typeface="Arial" panose="020B0604020202020204" pitchFamily="34" charset="0"/>
              <a:buChar char="•"/>
            </a:pPr>
            <a:r>
              <a:rPr lang="en-GB" sz="4400" b="1" dirty="0"/>
              <a:t>AJP 4 &amp; AJP </a:t>
            </a:r>
            <a:r>
              <a:rPr lang="en-GB" sz="4400" b="1" dirty="0" smtClean="0"/>
              <a:t>4.1</a:t>
            </a:r>
            <a:endParaRPr lang="en-GB" sz="4400" b="1" dirty="0"/>
          </a:p>
          <a:p>
            <a:r>
              <a:rPr lang="en-GB" sz="4400" b="1" dirty="0"/>
              <a:t>   - Ammo </a:t>
            </a:r>
            <a:r>
              <a:rPr lang="en-GB" sz="4400" b="1" dirty="0" smtClean="0"/>
              <a:t>Chapter?</a:t>
            </a:r>
            <a:endParaRPr lang="en-GB" sz="4400" b="1" dirty="0"/>
          </a:p>
          <a:p>
            <a:pPr marL="571500" indent="-571500">
              <a:buFont typeface="Arial" panose="020B0604020202020204" pitchFamily="34" charset="0"/>
              <a:buChar char="•"/>
            </a:pPr>
            <a:r>
              <a:rPr lang="en-GB" sz="4400" b="1" dirty="0"/>
              <a:t>ALP 16 (</a:t>
            </a:r>
            <a:r>
              <a:rPr lang="en-GB" sz="4400" b="1" dirty="0">
                <a:solidFill>
                  <a:srgbClr val="FF0000"/>
                </a:solidFill>
              </a:rPr>
              <a:t>Dec </a:t>
            </a:r>
            <a:r>
              <a:rPr lang="en-GB" sz="4400" b="1" dirty="0" smtClean="0">
                <a:solidFill>
                  <a:srgbClr val="FF0000"/>
                </a:solidFill>
              </a:rPr>
              <a:t>22</a:t>
            </a:r>
            <a:r>
              <a:rPr lang="en-GB" sz="4400" b="1" dirty="0" smtClean="0"/>
              <a:t>)</a:t>
            </a:r>
            <a:endParaRPr lang="en-GB" sz="4400" b="1" dirty="0"/>
          </a:p>
        </p:txBody>
      </p:sp>
    </p:spTree>
    <p:extLst>
      <p:ext uri="{BB962C8B-B14F-4D97-AF65-F5344CB8AC3E}">
        <p14:creationId xmlns:p14="http://schemas.microsoft.com/office/powerpoint/2010/main" val="32204657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1D2BA6-451B-DF42-B679-4E6105F1D7C0}"/>
              </a:ext>
            </a:extLst>
          </p:cNvPr>
          <p:cNvSpPr>
            <a:spLocks noGrp="1"/>
          </p:cNvSpPr>
          <p:nvPr>
            <p:ph type="title"/>
          </p:nvPr>
        </p:nvSpPr>
        <p:spPr>
          <a:xfrm>
            <a:off x="2234483" y="217392"/>
            <a:ext cx="8229600" cy="466219"/>
          </a:xfrm>
        </p:spPr>
        <p:txBody>
          <a:bodyPr/>
          <a:lstStyle/>
          <a:p>
            <a:r>
              <a:rPr lang="en-GB" sz="4000" b="0" dirty="0">
                <a:latin typeface="+mn-lt"/>
              </a:rPr>
              <a:t>Roles &amp; Responsibilities </a:t>
            </a:r>
          </a:p>
        </p:txBody>
      </p:sp>
      <p:sp>
        <p:nvSpPr>
          <p:cNvPr id="3" name="Content Placeholder 2">
            <a:extLst>
              <a:ext uri="{FF2B5EF4-FFF2-40B4-BE49-F238E27FC236}">
                <a16:creationId xmlns="" xmlns:a16="http://schemas.microsoft.com/office/drawing/2014/main" id="{2427BBD6-3A25-DB4D-961C-59C300EE82A0}"/>
              </a:ext>
            </a:extLst>
          </p:cNvPr>
          <p:cNvSpPr>
            <a:spLocks noGrp="1"/>
          </p:cNvSpPr>
          <p:nvPr>
            <p:ph idx="1"/>
          </p:nvPr>
        </p:nvSpPr>
        <p:spPr>
          <a:xfrm>
            <a:off x="457199" y="683612"/>
            <a:ext cx="8229600" cy="5551417"/>
          </a:xfrm>
        </p:spPr>
        <p:txBody>
          <a:bodyPr/>
          <a:lstStyle/>
          <a:p>
            <a:r>
              <a:rPr lang="en-GB" sz="1800" b="0" u="sng" dirty="0"/>
              <a:t>Strategic</a:t>
            </a:r>
          </a:p>
          <a:p>
            <a:r>
              <a:rPr lang="en-GB" sz="1800" dirty="0"/>
              <a:t>SHAPE</a:t>
            </a:r>
            <a:r>
              <a:rPr lang="en-GB" sz="1800" b="0" dirty="0"/>
              <a:t> - Requirements authority, Strat Planning – delegation, HN interface, authority brokerage, requirement statement, CRMs </a:t>
            </a:r>
          </a:p>
          <a:p>
            <a:endParaRPr lang="en-GB" sz="800" b="0" dirty="0"/>
          </a:p>
          <a:p>
            <a:r>
              <a:rPr lang="en-GB" sz="1800" b="0" u="sng" dirty="0"/>
              <a:t>Operational</a:t>
            </a:r>
          </a:p>
          <a:p>
            <a:r>
              <a:rPr lang="en-GB" sz="1800" dirty="0"/>
              <a:t>JFCs</a:t>
            </a:r>
            <a:r>
              <a:rPr lang="en-GB" sz="1800" b="0" dirty="0"/>
              <a:t> - Planning phase - </a:t>
            </a:r>
            <a:r>
              <a:rPr lang="en-GB" sz="1800" b="0" dirty="0">
                <a:solidFill>
                  <a:schemeClr val="accent2"/>
                </a:solidFill>
              </a:rPr>
              <a:t>ES planning, delegation, CRM selection</a:t>
            </a:r>
            <a:r>
              <a:rPr lang="en-GB" sz="1800" b="0" i="1" dirty="0">
                <a:solidFill>
                  <a:schemeClr val="accent2"/>
                </a:solidFill>
              </a:rPr>
              <a:t>,  </a:t>
            </a:r>
          </a:p>
          <a:p>
            <a:r>
              <a:rPr lang="en-GB" sz="1800" b="0" dirty="0">
                <a:solidFill>
                  <a:schemeClr val="accent2"/>
                </a:solidFill>
              </a:rPr>
              <a:t>Execution phase – ES referral, assessment &amp; maintenance</a:t>
            </a:r>
          </a:p>
          <a:p>
            <a:r>
              <a:rPr lang="en-GB" sz="1800" dirty="0">
                <a:solidFill>
                  <a:schemeClr val="accent2"/>
                </a:solidFill>
              </a:rPr>
              <a:t>JSEC - </a:t>
            </a:r>
            <a:r>
              <a:rPr lang="en-GB" sz="1800" b="0" dirty="0">
                <a:solidFill>
                  <a:schemeClr val="accent2"/>
                </a:solidFill>
              </a:rPr>
              <a:t>ES within </a:t>
            </a:r>
            <a:r>
              <a:rPr lang="en-GB" sz="1800" b="0" dirty="0" smtClean="0">
                <a:solidFill>
                  <a:schemeClr val="accent2"/>
                </a:solidFill>
              </a:rPr>
              <a:t>RSN, </a:t>
            </a:r>
            <a:r>
              <a:rPr lang="en-GB" sz="1800" b="0" dirty="0">
                <a:solidFill>
                  <a:schemeClr val="accent2"/>
                </a:solidFill>
              </a:rPr>
              <a:t>5SA to E,  ACO/TCN/TN/HN sync</a:t>
            </a:r>
          </a:p>
          <a:p>
            <a:r>
              <a:rPr lang="en-GB" sz="1800" b="0" dirty="0">
                <a:solidFill>
                  <a:schemeClr val="accent2"/>
                </a:solidFill>
              </a:rPr>
              <a:t>AOR ES functional management</a:t>
            </a:r>
            <a:endParaRPr lang="en-GB" sz="1000" b="0" dirty="0">
              <a:solidFill>
                <a:schemeClr val="accent2"/>
              </a:solidFill>
            </a:endParaRPr>
          </a:p>
          <a:p>
            <a:endParaRPr lang="en-GB" sz="800" b="0" dirty="0">
              <a:solidFill>
                <a:schemeClr val="accent2"/>
              </a:solidFill>
            </a:endParaRPr>
          </a:p>
          <a:p>
            <a:r>
              <a:rPr lang="en-GB" sz="1800" b="0" u="sng" dirty="0">
                <a:solidFill>
                  <a:schemeClr val="accent2"/>
                </a:solidFill>
              </a:rPr>
              <a:t>Tactical</a:t>
            </a:r>
          </a:p>
          <a:p>
            <a:r>
              <a:rPr lang="en-GB" sz="1800" dirty="0">
                <a:solidFill>
                  <a:schemeClr val="accent2"/>
                </a:solidFill>
              </a:rPr>
              <a:t>JLSGs</a:t>
            </a:r>
            <a:r>
              <a:rPr lang="en-GB" sz="1800" b="0" dirty="0">
                <a:solidFill>
                  <a:schemeClr val="accent2"/>
                </a:solidFill>
              </a:rPr>
              <a:t> – Establish and maintain ES in TLB, JLSN, sync ESMRM within </a:t>
            </a:r>
            <a:r>
              <a:rPr lang="en-GB" sz="1800" b="0" dirty="0" smtClean="0">
                <a:solidFill>
                  <a:schemeClr val="accent2"/>
                </a:solidFill>
              </a:rPr>
              <a:t>JOA</a:t>
            </a:r>
            <a:endParaRPr lang="en-GB" sz="1800" dirty="0">
              <a:solidFill>
                <a:schemeClr val="accent2"/>
              </a:solidFill>
            </a:endParaRPr>
          </a:p>
          <a:p>
            <a:r>
              <a:rPr lang="en-GB" sz="1800" dirty="0">
                <a:solidFill>
                  <a:schemeClr val="accent2"/>
                </a:solidFill>
              </a:rPr>
              <a:t>CCs</a:t>
            </a:r>
            <a:r>
              <a:rPr lang="en-GB" sz="1800" b="0" dirty="0">
                <a:solidFill>
                  <a:schemeClr val="accent2"/>
                </a:solidFill>
              </a:rPr>
              <a:t> – Informing the requirement, delegation to Battle Space Owners (BSO)</a:t>
            </a:r>
          </a:p>
          <a:p>
            <a:r>
              <a:rPr lang="en-GB" sz="1800" dirty="0">
                <a:solidFill>
                  <a:schemeClr val="accent2"/>
                </a:solidFill>
              </a:rPr>
              <a:t>BSO</a:t>
            </a:r>
            <a:r>
              <a:rPr lang="en-GB" sz="1800" b="0" dirty="0">
                <a:solidFill>
                  <a:schemeClr val="accent2"/>
                </a:solidFill>
              </a:rPr>
              <a:t>s – ESMRM application, assessment &amp; mitigation</a:t>
            </a:r>
          </a:p>
          <a:p>
            <a:endParaRPr lang="en-GB" sz="800" b="0" dirty="0">
              <a:solidFill>
                <a:schemeClr val="accent2"/>
              </a:solidFill>
            </a:endParaRPr>
          </a:p>
          <a:p>
            <a:r>
              <a:rPr lang="en-GB" sz="1800" b="0" u="sng" dirty="0">
                <a:solidFill>
                  <a:schemeClr val="accent2"/>
                </a:solidFill>
              </a:rPr>
              <a:t>Nations</a:t>
            </a:r>
            <a:r>
              <a:rPr lang="en-GB" sz="1800" b="0" dirty="0">
                <a:solidFill>
                  <a:schemeClr val="accent2"/>
                </a:solidFill>
              </a:rPr>
              <a:t> – Support establishment of ESMRM, authority endorsement, CRMs</a:t>
            </a:r>
          </a:p>
          <a:p>
            <a:endParaRPr lang="en-GB" b="0" dirty="0"/>
          </a:p>
        </p:txBody>
      </p:sp>
      <p:sp>
        <p:nvSpPr>
          <p:cNvPr id="4" name="Footer Placeholder 3">
            <a:extLst>
              <a:ext uri="{FF2B5EF4-FFF2-40B4-BE49-F238E27FC236}">
                <a16:creationId xmlns="" xmlns:a16="http://schemas.microsoft.com/office/drawing/2014/main" id="{4C2E3B66-4FF8-9041-8BF9-E09354A24FDA}"/>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 xmlns:a16="http://schemas.microsoft.com/office/drawing/2014/main" id="{A0015D46-DDE7-9F42-BAF2-910831081FA4}"/>
              </a:ext>
            </a:extLst>
          </p:cNvPr>
          <p:cNvSpPr>
            <a:spLocks noGrp="1"/>
          </p:cNvSpPr>
          <p:nvPr>
            <p:ph type="sldNum" sz="quarter" idx="4"/>
          </p:nvPr>
        </p:nvSpPr>
        <p:spPr/>
        <p:txBody>
          <a:bodyPr/>
          <a:lstStyle/>
          <a:p>
            <a:r>
              <a:rPr lang="en-GB"/>
              <a:t>| Slide </a:t>
            </a:r>
            <a:fld id="{AC1C9A27-5D71-496E-AC2B-58C1CA833928}" type="slidenum">
              <a:rPr lang="en-GB" smtClean="0"/>
              <a:pPr/>
              <a:t>24</a:t>
            </a:fld>
            <a:endParaRPr lang="en-GB" dirty="0"/>
          </a:p>
        </p:txBody>
      </p:sp>
      <p:sp>
        <p:nvSpPr>
          <p:cNvPr id="6" name="Date Placeholder 5">
            <a:extLst>
              <a:ext uri="{FF2B5EF4-FFF2-40B4-BE49-F238E27FC236}">
                <a16:creationId xmlns="" xmlns:a16="http://schemas.microsoft.com/office/drawing/2014/main" id="{E1896BE9-6F59-3249-85E0-FB5885F820AD}"/>
              </a:ext>
            </a:extLst>
          </p:cNvPr>
          <p:cNvSpPr>
            <a:spLocks noGrp="1"/>
          </p:cNvSpPr>
          <p:nvPr>
            <p:ph type="dt" sz="half" idx="2"/>
          </p:nvPr>
        </p:nvSpPr>
        <p:spPr/>
        <p:txBody>
          <a:bodyPr/>
          <a:lstStyle/>
          <a:p>
            <a:pPr lvl="1"/>
            <a:fld id="{4AA8F6DC-237A-4057-8953-446ECCB83F9A}" type="datetime1">
              <a:rPr lang="en-US" smtClean="0"/>
              <a:pPr lvl="1"/>
              <a:t>13/06/2023</a:t>
            </a:fld>
            <a:endParaRPr lang="en-GB" dirty="0"/>
          </a:p>
        </p:txBody>
      </p:sp>
    </p:spTree>
    <p:extLst>
      <p:ext uri="{BB962C8B-B14F-4D97-AF65-F5344CB8AC3E}">
        <p14:creationId xmlns:p14="http://schemas.microsoft.com/office/powerpoint/2010/main" val="27713243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25</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13/06/2023</a:t>
            </a:fld>
            <a:endParaRPr lang="en-GB" dirty="0"/>
          </a:p>
        </p:txBody>
      </p:sp>
      <p:sp>
        <p:nvSpPr>
          <p:cNvPr id="8" name="Title 1">
            <a:extLst>
              <a:ext uri="{FF2B5EF4-FFF2-40B4-BE49-F238E27FC236}">
                <a16:creationId xmlns="" xmlns:a16="http://schemas.microsoft.com/office/drawing/2014/main" id="{5EDB0F6B-3A11-5447-9170-F2D43482B1C0}"/>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9" name="Rectangle 8">
            <a:extLst>
              <a:ext uri="{FF2B5EF4-FFF2-40B4-BE49-F238E27FC236}">
                <a16:creationId xmlns="" xmlns:a16="http://schemas.microsoft.com/office/drawing/2014/main" id="{1DFF0870-6B70-4644-8160-8D5D83DCF535}"/>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
        <p:nvSpPr>
          <p:cNvPr id="5" name="Rectangle 4">
            <a:extLst>
              <a:ext uri="{FF2B5EF4-FFF2-40B4-BE49-F238E27FC236}">
                <a16:creationId xmlns="" xmlns:a16="http://schemas.microsoft.com/office/drawing/2014/main" id="{48D4BF23-E08D-BD4D-84EB-675270225BE6}"/>
              </a:ext>
            </a:extLst>
          </p:cNvPr>
          <p:cNvSpPr/>
          <p:nvPr/>
        </p:nvSpPr>
        <p:spPr>
          <a:xfrm>
            <a:off x="963827" y="1235676"/>
            <a:ext cx="7401697" cy="2677656"/>
          </a:xfrm>
          <a:prstGeom prst="rect">
            <a:avLst/>
          </a:prstGeom>
        </p:spPr>
        <p:txBody>
          <a:bodyPr wrap="square">
            <a:spAutoFit/>
          </a:bodyPr>
          <a:lstStyle/>
          <a:p>
            <a:pPr algn="just"/>
            <a:r>
              <a:rPr lang="en-GB" sz="2200" dirty="0"/>
              <a:t>Explosive safety risk decisions are national responsibilities, unless authority is given to appropriate NATO commanders by the host or transit nation. The authority to apply this ALP and subsequently make risk decisions must be confirmed by the Operations or Exercise Commander and endorsed by the appropriate host or transit nation.</a:t>
            </a:r>
          </a:p>
          <a:p>
            <a:pPr algn="just"/>
            <a:endParaRPr lang="en-GB" dirty="0"/>
          </a:p>
          <a:p>
            <a:pPr algn="just"/>
            <a:endParaRPr lang="en-GB" dirty="0"/>
          </a:p>
        </p:txBody>
      </p:sp>
      <p:sp>
        <p:nvSpPr>
          <p:cNvPr id="7" name="Rectangle 6">
            <a:extLst>
              <a:ext uri="{FF2B5EF4-FFF2-40B4-BE49-F238E27FC236}">
                <a16:creationId xmlns="" xmlns:a16="http://schemas.microsoft.com/office/drawing/2014/main" id="{25A9E4DA-7F7A-754E-8C08-892EF93AF6BA}"/>
              </a:ext>
            </a:extLst>
          </p:cNvPr>
          <p:cNvSpPr/>
          <p:nvPr/>
        </p:nvSpPr>
        <p:spPr>
          <a:xfrm>
            <a:off x="914400" y="3756454"/>
            <a:ext cx="7438768" cy="90204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dirty="0">
                <a:solidFill>
                  <a:schemeClr val="tx1"/>
                </a:solidFill>
              </a:rPr>
              <a:t>ALP-16     Chapter 1 Para 1.2.3. NATO ESMRM </a:t>
            </a:r>
            <a:r>
              <a:rPr lang="de-DE" sz="2800" dirty="0" err="1">
                <a:solidFill>
                  <a:schemeClr val="tx1"/>
                </a:solidFill>
              </a:rPr>
              <a:t>Policy</a:t>
            </a:r>
            <a:endParaRPr lang="de-DE" sz="2800" dirty="0">
              <a:solidFill>
                <a:schemeClr val="tx1"/>
              </a:solidFill>
            </a:endParaRPr>
          </a:p>
        </p:txBody>
      </p:sp>
    </p:spTree>
    <p:extLst>
      <p:ext uri="{BB962C8B-B14F-4D97-AF65-F5344CB8AC3E}">
        <p14:creationId xmlns:p14="http://schemas.microsoft.com/office/powerpoint/2010/main" val="4155088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26</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13/06/2023</a:t>
            </a:fld>
            <a:endParaRPr lang="en-GB" dirty="0"/>
          </a:p>
        </p:txBody>
      </p:sp>
      <p:sp>
        <p:nvSpPr>
          <p:cNvPr id="3" name="TextBox 2"/>
          <p:cNvSpPr txBox="1"/>
          <p:nvPr/>
        </p:nvSpPr>
        <p:spPr>
          <a:xfrm>
            <a:off x="486207" y="961893"/>
            <a:ext cx="8484658" cy="3908762"/>
          </a:xfrm>
          <a:prstGeom prst="rect">
            <a:avLst/>
          </a:prstGeom>
          <a:noFill/>
        </p:spPr>
        <p:txBody>
          <a:bodyPr wrap="square" rtlCol="0">
            <a:spAutoFit/>
          </a:bodyPr>
          <a:lstStyle/>
          <a:p>
            <a:r>
              <a:rPr lang="en-GB" sz="2400" dirty="0">
                <a:solidFill>
                  <a:schemeClr val="accent2"/>
                </a:solidFill>
              </a:rPr>
              <a:t>Authority</a:t>
            </a:r>
          </a:p>
          <a:p>
            <a:pPr marL="285750" indent="-285750">
              <a:buFont typeface="Arial" panose="020B0604020202020204" pitchFamily="34" charset="0"/>
              <a:buChar char="•"/>
            </a:pPr>
            <a:r>
              <a:rPr lang="en-GB" sz="2000" dirty="0">
                <a:solidFill>
                  <a:schemeClr val="accent2"/>
                </a:solidFill>
              </a:rPr>
              <a:t>The authority to apply ESMRM principles to any type of military activity must be granted</a:t>
            </a:r>
          </a:p>
          <a:p>
            <a:pPr marL="285750" indent="-285750">
              <a:buFont typeface="Arial" panose="020B0604020202020204" pitchFamily="34" charset="0"/>
              <a:buChar char="•"/>
            </a:pPr>
            <a:r>
              <a:rPr lang="en-GB" sz="2000" dirty="0">
                <a:solidFill>
                  <a:schemeClr val="accent2"/>
                </a:solidFill>
              </a:rPr>
              <a:t>No standing agreement or authority to apply the ESMRM process and take explosives safety risk decisions exists for NATO military activity within host nations</a:t>
            </a:r>
          </a:p>
          <a:p>
            <a:pPr marL="285750" indent="-285750">
              <a:buFont typeface="Arial" panose="020B0604020202020204" pitchFamily="34" charset="0"/>
              <a:buChar char="•"/>
            </a:pPr>
            <a:r>
              <a:rPr lang="en-GB" sz="2000" dirty="0">
                <a:solidFill>
                  <a:schemeClr val="accent2"/>
                </a:solidFill>
              </a:rPr>
              <a:t>Each NATO sovereign nation holds the authority and must be consulted in order for it to be granted to NATO commanders</a:t>
            </a:r>
          </a:p>
          <a:p>
            <a:pPr marL="285750" indent="-285750">
              <a:buFont typeface="Arial" panose="020B0604020202020204" pitchFamily="34" charset="0"/>
              <a:buChar char="•"/>
            </a:pPr>
            <a:r>
              <a:rPr lang="en-GB" sz="2000" dirty="0">
                <a:solidFill>
                  <a:schemeClr val="accent2"/>
                </a:solidFill>
              </a:rPr>
              <a:t>SACEUR’s authority to conduct NATO military activity in NATO host nations is governed through the endorsement of specific plans and directives by the NAC and at times by individual HNs</a:t>
            </a:r>
          </a:p>
          <a:p>
            <a:r>
              <a:rPr lang="en-GB" sz="2400" dirty="0">
                <a:solidFill>
                  <a:schemeClr val="tx1">
                    <a:lumMod val="65000"/>
                    <a:lumOff val="35000"/>
                  </a:schemeClr>
                </a:solidFill>
              </a:rPr>
              <a:t> </a:t>
            </a:r>
          </a:p>
        </p:txBody>
      </p:sp>
      <p:sp>
        <p:nvSpPr>
          <p:cNvPr id="2" name="TextBox 1">
            <a:extLst>
              <a:ext uri="{FF2B5EF4-FFF2-40B4-BE49-F238E27FC236}">
                <a16:creationId xmlns="" xmlns:a16="http://schemas.microsoft.com/office/drawing/2014/main" id="{CE8D9A0F-9C2F-1C4E-B93D-80082E9B9DBF}"/>
              </a:ext>
            </a:extLst>
          </p:cNvPr>
          <p:cNvSpPr txBox="1"/>
          <p:nvPr/>
        </p:nvSpPr>
        <p:spPr>
          <a:xfrm>
            <a:off x="265082" y="5130390"/>
            <a:ext cx="8613833" cy="707886"/>
          </a:xfrm>
          <a:prstGeom prst="rect">
            <a:avLst/>
          </a:prstGeom>
          <a:solidFill>
            <a:srgbClr val="E5E402"/>
          </a:solidFill>
          <a:ln>
            <a:solidFill>
              <a:schemeClr val="accent6"/>
            </a:solidFill>
          </a:ln>
        </p:spPr>
        <p:txBody>
          <a:bodyPr wrap="none" rtlCol="0">
            <a:spAutoFit/>
          </a:bodyPr>
          <a:lstStyle/>
          <a:p>
            <a:r>
              <a:rPr lang="en-GB" sz="2000" dirty="0"/>
              <a:t>It is therefore imperative that authority is brokered during planning and the plan </a:t>
            </a:r>
          </a:p>
          <a:p>
            <a:r>
              <a:rPr lang="en-GB" sz="2000" dirty="0"/>
              <a:t>illustrates what authorities are granted and at what point of the military activity </a:t>
            </a:r>
            <a:endParaRPr lang="de-DE" sz="2000" dirty="0"/>
          </a:p>
        </p:txBody>
      </p:sp>
      <p:sp>
        <p:nvSpPr>
          <p:cNvPr id="8" name="Title 1">
            <a:extLst>
              <a:ext uri="{FF2B5EF4-FFF2-40B4-BE49-F238E27FC236}">
                <a16:creationId xmlns="" xmlns:a16="http://schemas.microsoft.com/office/drawing/2014/main" id="{5EDB0F6B-3A11-5447-9170-F2D43482B1C0}"/>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9" name="Rectangle 8">
            <a:extLst>
              <a:ext uri="{FF2B5EF4-FFF2-40B4-BE49-F238E27FC236}">
                <a16:creationId xmlns="" xmlns:a16="http://schemas.microsoft.com/office/drawing/2014/main" id="{1DFF0870-6B70-4644-8160-8D5D83DCF535}"/>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20085642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27</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13/06/2023</a:t>
            </a:fld>
            <a:endParaRPr lang="en-GB" dirty="0"/>
          </a:p>
        </p:txBody>
      </p:sp>
      <p:sp>
        <p:nvSpPr>
          <p:cNvPr id="7" name="Rectangle 6">
            <a:extLst>
              <a:ext uri="{FF2B5EF4-FFF2-40B4-BE49-F238E27FC236}">
                <a16:creationId xmlns="" xmlns:a16="http://schemas.microsoft.com/office/drawing/2014/main" id="{BF79E7C2-AC77-174F-85CF-63E47606E944}"/>
              </a:ext>
            </a:extLst>
          </p:cNvPr>
          <p:cNvSpPr/>
          <p:nvPr/>
        </p:nvSpPr>
        <p:spPr>
          <a:xfrm>
            <a:off x="2995617" y="2371725"/>
            <a:ext cx="3943350" cy="200025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 xmlns:a16="http://schemas.microsoft.com/office/drawing/2014/main" id="{B21CA279-04F3-8641-8CDC-20FB8C3177F0}"/>
              </a:ext>
            </a:extLst>
          </p:cNvPr>
          <p:cNvCxnSpPr/>
          <p:nvPr/>
        </p:nvCxnSpPr>
        <p:spPr>
          <a:xfrm>
            <a:off x="2995617" y="2371725"/>
            <a:ext cx="0" cy="200025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78E9E32B-1D01-F84D-B9AE-2766022FD2EC}"/>
              </a:ext>
            </a:extLst>
          </p:cNvPr>
          <p:cNvCxnSpPr>
            <a:cxnSpLocks/>
          </p:cNvCxnSpPr>
          <p:nvPr/>
        </p:nvCxnSpPr>
        <p:spPr>
          <a:xfrm flipH="1">
            <a:off x="2995617" y="4371975"/>
            <a:ext cx="394335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 xmlns:a16="http://schemas.microsoft.com/office/drawing/2014/main" id="{7B788761-D322-9141-9684-9F3C2582DB6B}"/>
              </a:ext>
            </a:extLst>
          </p:cNvPr>
          <p:cNvSpPr txBox="1"/>
          <p:nvPr/>
        </p:nvSpPr>
        <p:spPr>
          <a:xfrm>
            <a:off x="3117876" y="4465904"/>
            <a:ext cx="737894" cy="369332"/>
          </a:xfrm>
          <a:prstGeom prst="rect">
            <a:avLst/>
          </a:prstGeom>
          <a:noFill/>
        </p:spPr>
        <p:txBody>
          <a:bodyPr wrap="none" rtlCol="0">
            <a:spAutoFit/>
          </a:bodyPr>
          <a:lstStyle/>
          <a:p>
            <a:r>
              <a:rPr lang="en-GB" dirty="0"/>
              <a:t>Peace</a:t>
            </a:r>
          </a:p>
        </p:txBody>
      </p:sp>
      <p:sp>
        <p:nvSpPr>
          <p:cNvPr id="13" name="TextBox 12">
            <a:extLst>
              <a:ext uri="{FF2B5EF4-FFF2-40B4-BE49-F238E27FC236}">
                <a16:creationId xmlns="" xmlns:a16="http://schemas.microsoft.com/office/drawing/2014/main" id="{3F20C3F1-0D96-1F47-86F8-66E55E947963}"/>
              </a:ext>
            </a:extLst>
          </p:cNvPr>
          <p:cNvSpPr txBox="1"/>
          <p:nvPr/>
        </p:nvSpPr>
        <p:spPr>
          <a:xfrm>
            <a:off x="6037502" y="4502573"/>
            <a:ext cx="901465" cy="369332"/>
          </a:xfrm>
          <a:prstGeom prst="rect">
            <a:avLst/>
          </a:prstGeom>
          <a:noFill/>
        </p:spPr>
        <p:txBody>
          <a:bodyPr wrap="none" rtlCol="0">
            <a:spAutoFit/>
          </a:bodyPr>
          <a:lstStyle/>
          <a:p>
            <a:r>
              <a:rPr lang="en-GB" dirty="0"/>
              <a:t>Conflict</a:t>
            </a:r>
          </a:p>
        </p:txBody>
      </p:sp>
      <p:sp>
        <p:nvSpPr>
          <p:cNvPr id="14" name="TextBox 13">
            <a:extLst>
              <a:ext uri="{FF2B5EF4-FFF2-40B4-BE49-F238E27FC236}">
                <a16:creationId xmlns="" xmlns:a16="http://schemas.microsoft.com/office/drawing/2014/main" id="{CCC6BFDE-FEC6-7349-910B-228B27D0DEDC}"/>
              </a:ext>
            </a:extLst>
          </p:cNvPr>
          <p:cNvSpPr txBox="1"/>
          <p:nvPr/>
        </p:nvSpPr>
        <p:spPr>
          <a:xfrm>
            <a:off x="4630501" y="4502573"/>
            <a:ext cx="673582" cy="369332"/>
          </a:xfrm>
          <a:prstGeom prst="rect">
            <a:avLst/>
          </a:prstGeom>
          <a:noFill/>
        </p:spPr>
        <p:txBody>
          <a:bodyPr wrap="none" rtlCol="0">
            <a:spAutoFit/>
          </a:bodyPr>
          <a:lstStyle/>
          <a:p>
            <a:r>
              <a:rPr lang="en-GB" dirty="0"/>
              <a:t>Crisis</a:t>
            </a:r>
          </a:p>
        </p:txBody>
      </p:sp>
      <p:sp>
        <p:nvSpPr>
          <p:cNvPr id="15" name="TextBox 14">
            <a:extLst>
              <a:ext uri="{FF2B5EF4-FFF2-40B4-BE49-F238E27FC236}">
                <a16:creationId xmlns="" xmlns:a16="http://schemas.microsoft.com/office/drawing/2014/main" id="{587EB799-6959-104C-BCFE-5F233E43C4A1}"/>
              </a:ext>
            </a:extLst>
          </p:cNvPr>
          <p:cNvSpPr txBox="1"/>
          <p:nvPr/>
        </p:nvSpPr>
        <p:spPr>
          <a:xfrm rot="16200000">
            <a:off x="1966473" y="3206233"/>
            <a:ext cx="1074333" cy="369332"/>
          </a:xfrm>
          <a:prstGeom prst="rect">
            <a:avLst/>
          </a:prstGeom>
          <a:noFill/>
        </p:spPr>
        <p:txBody>
          <a:bodyPr wrap="none" rtlCol="0">
            <a:spAutoFit/>
          </a:bodyPr>
          <a:lstStyle/>
          <a:p>
            <a:r>
              <a:rPr lang="en-GB" dirty="0"/>
              <a:t>Authority</a:t>
            </a:r>
          </a:p>
        </p:txBody>
      </p:sp>
      <p:cxnSp>
        <p:nvCxnSpPr>
          <p:cNvPr id="16" name="Straight Arrow Connector 15">
            <a:extLst>
              <a:ext uri="{FF2B5EF4-FFF2-40B4-BE49-F238E27FC236}">
                <a16:creationId xmlns="" xmlns:a16="http://schemas.microsoft.com/office/drawing/2014/main" id="{B239A5B3-B589-0F42-8E2B-F6884EB5E666}"/>
              </a:ext>
            </a:extLst>
          </p:cNvPr>
          <p:cNvCxnSpPr/>
          <p:nvPr/>
        </p:nvCxnSpPr>
        <p:spPr>
          <a:xfrm flipV="1">
            <a:off x="2647950" y="2409825"/>
            <a:ext cx="0" cy="19621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reeform 16">
            <a:extLst>
              <a:ext uri="{FF2B5EF4-FFF2-40B4-BE49-F238E27FC236}">
                <a16:creationId xmlns="" xmlns:a16="http://schemas.microsoft.com/office/drawing/2014/main" id="{C1C4E16A-1744-C74C-97B5-F38F5D7A82FC}"/>
              </a:ext>
            </a:extLst>
          </p:cNvPr>
          <p:cNvSpPr/>
          <p:nvPr/>
        </p:nvSpPr>
        <p:spPr>
          <a:xfrm>
            <a:off x="3032775" y="2409825"/>
            <a:ext cx="3887495" cy="1924050"/>
          </a:xfrm>
          <a:custGeom>
            <a:avLst/>
            <a:gdLst>
              <a:gd name="connsiteX0" fmla="*/ 0 w 3790950"/>
              <a:gd name="connsiteY0" fmla="*/ 1895475 h 1895475"/>
              <a:gd name="connsiteX1" fmla="*/ 2181225 w 3790950"/>
              <a:gd name="connsiteY1" fmla="*/ 1552575 h 1895475"/>
              <a:gd name="connsiteX2" fmla="*/ 3790950 w 3790950"/>
              <a:gd name="connsiteY2" fmla="*/ 0 h 1895475"/>
            </a:gdLst>
            <a:ahLst/>
            <a:cxnLst>
              <a:cxn ang="0">
                <a:pos x="connsiteX0" y="connsiteY0"/>
              </a:cxn>
              <a:cxn ang="0">
                <a:pos x="connsiteX1" y="connsiteY1"/>
              </a:cxn>
              <a:cxn ang="0">
                <a:pos x="connsiteX2" y="connsiteY2"/>
              </a:cxn>
            </a:cxnLst>
            <a:rect l="l" t="t" r="r" b="b"/>
            <a:pathLst>
              <a:path w="3790950" h="1895475">
                <a:moveTo>
                  <a:pt x="0" y="1895475"/>
                </a:moveTo>
                <a:cubicBezTo>
                  <a:pt x="774700" y="1881981"/>
                  <a:pt x="1549400" y="1868487"/>
                  <a:pt x="2181225" y="1552575"/>
                </a:cubicBezTo>
                <a:cubicBezTo>
                  <a:pt x="2813050" y="1236663"/>
                  <a:pt x="3302000" y="618331"/>
                  <a:pt x="3790950" y="0"/>
                </a:cubicBezTo>
              </a:path>
            </a:pathLst>
          </a:custGeom>
          <a:noFill/>
          <a:ln>
            <a:solidFill>
              <a:srgbClr val="9D0F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 xmlns:a16="http://schemas.microsoft.com/office/drawing/2014/main" id="{34671B73-60CE-0F4F-AFBB-CAC18216EC07}"/>
              </a:ext>
            </a:extLst>
          </p:cNvPr>
          <p:cNvSpPr txBox="1"/>
          <p:nvPr/>
        </p:nvSpPr>
        <p:spPr>
          <a:xfrm>
            <a:off x="935954" y="3972747"/>
            <a:ext cx="979242" cy="369332"/>
          </a:xfrm>
          <a:prstGeom prst="rect">
            <a:avLst/>
          </a:prstGeom>
          <a:noFill/>
        </p:spPr>
        <p:txBody>
          <a:bodyPr wrap="none" rtlCol="0">
            <a:spAutoFit/>
          </a:bodyPr>
          <a:lstStyle/>
          <a:p>
            <a:r>
              <a:rPr lang="en-GB" dirty="0"/>
              <a:t>National</a:t>
            </a:r>
          </a:p>
        </p:txBody>
      </p:sp>
      <p:sp>
        <p:nvSpPr>
          <p:cNvPr id="19" name="TextBox 18">
            <a:extLst>
              <a:ext uri="{FF2B5EF4-FFF2-40B4-BE49-F238E27FC236}">
                <a16:creationId xmlns="" xmlns:a16="http://schemas.microsoft.com/office/drawing/2014/main" id="{ADE6854A-6C3B-464C-BDF0-1D8773C24553}"/>
              </a:ext>
            </a:extLst>
          </p:cNvPr>
          <p:cNvSpPr txBox="1"/>
          <p:nvPr/>
        </p:nvSpPr>
        <p:spPr>
          <a:xfrm>
            <a:off x="1005692" y="2669066"/>
            <a:ext cx="759632" cy="369332"/>
          </a:xfrm>
          <a:prstGeom prst="rect">
            <a:avLst/>
          </a:prstGeom>
          <a:noFill/>
        </p:spPr>
        <p:txBody>
          <a:bodyPr wrap="none" rtlCol="0">
            <a:spAutoFit/>
          </a:bodyPr>
          <a:lstStyle/>
          <a:p>
            <a:r>
              <a:rPr lang="en-GB" dirty="0"/>
              <a:t>NATO </a:t>
            </a:r>
          </a:p>
        </p:txBody>
      </p:sp>
      <p:sp>
        <p:nvSpPr>
          <p:cNvPr id="20" name="TextBox 19">
            <a:extLst>
              <a:ext uri="{FF2B5EF4-FFF2-40B4-BE49-F238E27FC236}">
                <a16:creationId xmlns="" xmlns:a16="http://schemas.microsoft.com/office/drawing/2014/main" id="{874549F4-2428-3449-B28F-BACE7F5F99C4}"/>
              </a:ext>
            </a:extLst>
          </p:cNvPr>
          <p:cNvSpPr txBox="1"/>
          <p:nvPr/>
        </p:nvSpPr>
        <p:spPr>
          <a:xfrm>
            <a:off x="688895" y="3271001"/>
            <a:ext cx="1591077" cy="369332"/>
          </a:xfrm>
          <a:prstGeom prst="rect">
            <a:avLst/>
          </a:prstGeom>
          <a:noFill/>
        </p:spPr>
        <p:txBody>
          <a:bodyPr wrap="none" rtlCol="0">
            <a:spAutoFit/>
          </a:bodyPr>
          <a:lstStyle/>
          <a:p>
            <a:r>
              <a:rPr lang="en-GB" dirty="0"/>
              <a:t>National/NATO</a:t>
            </a:r>
          </a:p>
        </p:txBody>
      </p:sp>
      <p:sp>
        <p:nvSpPr>
          <p:cNvPr id="2" name="TextBox 1">
            <a:extLst>
              <a:ext uri="{FF2B5EF4-FFF2-40B4-BE49-F238E27FC236}">
                <a16:creationId xmlns="" xmlns:a16="http://schemas.microsoft.com/office/drawing/2014/main" id="{CF0AF05E-A691-7D4A-82D3-B33DDB680AA2}"/>
              </a:ext>
            </a:extLst>
          </p:cNvPr>
          <p:cNvSpPr txBox="1"/>
          <p:nvPr/>
        </p:nvSpPr>
        <p:spPr>
          <a:xfrm>
            <a:off x="1517715" y="1065229"/>
            <a:ext cx="1569660" cy="523220"/>
          </a:xfrm>
          <a:prstGeom prst="rect">
            <a:avLst/>
          </a:prstGeom>
          <a:noFill/>
        </p:spPr>
        <p:txBody>
          <a:bodyPr wrap="none" rtlCol="0">
            <a:spAutoFit/>
          </a:bodyPr>
          <a:lstStyle/>
          <a:p>
            <a:r>
              <a:rPr lang="en-GB" sz="2800" dirty="0">
                <a:solidFill>
                  <a:schemeClr val="accent5"/>
                </a:solidFill>
              </a:rPr>
              <a:t>Authority</a:t>
            </a:r>
          </a:p>
        </p:txBody>
      </p:sp>
      <p:sp>
        <p:nvSpPr>
          <p:cNvPr id="21" name="Title 1">
            <a:extLst>
              <a:ext uri="{FF2B5EF4-FFF2-40B4-BE49-F238E27FC236}">
                <a16:creationId xmlns="" xmlns:a16="http://schemas.microsoft.com/office/drawing/2014/main" id="{31C72746-D38F-024F-91CA-CFB30C83BB48}"/>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22" name="Rectangle 21">
            <a:extLst>
              <a:ext uri="{FF2B5EF4-FFF2-40B4-BE49-F238E27FC236}">
                <a16:creationId xmlns="" xmlns:a16="http://schemas.microsoft.com/office/drawing/2014/main" id="{581609ED-A786-7640-8559-6C7954E1F49B}"/>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6066651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28</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13/06/2023</a:t>
            </a:fld>
            <a:endParaRPr lang="en-GB" dirty="0"/>
          </a:p>
        </p:txBody>
      </p:sp>
      <p:sp>
        <p:nvSpPr>
          <p:cNvPr id="7" name="Rectangle 6">
            <a:extLst>
              <a:ext uri="{FF2B5EF4-FFF2-40B4-BE49-F238E27FC236}">
                <a16:creationId xmlns="" xmlns:a16="http://schemas.microsoft.com/office/drawing/2014/main" id="{BF79E7C2-AC77-174F-85CF-63E47606E944}"/>
              </a:ext>
            </a:extLst>
          </p:cNvPr>
          <p:cNvSpPr/>
          <p:nvPr/>
        </p:nvSpPr>
        <p:spPr>
          <a:xfrm>
            <a:off x="2995617" y="2371725"/>
            <a:ext cx="3943350" cy="200025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 xmlns:a16="http://schemas.microsoft.com/office/drawing/2014/main" id="{B21CA279-04F3-8641-8CDC-20FB8C3177F0}"/>
              </a:ext>
            </a:extLst>
          </p:cNvPr>
          <p:cNvCxnSpPr/>
          <p:nvPr/>
        </p:nvCxnSpPr>
        <p:spPr>
          <a:xfrm>
            <a:off x="2995617" y="2371725"/>
            <a:ext cx="0" cy="200025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78E9E32B-1D01-F84D-B9AE-2766022FD2EC}"/>
              </a:ext>
            </a:extLst>
          </p:cNvPr>
          <p:cNvCxnSpPr>
            <a:cxnSpLocks/>
          </p:cNvCxnSpPr>
          <p:nvPr/>
        </p:nvCxnSpPr>
        <p:spPr>
          <a:xfrm flipH="1">
            <a:off x="2995617" y="4371975"/>
            <a:ext cx="394335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 xmlns:a16="http://schemas.microsoft.com/office/drawing/2014/main" id="{7B788761-D322-9141-9684-9F3C2582DB6B}"/>
              </a:ext>
            </a:extLst>
          </p:cNvPr>
          <p:cNvSpPr txBox="1"/>
          <p:nvPr/>
        </p:nvSpPr>
        <p:spPr>
          <a:xfrm>
            <a:off x="3117876" y="4465904"/>
            <a:ext cx="737894" cy="369332"/>
          </a:xfrm>
          <a:prstGeom prst="rect">
            <a:avLst/>
          </a:prstGeom>
          <a:noFill/>
        </p:spPr>
        <p:txBody>
          <a:bodyPr wrap="none" rtlCol="0">
            <a:spAutoFit/>
          </a:bodyPr>
          <a:lstStyle/>
          <a:p>
            <a:r>
              <a:rPr lang="en-GB" dirty="0"/>
              <a:t>Peace</a:t>
            </a:r>
          </a:p>
        </p:txBody>
      </p:sp>
      <p:sp>
        <p:nvSpPr>
          <p:cNvPr id="13" name="TextBox 12">
            <a:extLst>
              <a:ext uri="{FF2B5EF4-FFF2-40B4-BE49-F238E27FC236}">
                <a16:creationId xmlns="" xmlns:a16="http://schemas.microsoft.com/office/drawing/2014/main" id="{3F20C3F1-0D96-1F47-86F8-66E55E947963}"/>
              </a:ext>
            </a:extLst>
          </p:cNvPr>
          <p:cNvSpPr txBox="1"/>
          <p:nvPr/>
        </p:nvSpPr>
        <p:spPr>
          <a:xfrm>
            <a:off x="6037502" y="4502573"/>
            <a:ext cx="901465" cy="369332"/>
          </a:xfrm>
          <a:prstGeom prst="rect">
            <a:avLst/>
          </a:prstGeom>
          <a:noFill/>
        </p:spPr>
        <p:txBody>
          <a:bodyPr wrap="none" rtlCol="0">
            <a:spAutoFit/>
          </a:bodyPr>
          <a:lstStyle/>
          <a:p>
            <a:r>
              <a:rPr lang="en-GB" dirty="0"/>
              <a:t>Conflict</a:t>
            </a:r>
          </a:p>
        </p:txBody>
      </p:sp>
      <p:sp>
        <p:nvSpPr>
          <p:cNvPr id="14" name="TextBox 13">
            <a:extLst>
              <a:ext uri="{FF2B5EF4-FFF2-40B4-BE49-F238E27FC236}">
                <a16:creationId xmlns="" xmlns:a16="http://schemas.microsoft.com/office/drawing/2014/main" id="{CCC6BFDE-FEC6-7349-910B-228B27D0DEDC}"/>
              </a:ext>
            </a:extLst>
          </p:cNvPr>
          <p:cNvSpPr txBox="1"/>
          <p:nvPr/>
        </p:nvSpPr>
        <p:spPr>
          <a:xfrm>
            <a:off x="4630501" y="4502573"/>
            <a:ext cx="673582" cy="369332"/>
          </a:xfrm>
          <a:prstGeom prst="rect">
            <a:avLst/>
          </a:prstGeom>
          <a:noFill/>
        </p:spPr>
        <p:txBody>
          <a:bodyPr wrap="none" rtlCol="0">
            <a:spAutoFit/>
          </a:bodyPr>
          <a:lstStyle/>
          <a:p>
            <a:r>
              <a:rPr lang="en-GB" dirty="0"/>
              <a:t>Crisis</a:t>
            </a:r>
          </a:p>
        </p:txBody>
      </p:sp>
      <p:sp>
        <p:nvSpPr>
          <p:cNvPr id="15" name="TextBox 14">
            <a:extLst>
              <a:ext uri="{FF2B5EF4-FFF2-40B4-BE49-F238E27FC236}">
                <a16:creationId xmlns="" xmlns:a16="http://schemas.microsoft.com/office/drawing/2014/main" id="{587EB799-6959-104C-BCFE-5F233E43C4A1}"/>
              </a:ext>
            </a:extLst>
          </p:cNvPr>
          <p:cNvSpPr txBox="1"/>
          <p:nvPr/>
        </p:nvSpPr>
        <p:spPr>
          <a:xfrm rot="16200000">
            <a:off x="1966473" y="3206233"/>
            <a:ext cx="1074333" cy="369332"/>
          </a:xfrm>
          <a:prstGeom prst="rect">
            <a:avLst/>
          </a:prstGeom>
          <a:noFill/>
        </p:spPr>
        <p:txBody>
          <a:bodyPr wrap="none" rtlCol="0">
            <a:spAutoFit/>
          </a:bodyPr>
          <a:lstStyle/>
          <a:p>
            <a:r>
              <a:rPr lang="en-GB" dirty="0"/>
              <a:t>Authority</a:t>
            </a:r>
          </a:p>
        </p:txBody>
      </p:sp>
      <p:cxnSp>
        <p:nvCxnSpPr>
          <p:cNvPr id="16" name="Straight Arrow Connector 15">
            <a:extLst>
              <a:ext uri="{FF2B5EF4-FFF2-40B4-BE49-F238E27FC236}">
                <a16:creationId xmlns="" xmlns:a16="http://schemas.microsoft.com/office/drawing/2014/main" id="{B239A5B3-B589-0F42-8E2B-F6884EB5E666}"/>
              </a:ext>
            </a:extLst>
          </p:cNvPr>
          <p:cNvCxnSpPr/>
          <p:nvPr/>
        </p:nvCxnSpPr>
        <p:spPr>
          <a:xfrm flipV="1">
            <a:off x="2647950" y="2409825"/>
            <a:ext cx="0" cy="19621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reeform 16">
            <a:extLst>
              <a:ext uri="{FF2B5EF4-FFF2-40B4-BE49-F238E27FC236}">
                <a16:creationId xmlns="" xmlns:a16="http://schemas.microsoft.com/office/drawing/2014/main" id="{C1C4E16A-1744-C74C-97B5-F38F5D7A82FC}"/>
              </a:ext>
            </a:extLst>
          </p:cNvPr>
          <p:cNvSpPr/>
          <p:nvPr/>
        </p:nvSpPr>
        <p:spPr>
          <a:xfrm>
            <a:off x="3032775" y="2409825"/>
            <a:ext cx="3887495" cy="1924050"/>
          </a:xfrm>
          <a:custGeom>
            <a:avLst/>
            <a:gdLst>
              <a:gd name="connsiteX0" fmla="*/ 0 w 3790950"/>
              <a:gd name="connsiteY0" fmla="*/ 1895475 h 1895475"/>
              <a:gd name="connsiteX1" fmla="*/ 2181225 w 3790950"/>
              <a:gd name="connsiteY1" fmla="*/ 1552575 h 1895475"/>
              <a:gd name="connsiteX2" fmla="*/ 3790950 w 3790950"/>
              <a:gd name="connsiteY2" fmla="*/ 0 h 1895475"/>
            </a:gdLst>
            <a:ahLst/>
            <a:cxnLst>
              <a:cxn ang="0">
                <a:pos x="connsiteX0" y="connsiteY0"/>
              </a:cxn>
              <a:cxn ang="0">
                <a:pos x="connsiteX1" y="connsiteY1"/>
              </a:cxn>
              <a:cxn ang="0">
                <a:pos x="connsiteX2" y="connsiteY2"/>
              </a:cxn>
            </a:cxnLst>
            <a:rect l="l" t="t" r="r" b="b"/>
            <a:pathLst>
              <a:path w="3790950" h="1895475">
                <a:moveTo>
                  <a:pt x="0" y="1895475"/>
                </a:moveTo>
                <a:cubicBezTo>
                  <a:pt x="774700" y="1881981"/>
                  <a:pt x="1549400" y="1868487"/>
                  <a:pt x="2181225" y="1552575"/>
                </a:cubicBezTo>
                <a:cubicBezTo>
                  <a:pt x="2813050" y="1236663"/>
                  <a:pt x="3302000" y="618331"/>
                  <a:pt x="3790950" y="0"/>
                </a:cubicBezTo>
              </a:path>
            </a:pathLst>
          </a:custGeom>
          <a:noFill/>
          <a:ln>
            <a:solidFill>
              <a:srgbClr val="9D0F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 xmlns:a16="http://schemas.microsoft.com/office/drawing/2014/main" id="{34671B73-60CE-0F4F-AFBB-CAC18216EC07}"/>
              </a:ext>
            </a:extLst>
          </p:cNvPr>
          <p:cNvSpPr txBox="1"/>
          <p:nvPr/>
        </p:nvSpPr>
        <p:spPr>
          <a:xfrm>
            <a:off x="935954" y="3972747"/>
            <a:ext cx="979242" cy="369332"/>
          </a:xfrm>
          <a:prstGeom prst="rect">
            <a:avLst/>
          </a:prstGeom>
          <a:noFill/>
        </p:spPr>
        <p:txBody>
          <a:bodyPr wrap="none" rtlCol="0">
            <a:spAutoFit/>
          </a:bodyPr>
          <a:lstStyle/>
          <a:p>
            <a:r>
              <a:rPr lang="en-GB" dirty="0"/>
              <a:t>National</a:t>
            </a:r>
          </a:p>
        </p:txBody>
      </p:sp>
      <p:sp>
        <p:nvSpPr>
          <p:cNvPr id="19" name="TextBox 18">
            <a:extLst>
              <a:ext uri="{FF2B5EF4-FFF2-40B4-BE49-F238E27FC236}">
                <a16:creationId xmlns="" xmlns:a16="http://schemas.microsoft.com/office/drawing/2014/main" id="{ADE6854A-6C3B-464C-BDF0-1D8773C24553}"/>
              </a:ext>
            </a:extLst>
          </p:cNvPr>
          <p:cNvSpPr txBox="1"/>
          <p:nvPr/>
        </p:nvSpPr>
        <p:spPr>
          <a:xfrm>
            <a:off x="1005692" y="2669066"/>
            <a:ext cx="759632" cy="369332"/>
          </a:xfrm>
          <a:prstGeom prst="rect">
            <a:avLst/>
          </a:prstGeom>
          <a:noFill/>
        </p:spPr>
        <p:txBody>
          <a:bodyPr wrap="none" rtlCol="0">
            <a:spAutoFit/>
          </a:bodyPr>
          <a:lstStyle/>
          <a:p>
            <a:r>
              <a:rPr lang="en-GB" dirty="0"/>
              <a:t>NATO </a:t>
            </a:r>
          </a:p>
        </p:txBody>
      </p:sp>
      <p:sp>
        <p:nvSpPr>
          <p:cNvPr id="20" name="TextBox 19">
            <a:extLst>
              <a:ext uri="{FF2B5EF4-FFF2-40B4-BE49-F238E27FC236}">
                <a16:creationId xmlns="" xmlns:a16="http://schemas.microsoft.com/office/drawing/2014/main" id="{874549F4-2428-3449-B28F-BACE7F5F99C4}"/>
              </a:ext>
            </a:extLst>
          </p:cNvPr>
          <p:cNvSpPr txBox="1"/>
          <p:nvPr/>
        </p:nvSpPr>
        <p:spPr>
          <a:xfrm>
            <a:off x="688895" y="3271001"/>
            <a:ext cx="1591077" cy="369332"/>
          </a:xfrm>
          <a:prstGeom prst="rect">
            <a:avLst/>
          </a:prstGeom>
          <a:noFill/>
        </p:spPr>
        <p:txBody>
          <a:bodyPr wrap="none" rtlCol="0">
            <a:spAutoFit/>
          </a:bodyPr>
          <a:lstStyle/>
          <a:p>
            <a:r>
              <a:rPr lang="en-GB" dirty="0"/>
              <a:t>National/NATO</a:t>
            </a:r>
          </a:p>
        </p:txBody>
      </p:sp>
      <p:cxnSp>
        <p:nvCxnSpPr>
          <p:cNvPr id="3" name="Straight Arrow Connector 2">
            <a:extLst>
              <a:ext uri="{FF2B5EF4-FFF2-40B4-BE49-F238E27FC236}">
                <a16:creationId xmlns="" xmlns:a16="http://schemas.microsoft.com/office/drawing/2014/main" id="{C799FE73-9066-674F-B989-67A26188867E}"/>
              </a:ext>
            </a:extLst>
          </p:cNvPr>
          <p:cNvCxnSpPr/>
          <p:nvPr/>
        </p:nvCxnSpPr>
        <p:spPr>
          <a:xfrm flipV="1">
            <a:off x="2995617" y="2409825"/>
            <a:ext cx="3943350" cy="1924050"/>
          </a:xfrm>
          <a:prstGeom prst="straightConnector1">
            <a:avLst/>
          </a:prstGeom>
          <a:ln w="28575">
            <a:solidFill>
              <a:srgbClr val="BD8628"/>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 xmlns:a16="http://schemas.microsoft.com/office/drawing/2014/main" id="{0E249F6D-6CC8-3748-98EF-6340574E7F71}"/>
              </a:ext>
            </a:extLst>
          </p:cNvPr>
          <p:cNvSpPr txBox="1"/>
          <p:nvPr/>
        </p:nvSpPr>
        <p:spPr>
          <a:xfrm rot="20044960">
            <a:off x="3951210" y="3290050"/>
            <a:ext cx="1370632" cy="276999"/>
          </a:xfrm>
          <a:prstGeom prst="rect">
            <a:avLst/>
          </a:prstGeom>
          <a:noFill/>
        </p:spPr>
        <p:txBody>
          <a:bodyPr wrap="none" rtlCol="0">
            <a:spAutoFit/>
          </a:bodyPr>
          <a:lstStyle/>
          <a:p>
            <a:r>
              <a:rPr lang="en-GB" sz="1200" dirty="0"/>
              <a:t>Speed of relevance</a:t>
            </a:r>
          </a:p>
        </p:txBody>
      </p:sp>
      <p:sp>
        <p:nvSpPr>
          <p:cNvPr id="22" name="TextBox 21">
            <a:extLst>
              <a:ext uri="{FF2B5EF4-FFF2-40B4-BE49-F238E27FC236}">
                <a16:creationId xmlns="" xmlns:a16="http://schemas.microsoft.com/office/drawing/2014/main" id="{99384CE0-EFF9-EF49-8D4E-FC90BA3AB15C}"/>
              </a:ext>
            </a:extLst>
          </p:cNvPr>
          <p:cNvSpPr txBox="1"/>
          <p:nvPr/>
        </p:nvSpPr>
        <p:spPr>
          <a:xfrm>
            <a:off x="1517715" y="1065229"/>
            <a:ext cx="1569660" cy="523220"/>
          </a:xfrm>
          <a:prstGeom prst="rect">
            <a:avLst/>
          </a:prstGeom>
          <a:noFill/>
        </p:spPr>
        <p:txBody>
          <a:bodyPr wrap="none" rtlCol="0">
            <a:spAutoFit/>
          </a:bodyPr>
          <a:lstStyle/>
          <a:p>
            <a:r>
              <a:rPr lang="en-GB" sz="2800" dirty="0">
                <a:solidFill>
                  <a:schemeClr val="accent5"/>
                </a:solidFill>
              </a:rPr>
              <a:t>Authority</a:t>
            </a:r>
          </a:p>
        </p:txBody>
      </p:sp>
      <p:sp>
        <p:nvSpPr>
          <p:cNvPr id="23" name="Title 1">
            <a:extLst>
              <a:ext uri="{FF2B5EF4-FFF2-40B4-BE49-F238E27FC236}">
                <a16:creationId xmlns="" xmlns:a16="http://schemas.microsoft.com/office/drawing/2014/main" id="{860D64C8-885D-E542-8850-7CC294AD62D5}"/>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24" name="Rectangle 23">
            <a:extLst>
              <a:ext uri="{FF2B5EF4-FFF2-40B4-BE49-F238E27FC236}">
                <a16:creationId xmlns="" xmlns:a16="http://schemas.microsoft.com/office/drawing/2014/main" id="{7219EDCF-A47D-6D4B-A41D-D8915E58B88D}"/>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15369556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r>
              <a:rPr lang="en-GB"/>
              <a:t>| Slide </a:t>
            </a:r>
            <a:fld id="{AC1C9A27-5D71-496E-AC2B-58C1CA833928}" type="slidenum">
              <a:rPr lang="en-GB" smtClean="0"/>
              <a:pPr/>
              <a:t>29</a:t>
            </a:fld>
            <a:endParaRPr lang="en-GB" dirty="0"/>
          </a:p>
        </p:txBody>
      </p:sp>
      <p:sp>
        <p:nvSpPr>
          <p:cNvPr id="6" name="Date Placeholder 5"/>
          <p:cNvSpPr>
            <a:spLocks noGrp="1"/>
          </p:cNvSpPr>
          <p:nvPr>
            <p:ph type="dt" sz="half" idx="2"/>
          </p:nvPr>
        </p:nvSpPr>
        <p:spPr/>
        <p:txBody>
          <a:bodyPr/>
          <a:lstStyle/>
          <a:p>
            <a:pPr lvl="1"/>
            <a:fld id="{C478E588-CB74-42E5-97AC-F64AD782D86F}" type="datetime1">
              <a:rPr lang="en-US" smtClean="0"/>
              <a:pPr lvl="1"/>
              <a:t>13/06/2023</a:t>
            </a:fld>
            <a:endParaRPr lang="en-GB" dirty="0"/>
          </a:p>
        </p:txBody>
      </p:sp>
      <p:sp>
        <p:nvSpPr>
          <p:cNvPr id="7" name="Rectangle 6">
            <a:extLst>
              <a:ext uri="{FF2B5EF4-FFF2-40B4-BE49-F238E27FC236}">
                <a16:creationId xmlns="" xmlns:a16="http://schemas.microsoft.com/office/drawing/2014/main" id="{BF79E7C2-AC77-174F-85CF-63E47606E944}"/>
              </a:ext>
            </a:extLst>
          </p:cNvPr>
          <p:cNvSpPr/>
          <p:nvPr/>
        </p:nvSpPr>
        <p:spPr>
          <a:xfrm>
            <a:off x="2995617" y="2371725"/>
            <a:ext cx="3943350" cy="200025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 xmlns:a16="http://schemas.microsoft.com/office/drawing/2014/main" id="{B21CA279-04F3-8641-8CDC-20FB8C3177F0}"/>
              </a:ext>
            </a:extLst>
          </p:cNvPr>
          <p:cNvCxnSpPr/>
          <p:nvPr/>
        </p:nvCxnSpPr>
        <p:spPr>
          <a:xfrm>
            <a:off x="2995617" y="2371725"/>
            <a:ext cx="0" cy="200025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78E9E32B-1D01-F84D-B9AE-2766022FD2EC}"/>
              </a:ext>
            </a:extLst>
          </p:cNvPr>
          <p:cNvCxnSpPr>
            <a:cxnSpLocks/>
          </p:cNvCxnSpPr>
          <p:nvPr/>
        </p:nvCxnSpPr>
        <p:spPr>
          <a:xfrm flipH="1">
            <a:off x="2995617" y="4371975"/>
            <a:ext cx="394335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 xmlns:a16="http://schemas.microsoft.com/office/drawing/2014/main" id="{7B788761-D322-9141-9684-9F3C2582DB6B}"/>
              </a:ext>
            </a:extLst>
          </p:cNvPr>
          <p:cNvSpPr txBox="1"/>
          <p:nvPr/>
        </p:nvSpPr>
        <p:spPr>
          <a:xfrm>
            <a:off x="3117876" y="4465904"/>
            <a:ext cx="737894" cy="369332"/>
          </a:xfrm>
          <a:prstGeom prst="rect">
            <a:avLst/>
          </a:prstGeom>
          <a:noFill/>
        </p:spPr>
        <p:txBody>
          <a:bodyPr wrap="none" rtlCol="0">
            <a:spAutoFit/>
          </a:bodyPr>
          <a:lstStyle/>
          <a:p>
            <a:r>
              <a:rPr lang="en-GB" dirty="0"/>
              <a:t>Peace</a:t>
            </a:r>
          </a:p>
        </p:txBody>
      </p:sp>
      <p:sp>
        <p:nvSpPr>
          <p:cNvPr id="13" name="TextBox 12">
            <a:extLst>
              <a:ext uri="{FF2B5EF4-FFF2-40B4-BE49-F238E27FC236}">
                <a16:creationId xmlns="" xmlns:a16="http://schemas.microsoft.com/office/drawing/2014/main" id="{3F20C3F1-0D96-1F47-86F8-66E55E947963}"/>
              </a:ext>
            </a:extLst>
          </p:cNvPr>
          <p:cNvSpPr txBox="1"/>
          <p:nvPr/>
        </p:nvSpPr>
        <p:spPr>
          <a:xfrm>
            <a:off x="6037502" y="4502573"/>
            <a:ext cx="901465" cy="369332"/>
          </a:xfrm>
          <a:prstGeom prst="rect">
            <a:avLst/>
          </a:prstGeom>
          <a:noFill/>
        </p:spPr>
        <p:txBody>
          <a:bodyPr wrap="none" rtlCol="0">
            <a:spAutoFit/>
          </a:bodyPr>
          <a:lstStyle/>
          <a:p>
            <a:r>
              <a:rPr lang="en-GB" dirty="0"/>
              <a:t>Conflict</a:t>
            </a:r>
          </a:p>
        </p:txBody>
      </p:sp>
      <p:sp>
        <p:nvSpPr>
          <p:cNvPr id="14" name="TextBox 13">
            <a:extLst>
              <a:ext uri="{FF2B5EF4-FFF2-40B4-BE49-F238E27FC236}">
                <a16:creationId xmlns="" xmlns:a16="http://schemas.microsoft.com/office/drawing/2014/main" id="{CCC6BFDE-FEC6-7349-910B-228B27D0DEDC}"/>
              </a:ext>
            </a:extLst>
          </p:cNvPr>
          <p:cNvSpPr txBox="1"/>
          <p:nvPr/>
        </p:nvSpPr>
        <p:spPr>
          <a:xfrm>
            <a:off x="4630501" y="4502573"/>
            <a:ext cx="673582" cy="369332"/>
          </a:xfrm>
          <a:prstGeom prst="rect">
            <a:avLst/>
          </a:prstGeom>
          <a:noFill/>
        </p:spPr>
        <p:txBody>
          <a:bodyPr wrap="none" rtlCol="0">
            <a:spAutoFit/>
          </a:bodyPr>
          <a:lstStyle/>
          <a:p>
            <a:r>
              <a:rPr lang="en-GB" dirty="0"/>
              <a:t>Crisis</a:t>
            </a:r>
          </a:p>
        </p:txBody>
      </p:sp>
      <p:sp>
        <p:nvSpPr>
          <p:cNvPr id="15" name="TextBox 14">
            <a:extLst>
              <a:ext uri="{FF2B5EF4-FFF2-40B4-BE49-F238E27FC236}">
                <a16:creationId xmlns="" xmlns:a16="http://schemas.microsoft.com/office/drawing/2014/main" id="{587EB799-6959-104C-BCFE-5F233E43C4A1}"/>
              </a:ext>
            </a:extLst>
          </p:cNvPr>
          <p:cNvSpPr txBox="1"/>
          <p:nvPr/>
        </p:nvSpPr>
        <p:spPr>
          <a:xfrm rot="16200000">
            <a:off x="1966473" y="3206233"/>
            <a:ext cx="1074333" cy="369332"/>
          </a:xfrm>
          <a:prstGeom prst="rect">
            <a:avLst/>
          </a:prstGeom>
          <a:noFill/>
        </p:spPr>
        <p:txBody>
          <a:bodyPr wrap="none" rtlCol="0">
            <a:spAutoFit/>
          </a:bodyPr>
          <a:lstStyle/>
          <a:p>
            <a:r>
              <a:rPr lang="en-GB" dirty="0"/>
              <a:t>Authority</a:t>
            </a:r>
          </a:p>
        </p:txBody>
      </p:sp>
      <p:cxnSp>
        <p:nvCxnSpPr>
          <p:cNvPr id="16" name="Straight Arrow Connector 15">
            <a:extLst>
              <a:ext uri="{FF2B5EF4-FFF2-40B4-BE49-F238E27FC236}">
                <a16:creationId xmlns="" xmlns:a16="http://schemas.microsoft.com/office/drawing/2014/main" id="{B239A5B3-B589-0F42-8E2B-F6884EB5E666}"/>
              </a:ext>
            </a:extLst>
          </p:cNvPr>
          <p:cNvCxnSpPr/>
          <p:nvPr/>
        </p:nvCxnSpPr>
        <p:spPr>
          <a:xfrm flipV="1">
            <a:off x="2647950" y="2409825"/>
            <a:ext cx="0" cy="19621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reeform 16">
            <a:extLst>
              <a:ext uri="{FF2B5EF4-FFF2-40B4-BE49-F238E27FC236}">
                <a16:creationId xmlns="" xmlns:a16="http://schemas.microsoft.com/office/drawing/2014/main" id="{C1C4E16A-1744-C74C-97B5-F38F5D7A82FC}"/>
              </a:ext>
            </a:extLst>
          </p:cNvPr>
          <p:cNvSpPr/>
          <p:nvPr/>
        </p:nvSpPr>
        <p:spPr>
          <a:xfrm>
            <a:off x="3032775" y="2409825"/>
            <a:ext cx="3887495" cy="1924050"/>
          </a:xfrm>
          <a:custGeom>
            <a:avLst/>
            <a:gdLst>
              <a:gd name="connsiteX0" fmla="*/ 0 w 3790950"/>
              <a:gd name="connsiteY0" fmla="*/ 1895475 h 1895475"/>
              <a:gd name="connsiteX1" fmla="*/ 2181225 w 3790950"/>
              <a:gd name="connsiteY1" fmla="*/ 1552575 h 1895475"/>
              <a:gd name="connsiteX2" fmla="*/ 3790950 w 3790950"/>
              <a:gd name="connsiteY2" fmla="*/ 0 h 1895475"/>
            </a:gdLst>
            <a:ahLst/>
            <a:cxnLst>
              <a:cxn ang="0">
                <a:pos x="connsiteX0" y="connsiteY0"/>
              </a:cxn>
              <a:cxn ang="0">
                <a:pos x="connsiteX1" y="connsiteY1"/>
              </a:cxn>
              <a:cxn ang="0">
                <a:pos x="connsiteX2" y="connsiteY2"/>
              </a:cxn>
            </a:cxnLst>
            <a:rect l="l" t="t" r="r" b="b"/>
            <a:pathLst>
              <a:path w="3790950" h="1895475">
                <a:moveTo>
                  <a:pt x="0" y="1895475"/>
                </a:moveTo>
                <a:cubicBezTo>
                  <a:pt x="774700" y="1881981"/>
                  <a:pt x="1549400" y="1868487"/>
                  <a:pt x="2181225" y="1552575"/>
                </a:cubicBezTo>
                <a:cubicBezTo>
                  <a:pt x="2813050" y="1236663"/>
                  <a:pt x="3302000" y="618331"/>
                  <a:pt x="3790950" y="0"/>
                </a:cubicBezTo>
              </a:path>
            </a:pathLst>
          </a:custGeom>
          <a:noFill/>
          <a:ln>
            <a:solidFill>
              <a:srgbClr val="9D0F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 xmlns:a16="http://schemas.microsoft.com/office/drawing/2014/main" id="{34671B73-60CE-0F4F-AFBB-CAC18216EC07}"/>
              </a:ext>
            </a:extLst>
          </p:cNvPr>
          <p:cNvSpPr txBox="1"/>
          <p:nvPr/>
        </p:nvSpPr>
        <p:spPr>
          <a:xfrm>
            <a:off x="935954" y="3972747"/>
            <a:ext cx="979242" cy="369332"/>
          </a:xfrm>
          <a:prstGeom prst="rect">
            <a:avLst/>
          </a:prstGeom>
          <a:noFill/>
        </p:spPr>
        <p:txBody>
          <a:bodyPr wrap="none" rtlCol="0">
            <a:spAutoFit/>
          </a:bodyPr>
          <a:lstStyle/>
          <a:p>
            <a:r>
              <a:rPr lang="en-GB" dirty="0"/>
              <a:t>National</a:t>
            </a:r>
          </a:p>
        </p:txBody>
      </p:sp>
      <p:sp>
        <p:nvSpPr>
          <p:cNvPr id="19" name="TextBox 18">
            <a:extLst>
              <a:ext uri="{FF2B5EF4-FFF2-40B4-BE49-F238E27FC236}">
                <a16:creationId xmlns="" xmlns:a16="http://schemas.microsoft.com/office/drawing/2014/main" id="{ADE6854A-6C3B-464C-BDF0-1D8773C24553}"/>
              </a:ext>
            </a:extLst>
          </p:cNvPr>
          <p:cNvSpPr txBox="1"/>
          <p:nvPr/>
        </p:nvSpPr>
        <p:spPr>
          <a:xfrm>
            <a:off x="1005692" y="2669066"/>
            <a:ext cx="759632" cy="369332"/>
          </a:xfrm>
          <a:prstGeom prst="rect">
            <a:avLst/>
          </a:prstGeom>
          <a:noFill/>
        </p:spPr>
        <p:txBody>
          <a:bodyPr wrap="none" rtlCol="0">
            <a:spAutoFit/>
          </a:bodyPr>
          <a:lstStyle/>
          <a:p>
            <a:r>
              <a:rPr lang="en-GB" dirty="0"/>
              <a:t>NATO </a:t>
            </a:r>
          </a:p>
        </p:txBody>
      </p:sp>
      <p:sp>
        <p:nvSpPr>
          <p:cNvPr id="20" name="TextBox 19">
            <a:extLst>
              <a:ext uri="{FF2B5EF4-FFF2-40B4-BE49-F238E27FC236}">
                <a16:creationId xmlns="" xmlns:a16="http://schemas.microsoft.com/office/drawing/2014/main" id="{874549F4-2428-3449-B28F-BACE7F5F99C4}"/>
              </a:ext>
            </a:extLst>
          </p:cNvPr>
          <p:cNvSpPr txBox="1"/>
          <p:nvPr/>
        </p:nvSpPr>
        <p:spPr>
          <a:xfrm>
            <a:off x="688895" y="3271001"/>
            <a:ext cx="1591077" cy="369332"/>
          </a:xfrm>
          <a:prstGeom prst="rect">
            <a:avLst/>
          </a:prstGeom>
          <a:noFill/>
        </p:spPr>
        <p:txBody>
          <a:bodyPr wrap="none" rtlCol="0">
            <a:spAutoFit/>
          </a:bodyPr>
          <a:lstStyle/>
          <a:p>
            <a:r>
              <a:rPr lang="en-GB" dirty="0"/>
              <a:t>National/NATO</a:t>
            </a:r>
          </a:p>
        </p:txBody>
      </p:sp>
      <p:cxnSp>
        <p:nvCxnSpPr>
          <p:cNvPr id="3" name="Straight Arrow Connector 2">
            <a:extLst>
              <a:ext uri="{FF2B5EF4-FFF2-40B4-BE49-F238E27FC236}">
                <a16:creationId xmlns="" xmlns:a16="http://schemas.microsoft.com/office/drawing/2014/main" id="{C799FE73-9066-674F-B989-67A26188867E}"/>
              </a:ext>
            </a:extLst>
          </p:cNvPr>
          <p:cNvCxnSpPr/>
          <p:nvPr/>
        </p:nvCxnSpPr>
        <p:spPr>
          <a:xfrm flipV="1">
            <a:off x="2995617" y="2409825"/>
            <a:ext cx="3943350" cy="1924050"/>
          </a:xfrm>
          <a:prstGeom prst="straightConnector1">
            <a:avLst/>
          </a:prstGeom>
          <a:ln w="28575">
            <a:solidFill>
              <a:srgbClr val="BD8628"/>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 xmlns:a16="http://schemas.microsoft.com/office/drawing/2014/main" id="{0E249F6D-6CC8-3748-98EF-6340574E7F71}"/>
              </a:ext>
            </a:extLst>
          </p:cNvPr>
          <p:cNvSpPr txBox="1"/>
          <p:nvPr/>
        </p:nvSpPr>
        <p:spPr>
          <a:xfrm rot="20044960">
            <a:off x="3951210" y="3290050"/>
            <a:ext cx="1370632" cy="276999"/>
          </a:xfrm>
          <a:prstGeom prst="rect">
            <a:avLst/>
          </a:prstGeom>
          <a:noFill/>
        </p:spPr>
        <p:txBody>
          <a:bodyPr wrap="none" rtlCol="0">
            <a:spAutoFit/>
          </a:bodyPr>
          <a:lstStyle/>
          <a:p>
            <a:r>
              <a:rPr lang="en-GB" sz="1200" dirty="0"/>
              <a:t>Speed of relevance</a:t>
            </a:r>
          </a:p>
        </p:txBody>
      </p:sp>
      <p:sp>
        <p:nvSpPr>
          <p:cNvPr id="27" name="Freeform 26">
            <a:extLst>
              <a:ext uri="{FF2B5EF4-FFF2-40B4-BE49-F238E27FC236}">
                <a16:creationId xmlns="" xmlns:a16="http://schemas.microsoft.com/office/drawing/2014/main" id="{531413F8-A9D0-5349-97D2-D3B235FD9709}"/>
              </a:ext>
            </a:extLst>
          </p:cNvPr>
          <p:cNvSpPr/>
          <p:nvPr/>
        </p:nvSpPr>
        <p:spPr>
          <a:xfrm>
            <a:off x="3044858" y="2413262"/>
            <a:ext cx="3846136" cy="1894787"/>
          </a:xfrm>
          <a:custGeom>
            <a:avLst/>
            <a:gdLst>
              <a:gd name="connsiteX0" fmla="*/ 0 w 3846136"/>
              <a:gd name="connsiteY0" fmla="*/ 1894787 h 1894787"/>
              <a:gd name="connsiteX1" fmla="*/ 1508288 w 3846136"/>
              <a:gd name="connsiteY1" fmla="*/ 763571 h 1894787"/>
              <a:gd name="connsiteX2" fmla="*/ 3846136 w 3846136"/>
              <a:gd name="connsiteY2" fmla="*/ 0 h 1894787"/>
            </a:gdLst>
            <a:ahLst/>
            <a:cxnLst>
              <a:cxn ang="0">
                <a:pos x="connsiteX0" y="connsiteY0"/>
              </a:cxn>
              <a:cxn ang="0">
                <a:pos x="connsiteX1" y="connsiteY1"/>
              </a:cxn>
              <a:cxn ang="0">
                <a:pos x="connsiteX2" y="connsiteY2"/>
              </a:cxn>
            </a:cxnLst>
            <a:rect l="l" t="t" r="r" b="b"/>
            <a:pathLst>
              <a:path w="3846136" h="1894787">
                <a:moveTo>
                  <a:pt x="0" y="1894787"/>
                </a:moveTo>
                <a:cubicBezTo>
                  <a:pt x="433632" y="1487078"/>
                  <a:pt x="867265" y="1079369"/>
                  <a:pt x="1508288" y="763571"/>
                </a:cubicBezTo>
                <a:cubicBezTo>
                  <a:pt x="2149311" y="447773"/>
                  <a:pt x="2997723" y="223886"/>
                  <a:pt x="3846136"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 xmlns:a16="http://schemas.microsoft.com/office/drawing/2014/main" id="{92B33C34-70DB-CF44-8899-07E316811A0D}"/>
              </a:ext>
            </a:extLst>
          </p:cNvPr>
          <p:cNvSpPr txBox="1"/>
          <p:nvPr/>
        </p:nvSpPr>
        <p:spPr>
          <a:xfrm>
            <a:off x="1517715" y="1065229"/>
            <a:ext cx="1569660" cy="523220"/>
          </a:xfrm>
          <a:prstGeom prst="rect">
            <a:avLst/>
          </a:prstGeom>
          <a:noFill/>
        </p:spPr>
        <p:txBody>
          <a:bodyPr wrap="none" rtlCol="0">
            <a:spAutoFit/>
          </a:bodyPr>
          <a:lstStyle/>
          <a:p>
            <a:r>
              <a:rPr lang="en-GB" sz="2800" dirty="0">
                <a:solidFill>
                  <a:schemeClr val="accent5"/>
                </a:solidFill>
              </a:rPr>
              <a:t>Authority</a:t>
            </a:r>
          </a:p>
        </p:txBody>
      </p:sp>
      <p:sp>
        <p:nvSpPr>
          <p:cNvPr id="22" name="Title 1">
            <a:extLst>
              <a:ext uri="{FF2B5EF4-FFF2-40B4-BE49-F238E27FC236}">
                <a16:creationId xmlns="" xmlns:a16="http://schemas.microsoft.com/office/drawing/2014/main" id="{0DF2E0A2-0390-6340-8D49-BFAEE043BA02}"/>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23" name="Rectangle 22">
            <a:extLst>
              <a:ext uri="{FF2B5EF4-FFF2-40B4-BE49-F238E27FC236}">
                <a16:creationId xmlns="" xmlns:a16="http://schemas.microsoft.com/office/drawing/2014/main" id="{F4F3C8D9-3FC3-9743-87E8-9520B0666B84}"/>
              </a:ext>
            </a:extLst>
          </p:cNvPr>
          <p:cNvSpPr/>
          <p:nvPr/>
        </p:nvSpPr>
        <p:spPr>
          <a:xfrm>
            <a:off x="3362608" y="6355087"/>
            <a:ext cx="2024336" cy="307777"/>
          </a:xfrm>
          <a:prstGeom prst="rect">
            <a:avLst/>
          </a:prstGeom>
        </p:spPr>
        <p:txBody>
          <a:bodyPr wrap="none">
            <a:spAutoFit/>
          </a:bodyPr>
          <a:lstStyle/>
          <a:p>
            <a:pPr algn="ctr"/>
            <a:r>
              <a:rPr lang="de-DE" sz="1400" dirty="0">
                <a:solidFill>
                  <a:srgbClr val="033E5B"/>
                </a:solidFill>
                <a:latin typeface="Arial" panose="020B0604020202020204" pitchFamily="34" charset="0"/>
                <a:cs typeface="Arial" panose="020B0604020202020204" pitchFamily="34" charset="0"/>
              </a:rPr>
              <a:t>NATO UNCLASSIFIED</a:t>
            </a:r>
            <a:endParaRPr lang="de-DE" sz="1400" dirty="0">
              <a:effectLst/>
            </a:endParaRPr>
          </a:p>
        </p:txBody>
      </p:sp>
    </p:spTree>
    <p:extLst>
      <p:ext uri="{BB962C8B-B14F-4D97-AF65-F5344CB8AC3E}">
        <p14:creationId xmlns:p14="http://schemas.microsoft.com/office/powerpoint/2010/main" val="10549269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3E0161-7B4D-884B-810F-00F76BAA3602}"/>
              </a:ext>
            </a:extLst>
          </p:cNvPr>
          <p:cNvSpPr>
            <a:spLocks noGrp="1"/>
          </p:cNvSpPr>
          <p:nvPr>
            <p:ph type="title"/>
          </p:nvPr>
        </p:nvSpPr>
        <p:spPr>
          <a:xfrm>
            <a:off x="2271039" y="249895"/>
            <a:ext cx="4601919" cy="452264"/>
          </a:xfrm>
        </p:spPr>
        <p:txBody>
          <a:bodyPr/>
          <a:lstStyle/>
          <a:p>
            <a:r>
              <a:rPr lang="en-GB" sz="4000" b="0" dirty="0">
                <a:latin typeface="+mn-lt"/>
              </a:rPr>
              <a:t>ESMRM Authority</a:t>
            </a:r>
          </a:p>
        </p:txBody>
      </p:sp>
      <p:sp>
        <p:nvSpPr>
          <p:cNvPr id="3" name="Content Placeholder 2">
            <a:extLst>
              <a:ext uri="{FF2B5EF4-FFF2-40B4-BE49-F238E27FC236}">
                <a16:creationId xmlns="" xmlns:a16="http://schemas.microsoft.com/office/drawing/2014/main" id="{899C4D62-56A5-2749-9E0D-BA0824EE95C4}"/>
              </a:ext>
            </a:extLst>
          </p:cNvPr>
          <p:cNvSpPr>
            <a:spLocks noGrp="1"/>
          </p:cNvSpPr>
          <p:nvPr>
            <p:ph idx="1"/>
          </p:nvPr>
        </p:nvSpPr>
        <p:spPr>
          <a:xfrm>
            <a:off x="457200" y="901249"/>
            <a:ext cx="8229600" cy="4935600"/>
          </a:xfrm>
        </p:spPr>
        <p:txBody>
          <a:bodyPr/>
          <a:lstStyle/>
          <a:p>
            <a:r>
              <a:rPr lang="en-GB" sz="2400" dirty="0"/>
              <a:t>Means to gain authority:</a:t>
            </a:r>
          </a:p>
          <a:p>
            <a:pPr marL="742950" lvl="1" indent="-285750">
              <a:buFont typeface="Arial" panose="020B0604020202020204" pitchFamily="34" charset="0"/>
              <a:buChar char="•"/>
            </a:pPr>
            <a:r>
              <a:rPr lang="en-GB" sz="2400" dirty="0"/>
              <a:t>HN consultation &amp; agreement </a:t>
            </a:r>
          </a:p>
          <a:p>
            <a:pPr marL="742950" lvl="1" indent="-285750">
              <a:buFont typeface="Arial" panose="020B0604020202020204" pitchFamily="34" charset="0"/>
              <a:buChar char="•"/>
            </a:pPr>
            <a:r>
              <a:rPr lang="en-GB" sz="2400" dirty="0"/>
              <a:t>NAC approved plan (HN agreed)</a:t>
            </a:r>
          </a:p>
          <a:p>
            <a:pPr marL="742950" lvl="1" indent="-285750">
              <a:buFont typeface="Arial" panose="020B0604020202020204" pitchFamily="34" charset="0"/>
              <a:buChar char="•"/>
            </a:pPr>
            <a:r>
              <a:rPr lang="en-GB" sz="2400" dirty="0"/>
              <a:t>MOU/TA</a:t>
            </a:r>
          </a:p>
          <a:p>
            <a:pPr marL="742950" lvl="1" indent="-285750">
              <a:buFont typeface="Arial" panose="020B0604020202020204" pitchFamily="34" charset="0"/>
              <a:buChar char="•"/>
            </a:pPr>
            <a:r>
              <a:rPr lang="en-GB" sz="2400" dirty="0"/>
              <a:t>Bi </a:t>
            </a:r>
            <a:r>
              <a:rPr lang="en-GB" sz="2400" dirty="0" err="1" smtClean="0"/>
              <a:t>Lat</a:t>
            </a:r>
            <a:endParaRPr lang="en-GB" sz="2400" dirty="0" smtClean="0"/>
          </a:p>
          <a:p>
            <a:pPr marL="742950" lvl="1" indent="-285750">
              <a:buFont typeface="Arial" panose="020B0604020202020204" pitchFamily="34" charset="0"/>
              <a:buChar char="•"/>
            </a:pPr>
            <a:r>
              <a:rPr lang="en-US" sz="2400" dirty="0" smtClean="0"/>
              <a:t>CRMs</a:t>
            </a:r>
            <a:endParaRPr lang="en-GB" sz="2400" dirty="0"/>
          </a:p>
          <a:p>
            <a:pPr marL="285750" indent="-285750">
              <a:buFont typeface="Arial" panose="020B0604020202020204" pitchFamily="34" charset="0"/>
              <a:buChar char="•"/>
            </a:pPr>
            <a:r>
              <a:rPr lang="en-GB" sz="2400" dirty="0"/>
              <a:t>Non permissive environment</a:t>
            </a:r>
          </a:p>
          <a:p>
            <a:pPr marL="742950" lvl="1" indent="-285750">
              <a:buFont typeface="Arial" panose="020B0604020202020204" pitchFamily="34" charset="0"/>
              <a:buChar char="•"/>
            </a:pPr>
            <a:r>
              <a:rPr lang="en-GB" sz="2400" dirty="0"/>
              <a:t>NAC approved plan </a:t>
            </a:r>
          </a:p>
          <a:p>
            <a:endParaRPr lang="en-GB" dirty="0"/>
          </a:p>
        </p:txBody>
      </p:sp>
      <p:sp>
        <p:nvSpPr>
          <p:cNvPr id="4" name="Footer Placeholder 3">
            <a:extLst>
              <a:ext uri="{FF2B5EF4-FFF2-40B4-BE49-F238E27FC236}">
                <a16:creationId xmlns="" xmlns:a16="http://schemas.microsoft.com/office/drawing/2014/main" id="{548016DE-3632-9F4D-9A62-28149572EF4E}"/>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 xmlns:a16="http://schemas.microsoft.com/office/drawing/2014/main" id="{7DE66046-473E-574D-8CEA-0A403A6F10B2}"/>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30</a:t>
            </a:fld>
            <a:endParaRPr lang="en-GB" dirty="0"/>
          </a:p>
        </p:txBody>
      </p:sp>
      <p:sp>
        <p:nvSpPr>
          <p:cNvPr id="6" name="Date Placeholder 5">
            <a:extLst>
              <a:ext uri="{FF2B5EF4-FFF2-40B4-BE49-F238E27FC236}">
                <a16:creationId xmlns="" xmlns:a16="http://schemas.microsoft.com/office/drawing/2014/main" id="{88F43979-7FC5-1E43-9173-F7BF597657F8}"/>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13/06/2023</a:t>
            </a:fld>
            <a:endParaRPr lang="en-GB" dirty="0"/>
          </a:p>
        </p:txBody>
      </p:sp>
    </p:spTree>
    <p:extLst>
      <p:ext uri="{BB962C8B-B14F-4D97-AF65-F5344CB8AC3E}">
        <p14:creationId xmlns:p14="http://schemas.microsoft.com/office/powerpoint/2010/main" val="30880484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3E0161-7B4D-884B-810F-00F76BAA3602}"/>
              </a:ext>
            </a:extLst>
          </p:cNvPr>
          <p:cNvSpPr>
            <a:spLocks noGrp="1"/>
          </p:cNvSpPr>
          <p:nvPr>
            <p:ph type="title"/>
          </p:nvPr>
        </p:nvSpPr>
        <p:spPr>
          <a:xfrm>
            <a:off x="2133732" y="249895"/>
            <a:ext cx="8229600" cy="452264"/>
          </a:xfrm>
        </p:spPr>
        <p:txBody>
          <a:bodyPr/>
          <a:lstStyle/>
          <a:p>
            <a:r>
              <a:rPr lang="en-GB" sz="4000" b="0" dirty="0">
                <a:latin typeface="+mj-lt"/>
              </a:rPr>
              <a:t>ESMRM Dynamic Application</a:t>
            </a:r>
          </a:p>
        </p:txBody>
      </p:sp>
      <p:sp>
        <p:nvSpPr>
          <p:cNvPr id="3" name="Content Placeholder 2">
            <a:extLst>
              <a:ext uri="{FF2B5EF4-FFF2-40B4-BE49-F238E27FC236}">
                <a16:creationId xmlns="" xmlns:a16="http://schemas.microsoft.com/office/drawing/2014/main" id="{899C4D62-56A5-2749-9E0D-BA0824EE95C4}"/>
              </a:ext>
            </a:extLst>
          </p:cNvPr>
          <p:cNvSpPr>
            <a:spLocks noGrp="1"/>
          </p:cNvSpPr>
          <p:nvPr>
            <p:ph idx="1"/>
          </p:nvPr>
        </p:nvSpPr>
        <p:spPr>
          <a:xfrm>
            <a:off x="457200" y="901249"/>
            <a:ext cx="8229600" cy="4935600"/>
          </a:xfrm>
        </p:spPr>
        <p:txBody>
          <a:bodyPr/>
          <a:lstStyle/>
          <a:p>
            <a:pPr marL="285750" indent="-285750">
              <a:buFont typeface="Arial" panose="020B0604020202020204" pitchFamily="34" charset="0"/>
              <a:buChar char="•"/>
            </a:pPr>
            <a:r>
              <a:rPr lang="en-GB" sz="2400" dirty="0"/>
              <a:t>Battle Space Owners (BSOs) at </a:t>
            </a:r>
            <a:r>
              <a:rPr lang="en-GB" sz="2400" dirty="0" err="1"/>
              <a:t>Div</a:t>
            </a:r>
            <a:r>
              <a:rPr lang="en-GB" sz="2400" dirty="0"/>
              <a:t> level must be able to make dynamic ES decisions in order to maintain manoeuvre Ops</a:t>
            </a:r>
          </a:p>
          <a:p>
            <a:pPr marL="285750" indent="-285750">
              <a:buFont typeface="Arial" panose="020B0604020202020204" pitchFamily="34" charset="0"/>
              <a:buChar char="•"/>
            </a:pPr>
            <a:r>
              <a:rPr lang="en-GB" sz="2400" dirty="0"/>
              <a:t>Conflict paradigm</a:t>
            </a:r>
          </a:p>
          <a:p>
            <a:pPr marL="285750" indent="-285750">
              <a:buFont typeface="Arial" panose="020B0604020202020204" pitchFamily="34" charset="0"/>
              <a:buChar char="•"/>
            </a:pPr>
            <a:r>
              <a:rPr lang="en-GB" sz="2400" dirty="0"/>
              <a:t>Must be authorised (OPLAN)</a:t>
            </a:r>
          </a:p>
          <a:p>
            <a:pPr marL="285750" indent="-285750">
              <a:buFont typeface="Arial" panose="020B0604020202020204" pitchFamily="34" charset="0"/>
              <a:buChar char="•"/>
            </a:pPr>
            <a:r>
              <a:rPr lang="en-GB" sz="2400" dirty="0"/>
              <a:t>JLSG oversight through R2</a:t>
            </a:r>
          </a:p>
          <a:p>
            <a:pPr marL="285750" indent="-285750">
              <a:buFont typeface="Arial" panose="020B0604020202020204" pitchFamily="34" charset="0"/>
              <a:buChar char="•"/>
            </a:pPr>
            <a:r>
              <a:rPr lang="en-GB" sz="2400" dirty="0"/>
              <a:t>Referral Process, where risk unacceptable/mitigation unachievable</a:t>
            </a:r>
          </a:p>
          <a:p>
            <a:pPr marL="285750" indent="-285750">
              <a:buFont typeface="Arial" panose="020B0604020202020204" pitchFamily="34" charset="0"/>
              <a:buChar char="•"/>
            </a:pPr>
            <a:endParaRPr lang="en-GB" sz="2400" dirty="0"/>
          </a:p>
          <a:p>
            <a:endParaRPr lang="en-GB" dirty="0"/>
          </a:p>
        </p:txBody>
      </p:sp>
      <p:sp>
        <p:nvSpPr>
          <p:cNvPr id="4" name="Footer Placeholder 3">
            <a:extLst>
              <a:ext uri="{FF2B5EF4-FFF2-40B4-BE49-F238E27FC236}">
                <a16:creationId xmlns="" xmlns:a16="http://schemas.microsoft.com/office/drawing/2014/main" id="{548016DE-3632-9F4D-9A62-28149572EF4E}"/>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 xmlns:a16="http://schemas.microsoft.com/office/drawing/2014/main" id="{7DE66046-473E-574D-8CEA-0A403A6F10B2}"/>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31</a:t>
            </a:fld>
            <a:endParaRPr lang="en-GB" dirty="0"/>
          </a:p>
        </p:txBody>
      </p:sp>
      <p:sp>
        <p:nvSpPr>
          <p:cNvPr id="6" name="Date Placeholder 5">
            <a:extLst>
              <a:ext uri="{FF2B5EF4-FFF2-40B4-BE49-F238E27FC236}">
                <a16:creationId xmlns="" xmlns:a16="http://schemas.microsoft.com/office/drawing/2014/main" id="{88F43979-7FC5-1E43-9173-F7BF597657F8}"/>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13/06/2023</a:t>
            </a:fld>
            <a:endParaRPr lang="en-GB" dirty="0"/>
          </a:p>
        </p:txBody>
      </p:sp>
    </p:spTree>
    <p:extLst>
      <p:ext uri="{BB962C8B-B14F-4D97-AF65-F5344CB8AC3E}">
        <p14:creationId xmlns:p14="http://schemas.microsoft.com/office/powerpoint/2010/main" val="19546838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3E0161-7B4D-884B-810F-00F76BAA3602}"/>
              </a:ext>
            </a:extLst>
          </p:cNvPr>
          <p:cNvSpPr>
            <a:spLocks noGrp="1"/>
          </p:cNvSpPr>
          <p:nvPr>
            <p:ph type="title"/>
          </p:nvPr>
        </p:nvSpPr>
        <p:spPr>
          <a:xfrm>
            <a:off x="2262521" y="249895"/>
            <a:ext cx="8229600" cy="452264"/>
          </a:xfrm>
        </p:spPr>
        <p:txBody>
          <a:bodyPr/>
          <a:lstStyle/>
          <a:p>
            <a:r>
              <a:rPr lang="en-GB" sz="4000" b="0" dirty="0">
                <a:latin typeface="+mj-lt"/>
              </a:rPr>
              <a:t>ESMRM Referral</a:t>
            </a:r>
          </a:p>
        </p:txBody>
      </p:sp>
      <p:sp>
        <p:nvSpPr>
          <p:cNvPr id="3" name="Content Placeholder 2">
            <a:extLst>
              <a:ext uri="{FF2B5EF4-FFF2-40B4-BE49-F238E27FC236}">
                <a16:creationId xmlns="" xmlns:a16="http://schemas.microsoft.com/office/drawing/2014/main" id="{899C4D62-56A5-2749-9E0D-BA0824EE95C4}"/>
              </a:ext>
            </a:extLst>
          </p:cNvPr>
          <p:cNvSpPr>
            <a:spLocks noGrp="1"/>
          </p:cNvSpPr>
          <p:nvPr>
            <p:ph idx="1"/>
          </p:nvPr>
        </p:nvSpPr>
        <p:spPr>
          <a:xfrm>
            <a:off x="457200" y="901249"/>
            <a:ext cx="8229600" cy="4935600"/>
          </a:xfrm>
        </p:spPr>
        <p:txBody>
          <a:bodyPr/>
          <a:lstStyle/>
          <a:p>
            <a:pPr marL="285750" indent="-285750">
              <a:buFont typeface="Arial" panose="020B0604020202020204" pitchFamily="34" charset="0"/>
              <a:buChar char="•"/>
            </a:pPr>
            <a:r>
              <a:rPr lang="en-GB" sz="2400" dirty="0"/>
              <a:t>Where Battle Space Owners (BSOs) can’t apply appropriate mitigation:</a:t>
            </a:r>
          </a:p>
          <a:p>
            <a:pPr marL="1009650" lvl="2" indent="-285750">
              <a:buFont typeface="Arial" panose="020B0604020202020204" pitchFamily="34" charset="0"/>
              <a:buChar char="•"/>
            </a:pPr>
            <a:r>
              <a:rPr lang="en-GB" sz="2200" dirty="0"/>
              <a:t>Resource – Engineer, materiel, personnel</a:t>
            </a:r>
          </a:p>
          <a:p>
            <a:pPr marL="1009650" lvl="2" indent="-285750">
              <a:buFont typeface="Arial" panose="020B0604020202020204" pitchFamily="34" charset="0"/>
              <a:buChar char="•"/>
            </a:pPr>
            <a:r>
              <a:rPr lang="en-GB" sz="2200" dirty="0"/>
              <a:t>Real estate – </a:t>
            </a:r>
            <a:r>
              <a:rPr lang="en-GB" sz="2200" dirty="0" err="1"/>
              <a:t>locn</a:t>
            </a:r>
            <a:r>
              <a:rPr lang="en-GB" sz="2200" dirty="0"/>
              <a:t> change, space</a:t>
            </a:r>
          </a:p>
          <a:p>
            <a:pPr marL="1009650" lvl="2" indent="-285750">
              <a:buFont typeface="Arial" panose="020B0604020202020204" pitchFamily="34" charset="0"/>
              <a:buChar char="•"/>
            </a:pPr>
            <a:r>
              <a:rPr lang="en-GB" sz="2200" dirty="0"/>
              <a:t>FP/</a:t>
            </a:r>
            <a:r>
              <a:rPr lang="en-GB" sz="2200" dirty="0" err="1"/>
              <a:t>Sy</a:t>
            </a:r>
            <a:r>
              <a:rPr lang="en-GB" sz="2200" dirty="0"/>
              <a:t>/AD – overall site security</a:t>
            </a:r>
          </a:p>
          <a:p>
            <a:pPr marL="1009650" lvl="2" indent="-285750">
              <a:buFont typeface="Arial" panose="020B0604020202020204" pitchFamily="34" charset="0"/>
              <a:buChar char="•"/>
            </a:pPr>
            <a:r>
              <a:rPr lang="en-GB" sz="2200" dirty="0"/>
              <a:t>HN influence – Inhabited </a:t>
            </a:r>
            <a:r>
              <a:rPr lang="en-GB" sz="2200" dirty="0" err="1"/>
              <a:t>Bldg</a:t>
            </a:r>
            <a:r>
              <a:rPr lang="en-GB" sz="2200" dirty="0"/>
              <a:t>, PTR, 2ndry hazards…</a:t>
            </a:r>
          </a:p>
          <a:p>
            <a:pPr marL="1009650" lvl="2" indent="-285750">
              <a:buFont typeface="Arial" panose="020B0604020202020204" pitchFamily="34" charset="0"/>
              <a:buChar char="•"/>
            </a:pPr>
            <a:r>
              <a:rPr lang="en-GB" sz="2200" dirty="0"/>
              <a:t>Mission change</a:t>
            </a:r>
          </a:p>
          <a:p>
            <a:pPr marL="342900" indent="-342900">
              <a:buFont typeface="Arial" panose="020B0604020202020204" pitchFamily="34" charset="0"/>
              <a:buChar char="•"/>
            </a:pPr>
            <a:r>
              <a:rPr lang="en-GB" sz="2400" dirty="0"/>
              <a:t>Risk Decision must be referred through the </a:t>
            </a:r>
            <a:r>
              <a:rPr lang="en-GB" sz="2400" dirty="0" err="1"/>
              <a:t>CoC</a:t>
            </a:r>
            <a:endParaRPr lang="en-GB" sz="2400" dirty="0"/>
          </a:p>
        </p:txBody>
      </p:sp>
      <p:sp>
        <p:nvSpPr>
          <p:cNvPr id="4" name="Footer Placeholder 3">
            <a:extLst>
              <a:ext uri="{FF2B5EF4-FFF2-40B4-BE49-F238E27FC236}">
                <a16:creationId xmlns="" xmlns:a16="http://schemas.microsoft.com/office/drawing/2014/main" id="{548016DE-3632-9F4D-9A62-28149572EF4E}"/>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 xmlns:a16="http://schemas.microsoft.com/office/drawing/2014/main" id="{7DE66046-473E-574D-8CEA-0A403A6F10B2}"/>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32</a:t>
            </a:fld>
            <a:endParaRPr lang="en-GB" dirty="0"/>
          </a:p>
        </p:txBody>
      </p:sp>
      <p:sp>
        <p:nvSpPr>
          <p:cNvPr id="6" name="Date Placeholder 5">
            <a:extLst>
              <a:ext uri="{FF2B5EF4-FFF2-40B4-BE49-F238E27FC236}">
                <a16:creationId xmlns="" xmlns:a16="http://schemas.microsoft.com/office/drawing/2014/main" id="{88F43979-7FC5-1E43-9173-F7BF597657F8}"/>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13/06/2023</a:t>
            </a:fld>
            <a:endParaRPr lang="en-GB" dirty="0"/>
          </a:p>
        </p:txBody>
      </p:sp>
    </p:spTree>
    <p:extLst>
      <p:ext uri="{BB962C8B-B14F-4D97-AF65-F5344CB8AC3E}">
        <p14:creationId xmlns:p14="http://schemas.microsoft.com/office/powerpoint/2010/main" val="19604804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31080B-71D9-4744-B035-8D8C2E11374C}"/>
              </a:ext>
            </a:extLst>
          </p:cNvPr>
          <p:cNvSpPr>
            <a:spLocks noGrp="1"/>
          </p:cNvSpPr>
          <p:nvPr>
            <p:ph type="title"/>
          </p:nvPr>
        </p:nvSpPr>
        <p:spPr>
          <a:xfrm>
            <a:off x="2133732" y="71229"/>
            <a:ext cx="8229600" cy="525134"/>
          </a:xfrm>
        </p:spPr>
        <p:txBody>
          <a:bodyPr/>
          <a:lstStyle/>
          <a:p>
            <a:r>
              <a:rPr lang="en-GB" sz="4000" b="0" dirty="0">
                <a:latin typeface="+mn-lt"/>
              </a:rPr>
              <a:t>Risk Decision – Referral Process</a:t>
            </a:r>
          </a:p>
        </p:txBody>
      </p:sp>
      <p:sp>
        <p:nvSpPr>
          <p:cNvPr id="4" name="Footer Placeholder 3">
            <a:extLst>
              <a:ext uri="{FF2B5EF4-FFF2-40B4-BE49-F238E27FC236}">
                <a16:creationId xmlns="" xmlns:a16="http://schemas.microsoft.com/office/drawing/2014/main" id="{7053FF49-FA8D-814A-ABDB-EB0D27EC88D5}"/>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 xmlns:a16="http://schemas.microsoft.com/office/drawing/2014/main" id="{CB207985-F4C2-7540-A049-91BCEEB9C807}"/>
              </a:ext>
            </a:extLst>
          </p:cNvPr>
          <p:cNvSpPr>
            <a:spLocks noGrp="1"/>
          </p:cNvSpPr>
          <p:nvPr>
            <p:ph type="sldNum" sz="quarter" idx="4294967295"/>
          </p:nvPr>
        </p:nvSpPr>
        <p:spPr>
          <a:xfrm>
            <a:off x="6818607" y="6071668"/>
            <a:ext cx="738203" cy="365125"/>
          </a:xfrm>
        </p:spPr>
        <p:txBody>
          <a:bodyPr/>
          <a:lstStyle/>
          <a:p>
            <a:r>
              <a:rPr lang="en-GB"/>
              <a:t>| Slide </a:t>
            </a:r>
            <a:fld id="{AC1C9A27-5D71-496E-AC2B-58C1CA833928}" type="slidenum">
              <a:rPr lang="en-GB" smtClean="0"/>
              <a:pPr/>
              <a:t>33</a:t>
            </a:fld>
            <a:endParaRPr lang="en-GB" dirty="0"/>
          </a:p>
        </p:txBody>
      </p:sp>
      <p:sp>
        <p:nvSpPr>
          <p:cNvPr id="6" name="Date Placeholder 5">
            <a:extLst>
              <a:ext uri="{FF2B5EF4-FFF2-40B4-BE49-F238E27FC236}">
                <a16:creationId xmlns="" xmlns:a16="http://schemas.microsoft.com/office/drawing/2014/main" id="{3640783B-D567-214B-931A-42CFB9C41684}"/>
              </a:ext>
            </a:extLst>
          </p:cNvPr>
          <p:cNvSpPr>
            <a:spLocks noGrp="1"/>
          </p:cNvSpPr>
          <p:nvPr>
            <p:ph type="dt" sz="half" idx="4294967295"/>
          </p:nvPr>
        </p:nvSpPr>
        <p:spPr>
          <a:xfrm>
            <a:off x="6024736" y="6071668"/>
            <a:ext cx="756938" cy="365125"/>
          </a:xfrm>
        </p:spPr>
        <p:txBody>
          <a:bodyPr/>
          <a:lstStyle/>
          <a:p>
            <a:pPr lvl="1"/>
            <a:fld id="{4AA8F6DC-237A-4057-8953-446ECCB83F9A}" type="datetime1">
              <a:rPr lang="en-US" smtClean="0"/>
              <a:pPr lvl="1"/>
              <a:t>13/06/2023</a:t>
            </a:fld>
            <a:endParaRPr lang="en-GB" dirty="0"/>
          </a:p>
        </p:txBody>
      </p:sp>
      <p:sp>
        <p:nvSpPr>
          <p:cNvPr id="7" name="Content Placeholder 2">
            <a:extLst>
              <a:ext uri="{FF2B5EF4-FFF2-40B4-BE49-F238E27FC236}">
                <a16:creationId xmlns="" xmlns:a16="http://schemas.microsoft.com/office/drawing/2014/main" id="{5AA6FD77-DEAF-DD46-9CB2-13180C531780}"/>
              </a:ext>
            </a:extLst>
          </p:cNvPr>
          <p:cNvSpPr txBox="1">
            <a:spLocks/>
          </p:cNvSpPr>
          <p:nvPr/>
        </p:nvSpPr>
        <p:spPr>
          <a:xfrm>
            <a:off x="381000" y="914400"/>
            <a:ext cx="8229600" cy="5715000"/>
          </a:xfrm>
          <a:prstGeom prst="rect">
            <a:avLst/>
          </a:prstGeom>
        </p:spPr>
        <p:txBody>
          <a:bodyPr>
            <a:normAutofit/>
          </a:bodyPr>
          <a:lstStyle>
            <a:lvl1pPr marL="342778" indent="-342778" algn="l" defTabSz="914077"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688" indent="-285650"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2597" indent="-228519" algn="l" defTabSz="914077"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599635" indent="-228519" algn="l" defTabSz="914077"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6674" indent="-228519" algn="l" defTabSz="914077"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3713" indent="-228519"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750" indent="-228519"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90" indent="-228519"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829" indent="-228519" algn="l" defTabSz="9140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038" marR="0" lvl="1" indent="0" algn="l" defTabSz="914077"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1"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077"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342778" marR="0" lvl="0" indent="-342778" algn="l" defTabSz="914077"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Arial"/>
              <a:ea typeface="+mn-ea"/>
              <a:cs typeface="+mn-cs"/>
            </a:endParaRPr>
          </a:p>
          <a:p>
            <a:pPr marL="457038" marR="0" lvl="1" indent="0" algn="l" defTabSz="914077"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Rounded Rectangle 7">
            <a:extLst>
              <a:ext uri="{FF2B5EF4-FFF2-40B4-BE49-F238E27FC236}">
                <a16:creationId xmlns="" xmlns:a16="http://schemas.microsoft.com/office/drawing/2014/main" id="{A40BCA38-0356-6244-9A26-32B0B13E4EAC}"/>
              </a:ext>
            </a:extLst>
          </p:cNvPr>
          <p:cNvSpPr/>
          <p:nvPr/>
        </p:nvSpPr>
        <p:spPr>
          <a:xfrm>
            <a:off x="3682219" y="3433153"/>
            <a:ext cx="1623596" cy="2155225"/>
          </a:xfrm>
          <a:prstGeom prst="roundRect">
            <a:avLst/>
          </a:prstGeom>
          <a:solidFill>
            <a:srgbClr val="9BBB59">
              <a:lumMod val="50000"/>
            </a:srgb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rial"/>
              <a:ea typeface="+mn-ea"/>
              <a:cs typeface="+mn-cs"/>
            </a:endParaRPr>
          </a:p>
        </p:txBody>
      </p:sp>
      <p:sp>
        <p:nvSpPr>
          <p:cNvPr id="9" name="Slide Number Placeholder 1">
            <a:extLst>
              <a:ext uri="{FF2B5EF4-FFF2-40B4-BE49-F238E27FC236}">
                <a16:creationId xmlns="" xmlns:a16="http://schemas.microsoft.com/office/drawing/2014/main" id="{28F98023-9D52-6D4C-B4FA-90B869EF129A}"/>
              </a:ext>
            </a:extLst>
          </p:cNvPr>
          <p:cNvSpPr txBox="1">
            <a:spLocks/>
          </p:cNvSpPr>
          <p:nvPr/>
        </p:nvSpPr>
        <p:spPr>
          <a:xfrm>
            <a:off x="6403205" y="6090861"/>
            <a:ext cx="2133600" cy="365125"/>
          </a:xfrm>
          <a:prstGeom prst="rect">
            <a:avLst/>
          </a:prstGeom>
        </p:spPr>
        <p:txBody>
          <a:bodyPr vert="horz" lIns="91408" tIns="45704" rIns="91408" bIns="45704"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669562F-5B42-41BA-943C-811D8FEE7592}"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 xmlns:a16="http://schemas.microsoft.com/office/drawing/2014/main" id="{6F15EE4E-FB2E-8540-85FF-F518EA72DC1D}"/>
              </a:ext>
            </a:extLst>
          </p:cNvPr>
          <p:cNvSpPr/>
          <p:nvPr/>
        </p:nvSpPr>
        <p:spPr>
          <a:xfrm>
            <a:off x="3918240" y="762000"/>
            <a:ext cx="914400" cy="304800"/>
          </a:xfrm>
          <a:prstGeom prst="rect">
            <a:avLst/>
          </a:prstGeom>
          <a:solidFill>
            <a:srgbClr val="DDE8C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err="1">
                <a:ln>
                  <a:noFill/>
                </a:ln>
                <a:solidFill>
                  <a:prstClr val="black"/>
                </a:solidFill>
                <a:effectLst/>
                <a:uLnTx/>
                <a:uFillTx/>
                <a:latin typeface="Arial"/>
                <a:ea typeface="+mn-ea"/>
                <a:cs typeface="+mn-cs"/>
              </a:rPr>
              <a:t>Bde</a:t>
            </a:r>
            <a:r>
              <a:rPr kumimoji="0" lang="en-US" sz="1050" b="1" i="0" u="none" strike="noStrike" kern="0" cap="none" spc="0" normalizeH="0" baseline="0" noProof="0" dirty="0">
                <a:ln>
                  <a:noFill/>
                </a:ln>
                <a:solidFill>
                  <a:prstClr val="black"/>
                </a:solidFill>
                <a:effectLst/>
                <a:uLnTx/>
                <a:uFillTx/>
                <a:latin typeface="Arial"/>
                <a:ea typeface="+mn-ea"/>
                <a:cs typeface="+mn-cs"/>
              </a:rPr>
              <a:t> HQ </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11" name="Rectangle 10">
            <a:extLst>
              <a:ext uri="{FF2B5EF4-FFF2-40B4-BE49-F238E27FC236}">
                <a16:creationId xmlns="" xmlns:a16="http://schemas.microsoft.com/office/drawing/2014/main" id="{3B0EE286-0493-3448-935B-49D9D8365467}"/>
              </a:ext>
            </a:extLst>
          </p:cNvPr>
          <p:cNvSpPr/>
          <p:nvPr/>
        </p:nvSpPr>
        <p:spPr>
          <a:xfrm>
            <a:off x="3929469" y="1118273"/>
            <a:ext cx="914400" cy="304800"/>
          </a:xfrm>
          <a:prstGeom prst="rect">
            <a:avLst/>
          </a:prstGeom>
          <a:solidFill>
            <a:srgbClr val="F79646">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New Requirement?</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2" name="Rectangle 11">
            <a:extLst>
              <a:ext uri="{FF2B5EF4-FFF2-40B4-BE49-F238E27FC236}">
                <a16:creationId xmlns="" xmlns:a16="http://schemas.microsoft.com/office/drawing/2014/main" id="{77074B05-3FF5-3D4E-B353-B644E2FA77C5}"/>
              </a:ext>
            </a:extLst>
          </p:cNvPr>
          <p:cNvSpPr/>
          <p:nvPr/>
        </p:nvSpPr>
        <p:spPr>
          <a:xfrm>
            <a:off x="3829607" y="1651673"/>
            <a:ext cx="1124284" cy="304800"/>
          </a:xfrm>
          <a:prstGeom prst="rect">
            <a:avLst/>
          </a:prstGeom>
          <a:solidFill>
            <a:sysClr val="window" lastClr="FFFFFF">
              <a:lumMod val="85000"/>
            </a:sysClr>
          </a:solidFill>
          <a:ln w="6350"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Yes                    No</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3" name="Rectangle 12">
            <a:extLst>
              <a:ext uri="{FF2B5EF4-FFF2-40B4-BE49-F238E27FC236}">
                <a16:creationId xmlns="" xmlns:a16="http://schemas.microsoft.com/office/drawing/2014/main" id="{BF78B4CF-FE3F-7F42-A367-2D7AAF164CFD}"/>
              </a:ext>
            </a:extLst>
          </p:cNvPr>
          <p:cNvSpPr/>
          <p:nvPr/>
        </p:nvSpPr>
        <p:spPr>
          <a:xfrm>
            <a:off x="5414968" y="1613573"/>
            <a:ext cx="914400" cy="381000"/>
          </a:xfrm>
          <a:prstGeom prst="rect">
            <a:avLst/>
          </a:prstGeom>
          <a:solidFill>
            <a:srgbClr val="8064A2">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err="1">
                <a:ln>
                  <a:noFill/>
                </a:ln>
                <a:solidFill>
                  <a:prstClr val="black"/>
                </a:solidFill>
                <a:effectLst/>
                <a:uLnTx/>
                <a:uFillTx/>
                <a:latin typeface="Arial"/>
                <a:ea typeface="+mn-ea"/>
                <a:cs typeface="+mn-cs"/>
              </a:rPr>
              <a:t>Organise</a:t>
            </a:r>
            <a:r>
              <a:rPr kumimoji="0" lang="en-US" sz="800" b="1" i="0" u="none" strike="noStrike" kern="0" cap="none" spc="0" normalizeH="0" baseline="0" noProof="0" dirty="0">
                <a:ln>
                  <a:noFill/>
                </a:ln>
                <a:solidFill>
                  <a:prstClr val="black"/>
                </a:solidFill>
                <a:effectLst/>
                <a:uLnTx/>
                <a:uFillTx/>
                <a:latin typeface="Arial"/>
                <a:ea typeface="+mn-ea"/>
                <a:cs typeface="+mn-cs"/>
              </a:rPr>
              <a:t> use of Existing facility</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4" name="Rectangle 13">
            <a:extLst>
              <a:ext uri="{FF2B5EF4-FFF2-40B4-BE49-F238E27FC236}">
                <a16:creationId xmlns="" xmlns:a16="http://schemas.microsoft.com/office/drawing/2014/main" id="{0B5E00DD-BE26-8B4B-9434-921AB9F51CF2}"/>
              </a:ext>
            </a:extLst>
          </p:cNvPr>
          <p:cNvSpPr/>
          <p:nvPr/>
        </p:nvSpPr>
        <p:spPr>
          <a:xfrm>
            <a:off x="2562949" y="1613573"/>
            <a:ext cx="914400" cy="381000"/>
          </a:xfrm>
          <a:prstGeom prst="rect">
            <a:avLst/>
          </a:prstGeom>
          <a:solidFill>
            <a:srgbClr val="F79646">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Authority  Exists?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 (NAC &amp; </a:t>
            </a:r>
            <a:r>
              <a:rPr kumimoji="0" lang="en-US" sz="800" b="1" i="0" u="none" strike="noStrike" kern="0" cap="none" spc="0" normalizeH="0" baseline="0" noProof="0" dirty="0" err="1">
                <a:ln>
                  <a:noFill/>
                </a:ln>
                <a:solidFill>
                  <a:prstClr val="black"/>
                </a:solidFill>
                <a:effectLst/>
                <a:uLnTx/>
                <a:uFillTx/>
                <a:latin typeface="Arial"/>
                <a:ea typeface="+mn-ea"/>
                <a:cs typeface="+mn-cs"/>
              </a:rPr>
              <a:t>CoC</a:t>
            </a:r>
            <a:r>
              <a:rPr kumimoji="0" lang="en-US" sz="800" b="1" i="0" u="none" strike="noStrike" kern="0" cap="none" spc="0" normalizeH="0" baseline="0" noProof="0" dirty="0">
                <a:ln>
                  <a:noFill/>
                </a:ln>
                <a:solidFill>
                  <a:prstClr val="black"/>
                </a:solidFill>
                <a:effectLst/>
                <a:uLnTx/>
                <a:uFillTx/>
                <a:latin typeface="Arial"/>
                <a:ea typeface="+mn-ea"/>
                <a:cs typeface="+mn-cs"/>
              </a:rPr>
              <a:t>)</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5" name="Rectangle 14">
            <a:extLst>
              <a:ext uri="{FF2B5EF4-FFF2-40B4-BE49-F238E27FC236}">
                <a16:creationId xmlns="" xmlns:a16="http://schemas.microsoft.com/office/drawing/2014/main" id="{29896F87-17B4-B24C-BF27-1E60B73D1A94}"/>
              </a:ext>
            </a:extLst>
          </p:cNvPr>
          <p:cNvSpPr/>
          <p:nvPr/>
        </p:nvSpPr>
        <p:spPr>
          <a:xfrm>
            <a:off x="2458007" y="2341473"/>
            <a:ext cx="1124284" cy="304800"/>
          </a:xfrm>
          <a:prstGeom prst="rect">
            <a:avLst/>
          </a:prstGeom>
          <a:solidFill>
            <a:sysClr val="window" lastClr="FFFFFF">
              <a:lumMod val="85000"/>
            </a:sys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No                  Yes</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6" name="Rectangle 15">
            <a:extLst>
              <a:ext uri="{FF2B5EF4-FFF2-40B4-BE49-F238E27FC236}">
                <a16:creationId xmlns="" xmlns:a16="http://schemas.microsoft.com/office/drawing/2014/main" id="{68993E63-1524-5B46-8A07-87F8BE65D2BE}"/>
              </a:ext>
            </a:extLst>
          </p:cNvPr>
          <p:cNvSpPr/>
          <p:nvPr/>
        </p:nvSpPr>
        <p:spPr>
          <a:xfrm>
            <a:off x="795844" y="1913356"/>
            <a:ext cx="914400" cy="432335"/>
          </a:xfrm>
          <a:prstGeom prst="rect">
            <a:avLst/>
          </a:prstGeom>
          <a:solidFill>
            <a:srgbClr val="F79646">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Gain Authority or refer to </a:t>
            </a:r>
            <a:r>
              <a:rPr kumimoji="0" lang="en-US" sz="800" b="1" i="0" u="none" strike="noStrike" kern="0" cap="none" spc="0" normalizeH="0" baseline="0" noProof="0" dirty="0" err="1">
                <a:ln>
                  <a:noFill/>
                </a:ln>
                <a:solidFill>
                  <a:prstClr val="black"/>
                </a:solidFill>
                <a:effectLst/>
                <a:uLnTx/>
                <a:uFillTx/>
                <a:latin typeface="Arial"/>
                <a:ea typeface="+mn-ea"/>
                <a:cs typeface="+mn-cs"/>
              </a:rPr>
              <a:t>CoC</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7" name="Rectangle 16">
            <a:extLst>
              <a:ext uri="{FF2B5EF4-FFF2-40B4-BE49-F238E27FC236}">
                <a16:creationId xmlns="" xmlns:a16="http://schemas.microsoft.com/office/drawing/2014/main" id="{7E59BE44-486B-C441-A1DB-C0BFCC3D9921}"/>
              </a:ext>
            </a:extLst>
          </p:cNvPr>
          <p:cNvSpPr/>
          <p:nvPr/>
        </p:nvSpPr>
        <p:spPr>
          <a:xfrm>
            <a:off x="4013857" y="2338085"/>
            <a:ext cx="914400" cy="304800"/>
          </a:xfrm>
          <a:prstGeom prst="rect">
            <a:avLst/>
          </a:prstGeom>
          <a:solidFill>
            <a:srgbClr val="C0504D">
              <a:lumMod val="20000"/>
              <a:lumOff val="80000"/>
            </a:srgb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Conduct Risk Assessment</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8" name="Rectangle 17">
            <a:extLst>
              <a:ext uri="{FF2B5EF4-FFF2-40B4-BE49-F238E27FC236}">
                <a16:creationId xmlns="" xmlns:a16="http://schemas.microsoft.com/office/drawing/2014/main" id="{3B69FF90-E79B-4C45-B083-AC29EB43ADE4}"/>
              </a:ext>
            </a:extLst>
          </p:cNvPr>
          <p:cNvSpPr/>
          <p:nvPr/>
        </p:nvSpPr>
        <p:spPr>
          <a:xfrm>
            <a:off x="4005836" y="2832773"/>
            <a:ext cx="914400" cy="381000"/>
          </a:xfrm>
          <a:prstGeom prst="rect">
            <a:avLst/>
          </a:prstGeom>
          <a:solidFill>
            <a:srgbClr val="C0504D">
              <a:lumMod val="20000"/>
              <a:lumOff val="80000"/>
            </a:srgb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Mitigation Feasible and  Achievable?</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19" name="Rectangle 18">
            <a:extLst>
              <a:ext uri="{FF2B5EF4-FFF2-40B4-BE49-F238E27FC236}">
                <a16:creationId xmlns="" xmlns:a16="http://schemas.microsoft.com/office/drawing/2014/main" id="{AA95E01E-1E6C-CF40-96FD-3042B9956744}"/>
              </a:ext>
            </a:extLst>
          </p:cNvPr>
          <p:cNvSpPr/>
          <p:nvPr/>
        </p:nvSpPr>
        <p:spPr>
          <a:xfrm>
            <a:off x="5662285" y="4611613"/>
            <a:ext cx="667084" cy="304800"/>
          </a:xfrm>
          <a:prstGeom prst="rect">
            <a:avLst/>
          </a:prstGeom>
          <a:solidFill>
            <a:sysClr val="window" lastClr="FFFFFF">
              <a:lumMod val="85000"/>
            </a:sys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Yes</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20" name="Rectangle 19">
            <a:extLst>
              <a:ext uri="{FF2B5EF4-FFF2-40B4-BE49-F238E27FC236}">
                <a16:creationId xmlns="" xmlns:a16="http://schemas.microsoft.com/office/drawing/2014/main" id="{1C13F7E4-DBAE-5B4F-BA8C-70C47ACF7810}"/>
              </a:ext>
            </a:extLst>
          </p:cNvPr>
          <p:cNvSpPr/>
          <p:nvPr/>
        </p:nvSpPr>
        <p:spPr>
          <a:xfrm>
            <a:off x="7381731" y="4570675"/>
            <a:ext cx="914400" cy="381000"/>
          </a:xfrm>
          <a:prstGeom prst="rect">
            <a:avLst/>
          </a:prstGeom>
          <a:solidFill>
            <a:srgbClr val="8064A2">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Execute plan and mitigation measures</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21" name="Rectangle 20">
            <a:extLst>
              <a:ext uri="{FF2B5EF4-FFF2-40B4-BE49-F238E27FC236}">
                <a16:creationId xmlns="" xmlns:a16="http://schemas.microsoft.com/office/drawing/2014/main" id="{792D3AB9-D77B-2B4B-A182-FCB12B766F70}"/>
              </a:ext>
            </a:extLst>
          </p:cNvPr>
          <p:cNvSpPr/>
          <p:nvPr/>
        </p:nvSpPr>
        <p:spPr>
          <a:xfrm>
            <a:off x="7381731" y="3727504"/>
            <a:ext cx="914400" cy="304800"/>
          </a:xfrm>
          <a:prstGeom prst="rect">
            <a:avLst/>
          </a:prstGeom>
          <a:solidFill>
            <a:srgbClr val="8064A2">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Co-</a:t>
            </a:r>
            <a:r>
              <a:rPr kumimoji="0" lang="en-US" sz="800" b="1" i="0" u="none" strike="noStrike" kern="0" cap="none" spc="0" normalizeH="0" baseline="0" noProof="0" dirty="0" err="1">
                <a:ln>
                  <a:noFill/>
                </a:ln>
                <a:solidFill>
                  <a:prstClr val="black"/>
                </a:solidFill>
                <a:effectLst/>
                <a:uLnTx/>
                <a:uFillTx/>
                <a:latin typeface="Arial"/>
                <a:ea typeface="+mn-ea"/>
                <a:cs typeface="+mn-cs"/>
              </a:rPr>
              <a:t>ord</a:t>
            </a:r>
            <a:r>
              <a:rPr kumimoji="0" lang="en-US" sz="800" b="1" i="0" u="none" strike="noStrike" kern="0" cap="none" spc="0" normalizeH="0" baseline="0" noProof="0" dirty="0">
                <a:ln>
                  <a:noFill/>
                </a:ln>
                <a:solidFill>
                  <a:prstClr val="black"/>
                </a:solidFill>
                <a:effectLst/>
                <a:uLnTx/>
                <a:uFillTx/>
                <a:latin typeface="Arial"/>
                <a:ea typeface="+mn-ea"/>
                <a:cs typeface="+mn-cs"/>
              </a:rPr>
              <a:t>  usage with JLSG HQ</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sp>
        <p:nvSpPr>
          <p:cNvPr id="22" name="Rectangle 21">
            <a:extLst>
              <a:ext uri="{FF2B5EF4-FFF2-40B4-BE49-F238E27FC236}">
                <a16:creationId xmlns="" xmlns:a16="http://schemas.microsoft.com/office/drawing/2014/main" id="{2D9ACCF0-9B33-4A45-8913-02FE96C39547}"/>
              </a:ext>
            </a:extLst>
          </p:cNvPr>
          <p:cNvSpPr/>
          <p:nvPr/>
        </p:nvSpPr>
        <p:spPr>
          <a:xfrm>
            <a:off x="4010748" y="3564410"/>
            <a:ext cx="914400" cy="326189"/>
          </a:xfrm>
          <a:prstGeom prst="rect">
            <a:avLst/>
          </a:prstGeom>
          <a:solidFill>
            <a:srgbClr val="C5D8A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Div HQ </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3" name="Rectangle 22">
            <a:extLst>
              <a:ext uri="{FF2B5EF4-FFF2-40B4-BE49-F238E27FC236}">
                <a16:creationId xmlns="" xmlns:a16="http://schemas.microsoft.com/office/drawing/2014/main" id="{9AD1ABE6-542A-F44B-BB2C-1543BBC9F946}"/>
              </a:ext>
            </a:extLst>
          </p:cNvPr>
          <p:cNvSpPr/>
          <p:nvPr/>
        </p:nvSpPr>
        <p:spPr>
          <a:xfrm>
            <a:off x="4023582" y="4062373"/>
            <a:ext cx="914400" cy="326189"/>
          </a:xfrm>
          <a:prstGeom prst="rect">
            <a:avLst/>
          </a:prstGeom>
          <a:solidFill>
            <a:srgbClr val="ABC674"/>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Corps HQ </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4" name="Rectangle 23">
            <a:extLst>
              <a:ext uri="{FF2B5EF4-FFF2-40B4-BE49-F238E27FC236}">
                <a16:creationId xmlns="" xmlns:a16="http://schemas.microsoft.com/office/drawing/2014/main" id="{DB2C37ED-DE1E-3E40-8CC6-4FBAC5805493}"/>
              </a:ext>
            </a:extLst>
          </p:cNvPr>
          <p:cNvSpPr/>
          <p:nvPr/>
        </p:nvSpPr>
        <p:spPr>
          <a:xfrm>
            <a:off x="4034945" y="4595243"/>
            <a:ext cx="914400" cy="326189"/>
          </a:xfrm>
          <a:prstGeom prst="rect">
            <a:avLst/>
          </a:prstGeom>
          <a:solidFill>
            <a:srgbClr val="98B95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LCC</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5" name="Rectangle 24">
            <a:extLst>
              <a:ext uri="{FF2B5EF4-FFF2-40B4-BE49-F238E27FC236}">
                <a16:creationId xmlns="" xmlns:a16="http://schemas.microsoft.com/office/drawing/2014/main" id="{A80B6230-B0DC-3F42-8FDB-BC440697A96D}"/>
              </a:ext>
            </a:extLst>
          </p:cNvPr>
          <p:cNvSpPr/>
          <p:nvPr/>
        </p:nvSpPr>
        <p:spPr>
          <a:xfrm>
            <a:off x="4034945" y="5109789"/>
            <a:ext cx="914400" cy="326189"/>
          </a:xfrm>
          <a:prstGeom prst="rect">
            <a:avLst/>
          </a:prstGeom>
          <a:solidFill>
            <a:srgbClr val="85A644"/>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JTF</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6" name="Rectangle 25">
            <a:extLst>
              <a:ext uri="{FF2B5EF4-FFF2-40B4-BE49-F238E27FC236}">
                <a16:creationId xmlns="" xmlns:a16="http://schemas.microsoft.com/office/drawing/2014/main" id="{60DCDA0C-AC2F-954F-B743-AF1AC1C814DC}"/>
              </a:ext>
            </a:extLst>
          </p:cNvPr>
          <p:cNvSpPr/>
          <p:nvPr/>
        </p:nvSpPr>
        <p:spPr>
          <a:xfrm>
            <a:off x="4039491" y="5686235"/>
            <a:ext cx="914400" cy="326189"/>
          </a:xfrm>
          <a:prstGeom prst="rect">
            <a:avLst/>
          </a:prstGeom>
          <a:solidFill>
            <a:srgbClr val="7A973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Arial"/>
                <a:ea typeface="+mn-ea"/>
                <a:cs typeface="+mn-cs"/>
              </a:rPr>
              <a:t>Refer to SHAPE</a:t>
            </a:r>
            <a:endParaRPr kumimoji="0" lang="en-GB" sz="1050" b="1" i="0" u="none" strike="noStrike" kern="0" cap="none" spc="0" normalizeH="0" baseline="0" noProof="0" dirty="0">
              <a:ln>
                <a:noFill/>
              </a:ln>
              <a:solidFill>
                <a:prstClr val="black"/>
              </a:solidFill>
              <a:effectLst/>
              <a:uLnTx/>
              <a:uFillTx/>
              <a:latin typeface="Arial"/>
              <a:ea typeface="+mn-ea"/>
              <a:cs typeface="+mn-cs"/>
            </a:endParaRPr>
          </a:p>
        </p:txBody>
      </p:sp>
      <p:sp>
        <p:nvSpPr>
          <p:cNvPr id="27" name="Rectangle 26">
            <a:extLst>
              <a:ext uri="{FF2B5EF4-FFF2-40B4-BE49-F238E27FC236}">
                <a16:creationId xmlns="" xmlns:a16="http://schemas.microsoft.com/office/drawing/2014/main" id="{42E40B5F-D48B-BC4D-A673-245D0C22666B}"/>
              </a:ext>
            </a:extLst>
          </p:cNvPr>
          <p:cNvSpPr/>
          <p:nvPr/>
        </p:nvSpPr>
        <p:spPr>
          <a:xfrm>
            <a:off x="2008645" y="5700717"/>
            <a:ext cx="914400" cy="304800"/>
          </a:xfrm>
          <a:prstGeom prst="rect">
            <a:avLst/>
          </a:prstGeom>
          <a:solidFill>
            <a:srgbClr val="F79646">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Revise Mission</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cxnSp>
        <p:nvCxnSpPr>
          <p:cNvPr id="28" name="Straight Arrow Connector 27">
            <a:extLst>
              <a:ext uri="{FF2B5EF4-FFF2-40B4-BE49-F238E27FC236}">
                <a16:creationId xmlns="" xmlns:a16="http://schemas.microsoft.com/office/drawing/2014/main" id="{2EE5AA29-09BA-274C-B081-672011406AF2}"/>
              </a:ext>
            </a:extLst>
          </p:cNvPr>
          <p:cNvCxnSpPr>
            <a:stCxn id="11" idx="2"/>
            <a:endCxn id="12" idx="0"/>
          </p:cNvCxnSpPr>
          <p:nvPr/>
        </p:nvCxnSpPr>
        <p:spPr>
          <a:xfrm>
            <a:off x="4386669" y="1423073"/>
            <a:ext cx="5080" cy="228600"/>
          </a:xfrm>
          <a:prstGeom prst="straightConnector1">
            <a:avLst/>
          </a:prstGeom>
          <a:noFill/>
          <a:ln w="19050" cap="flat" cmpd="sng" algn="ctr">
            <a:solidFill>
              <a:sysClr val="windowText" lastClr="000000"/>
            </a:solidFill>
            <a:prstDash val="solid"/>
            <a:tailEnd type="arrow"/>
          </a:ln>
          <a:effectLst/>
        </p:spPr>
      </p:cxnSp>
      <p:cxnSp>
        <p:nvCxnSpPr>
          <p:cNvPr id="29" name="Straight Arrow Connector 28">
            <a:extLst>
              <a:ext uri="{FF2B5EF4-FFF2-40B4-BE49-F238E27FC236}">
                <a16:creationId xmlns="" xmlns:a16="http://schemas.microsoft.com/office/drawing/2014/main" id="{EC066244-741E-2543-9FB7-5EBA427379A9}"/>
              </a:ext>
            </a:extLst>
          </p:cNvPr>
          <p:cNvCxnSpPr>
            <a:stCxn id="12" idx="3"/>
            <a:endCxn id="13" idx="1"/>
          </p:cNvCxnSpPr>
          <p:nvPr/>
        </p:nvCxnSpPr>
        <p:spPr>
          <a:xfrm>
            <a:off x="4953891" y="1804073"/>
            <a:ext cx="461077" cy="0"/>
          </a:xfrm>
          <a:prstGeom prst="straightConnector1">
            <a:avLst/>
          </a:prstGeom>
          <a:noFill/>
          <a:ln w="19050" cap="flat" cmpd="sng" algn="ctr">
            <a:solidFill>
              <a:sysClr val="windowText" lastClr="000000"/>
            </a:solidFill>
            <a:prstDash val="solid"/>
            <a:tailEnd type="arrow"/>
          </a:ln>
          <a:effectLst/>
        </p:spPr>
      </p:cxnSp>
      <p:cxnSp>
        <p:nvCxnSpPr>
          <p:cNvPr id="30" name="Straight Arrow Connector 29">
            <a:extLst>
              <a:ext uri="{FF2B5EF4-FFF2-40B4-BE49-F238E27FC236}">
                <a16:creationId xmlns="" xmlns:a16="http://schemas.microsoft.com/office/drawing/2014/main" id="{F71C84DF-954A-0D49-8190-FE561084CDAD}"/>
              </a:ext>
            </a:extLst>
          </p:cNvPr>
          <p:cNvCxnSpPr>
            <a:stCxn id="12" idx="1"/>
            <a:endCxn id="14" idx="3"/>
          </p:cNvCxnSpPr>
          <p:nvPr/>
        </p:nvCxnSpPr>
        <p:spPr>
          <a:xfrm flipH="1">
            <a:off x="3477349" y="1804073"/>
            <a:ext cx="352258" cy="0"/>
          </a:xfrm>
          <a:prstGeom prst="straightConnector1">
            <a:avLst/>
          </a:prstGeom>
          <a:noFill/>
          <a:ln w="19050" cap="flat" cmpd="sng" algn="ctr">
            <a:solidFill>
              <a:sysClr val="windowText" lastClr="000000"/>
            </a:solidFill>
            <a:prstDash val="solid"/>
            <a:tailEnd type="arrow"/>
          </a:ln>
          <a:effectLst/>
        </p:spPr>
      </p:cxnSp>
      <p:cxnSp>
        <p:nvCxnSpPr>
          <p:cNvPr id="31" name="Straight Arrow Connector 30">
            <a:extLst>
              <a:ext uri="{FF2B5EF4-FFF2-40B4-BE49-F238E27FC236}">
                <a16:creationId xmlns="" xmlns:a16="http://schemas.microsoft.com/office/drawing/2014/main" id="{72EACD9F-3134-D548-B223-2CE10DBD55F9}"/>
              </a:ext>
            </a:extLst>
          </p:cNvPr>
          <p:cNvCxnSpPr>
            <a:stCxn id="14" idx="2"/>
            <a:endCxn id="15" idx="0"/>
          </p:cNvCxnSpPr>
          <p:nvPr/>
        </p:nvCxnSpPr>
        <p:spPr>
          <a:xfrm>
            <a:off x="3020149" y="1994573"/>
            <a:ext cx="0" cy="346900"/>
          </a:xfrm>
          <a:prstGeom prst="straightConnector1">
            <a:avLst/>
          </a:prstGeom>
          <a:noFill/>
          <a:ln w="19050" cap="flat" cmpd="sng" algn="ctr">
            <a:solidFill>
              <a:sysClr val="windowText" lastClr="000000"/>
            </a:solidFill>
            <a:prstDash val="solid"/>
            <a:tailEnd type="arrow"/>
          </a:ln>
          <a:effectLst/>
        </p:spPr>
      </p:cxnSp>
      <p:cxnSp>
        <p:nvCxnSpPr>
          <p:cNvPr id="32" name="Elbow Connector 31">
            <a:extLst>
              <a:ext uri="{FF2B5EF4-FFF2-40B4-BE49-F238E27FC236}">
                <a16:creationId xmlns="" xmlns:a16="http://schemas.microsoft.com/office/drawing/2014/main" id="{1B1BE9AA-DD8D-8748-BE00-2526A7228606}"/>
              </a:ext>
            </a:extLst>
          </p:cNvPr>
          <p:cNvCxnSpPr>
            <a:stCxn id="15" idx="3"/>
            <a:endCxn id="17" idx="1"/>
          </p:cNvCxnSpPr>
          <p:nvPr/>
        </p:nvCxnSpPr>
        <p:spPr>
          <a:xfrm flipV="1">
            <a:off x="3582291" y="2490485"/>
            <a:ext cx="431566" cy="3388"/>
          </a:xfrm>
          <a:prstGeom prst="bentConnector3">
            <a:avLst>
              <a:gd name="adj1" fmla="val 50000"/>
            </a:avLst>
          </a:prstGeom>
          <a:noFill/>
          <a:ln w="19050" cap="flat" cmpd="sng" algn="ctr">
            <a:solidFill>
              <a:sysClr val="windowText" lastClr="000000"/>
            </a:solidFill>
            <a:prstDash val="solid"/>
            <a:tailEnd type="arrow"/>
          </a:ln>
          <a:effectLst/>
        </p:spPr>
      </p:cxnSp>
      <p:cxnSp>
        <p:nvCxnSpPr>
          <p:cNvPr id="33" name="Straight Arrow Connector 32">
            <a:extLst>
              <a:ext uri="{FF2B5EF4-FFF2-40B4-BE49-F238E27FC236}">
                <a16:creationId xmlns="" xmlns:a16="http://schemas.microsoft.com/office/drawing/2014/main" id="{72D243F7-D005-254D-A782-129AC5005ACB}"/>
              </a:ext>
            </a:extLst>
          </p:cNvPr>
          <p:cNvCxnSpPr>
            <a:stCxn id="20" idx="0"/>
            <a:endCxn id="21" idx="2"/>
          </p:cNvCxnSpPr>
          <p:nvPr/>
        </p:nvCxnSpPr>
        <p:spPr>
          <a:xfrm flipV="1">
            <a:off x="7838931" y="4032304"/>
            <a:ext cx="0" cy="538371"/>
          </a:xfrm>
          <a:prstGeom prst="straightConnector1">
            <a:avLst/>
          </a:prstGeom>
          <a:noFill/>
          <a:ln w="19050" cap="flat" cmpd="sng" algn="ctr">
            <a:solidFill>
              <a:sysClr val="windowText" lastClr="000000"/>
            </a:solidFill>
            <a:prstDash val="solid"/>
            <a:tailEnd type="arrow"/>
          </a:ln>
          <a:effectLst/>
        </p:spPr>
      </p:cxnSp>
      <p:sp>
        <p:nvSpPr>
          <p:cNvPr id="34" name="Rectangle 33">
            <a:extLst>
              <a:ext uri="{FF2B5EF4-FFF2-40B4-BE49-F238E27FC236}">
                <a16:creationId xmlns="" xmlns:a16="http://schemas.microsoft.com/office/drawing/2014/main" id="{3DB697D9-C1F8-5B49-A64F-510762AB2088}"/>
              </a:ext>
            </a:extLst>
          </p:cNvPr>
          <p:cNvSpPr/>
          <p:nvPr/>
        </p:nvSpPr>
        <p:spPr>
          <a:xfrm>
            <a:off x="2686607" y="4600399"/>
            <a:ext cx="667084" cy="315875"/>
          </a:xfrm>
          <a:prstGeom prst="rect">
            <a:avLst/>
          </a:prstGeom>
          <a:solidFill>
            <a:sysClr val="window" lastClr="FFFFFF">
              <a:lumMod val="85000"/>
            </a:sysClr>
          </a:solidFill>
          <a:ln w="3175" cap="flat" cmpd="sng" algn="ctr">
            <a:solidFill>
              <a:sysClr val="windowText" lastClr="000000">
                <a:lumMod val="50000"/>
                <a:lumOff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prstClr val="black"/>
                </a:solidFill>
                <a:effectLst/>
                <a:uLnTx/>
                <a:uFillTx/>
                <a:latin typeface="Arial"/>
                <a:ea typeface="+mn-ea"/>
                <a:cs typeface="+mn-cs"/>
              </a:rPr>
              <a:t>No</a:t>
            </a:r>
            <a:endParaRPr kumimoji="0" lang="en-GB" sz="800" b="1" i="0" u="none" strike="noStrike" kern="0" cap="none" spc="0" normalizeH="0" baseline="0" noProof="0" dirty="0">
              <a:ln>
                <a:noFill/>
              </a:ln>
              <a:solidFill>
                <a:prstClr val="black"/>
              </a:solidFill>
              <a:effectLst/>
              <a:uLnTx/>
              <a:uFillTx/>
              <a:latin typeface="Arial"/>
              <a:ea typeface="+mn-ea"/>
              <a:cs typeface="+mn-cs"/>
            </a:endParaRPr>
          </a:p>
        </p:txBody>
      </p:sp>
      <p:cxnSp>
        <p:nvCxnSpPr>
          <p:cNvPr id="35" name="Straight Arrow Connector 34">
            <a:extLst>
              <a:ext uri="{FF2B5EF4-FFF2-40B4-BE49-F238E27FC236}">
                <a16:creationId xmlns="" xmlns:a16="http://schemas.microsoft.com/office/drawing/2014/main" id="{634B5ECC-7D5A-594E-86FB-A45167225D9A}"/>
              </a:ext>
            </a:extLst>
          </p:cNvPr>
          <p:cNvCxnSpPr>
            <a:stCxn id="17" idx="2"/>
            <a:endCxn id="18" idx="0"/>
          </p:cNvCxnSpPr>
          <p:nvPr/>
        </p:nvCxnSpPr>
        <p:spPr>
          <a:xfrm flipH="1">
            <a:off x="4463036" y="2642885"/>
            <a:ext cx="8021" cy="189888"/>
          </a:xfrm>
          <a:prstGeom prst="straightConnector1">
            <a:avLst/>
          </a:prstGeom>
          <a:noFill/>
          <a:ln w="19050" cap="flat" cmpd="sng" algn="ctr">
            <a:solidFill>
              <a:sysClr val="windowText" lastClr="000000"/>
            </a:solidFill>
            <a:prstDash val="solid"/>
            <a:tailEnd type="arrow"/>
          </a:ln>
          <a:effectLst/>
        </p:spPr>
      </p:cxnSp>
      <p:cxnSp>
        <p:nvCxnSpPr>
          <p:cNvPr id="36" name="Elbow Connector 35">
            <a:extLst>
              <a:ext uri="{FF2B5EF4-FFF2-40B4-BE49-F238E27FC236}">
                <a16:creationId xmlns="" xmlns:a16="http://schemas.microsoft.com/office/drawing/2014/main" id="{AA75D402-414C-0D42-B0F4-C9EA6E555820}"/>
              </a:ext>
            </a:extLst>
          </p:cNvPr>
          <p:cNvCxnSpPr>
            <a:stCxn id="18" idx="3"/>
            <a:endCxn id="19" idx="0"/>
          </p:cNvCxnSpPr>
          <p:nvPr/>
        </p:nvCxnSpPr>
        <p:spPr>
          <a:xfrm>
            <a:off x="4920236" y="3023273"/>
            <a:ext cx="1075591" cy="1588340"/>
          </a:xfrm>
          <a:prstGeom prst="bentConnector2">
            <a:avLst/>
          </a:prstGeom>
          <a:noFill/>
          <a:ln w="19050" cap="flat" cmpd="sng" algn="ctr">
            <a:solidFill>
              <a:srgbClr val="00B050"/>
            </a:solidFill>
            <a:prstDash val="solid"/>
            <a:tailEnd type="arrow"/>
          </a:ln>
          <a:effectLst/>
        </p:spPr>
      </p:cxnSp>
      <p:cxnSp>
        <p:nvCxnSpPr>
          <p:cNvPr id="37" name="Straight Arrow Connector 36">
            <a:extLst>
              <a:ext uri="{FF2B5EF4-FFF2-40B4-BE49-F238E27FC236}">
                <a16:creationId xmlns="" xmlns:a16="http://schemas.microsoft.com/office/drawing/2014/main" id="{03B6A849-D03A-FD41-9BC6-C52FF478071B}"/>
              </a:ext>
            </a:extLst>
          </p:cNvPr>
          <p:cNvCxnSpPr>
            <a:stCxn id="22" idx="3"/>
            <a:endCxn id="19" idx="1"/>
          </p:cNvCxnSpPr>
          <p:nvPr/>
        </p:nvCxnSpPr>
        <p:spPr>
          <a:xfrm>
            <a:off x="4925148" y="3727505"/>
            <a:ext cx="737137" cy="1036508"/>
          </a:xfrm>
          <a:prstGeom prst="straightConnector1">
            <a:avLst/>
          </a:prstGeom>
          <a:noFill/>
          <a:ln w="9525" cap="flat" cmpd="sng" algn="ctr">
            <a:solidFill>
              <a:srgbClr val="00B050"/>
            </a:solidFill>
            <a:prstDash val="solid"/>
            <a:tailEnd type="arrow"/>
          </a:ln>
          <a:effectLst/>
        </p:spPr>
      </p:cxnSp>
      <p:cxnSp>
        <p:nvCxnSpPr>
          <p:cNvPr id="38" name="Straight Arrow Connector 37">
            <a:extLst>
              <a:ext uri="{FF2B5EF4-FFF2-40B4-BE49-F238E27FC236}">
                <a16:creationId xmlns="" xmlns:a16="http://schemas.microsoft.com/office/drawing/2014/main" id="{EF84E1EA-E82D-B941-857C-26DD86672B5D}"/>
              </a:ext>
            </a:extLst>
          </p:cNvPr>
          <p:cNvCxnSpPr>
            <a:stCxn id="23" idx="3"/>
            <a:endCxn id="19" idx="1"/>
          </p:cNvCxnSpPr>
          <p:nvPr/>
        </p:nvCxnSpPr>
        <p:spPr>
          <a:xfrm>
            <a:off x="4937982" y="4225468"/>
            <a:ext cx="724303" cy="538545"/>
          </a:xfrm>
          <a:prstGeom prst="straightConnector1">
            <a:avLst/>
          </a:prstGeom>
          <a:noFill/>
          <a:ln w="9525" cap="flat" cmpd="sng" algn="ctr">
            <a:solidFill>
              <a:srgbClr val="00B050"/>
            </a:solidFill>
            <a:prstDash val="solid"/>
            <a:tailEnd type="arrow"/>
          </a:ln>
          <a:effectLst/>
        </p:spPr>
      </p:cxnSp>
      <p:cxnSp>
        <p:nvCxnSpPr>
          <p:cNvPr id="39" name="Straight Arrow Connector 38">
            <a:extLst>
              <a:ext uri="{FF2B5EF4-FFF2-40B4-BE49-F238E27FC236}">
                <a16:creationId xmlns="" xmlns:a16="http://schemas.microsoft.com/office/drawing/2014/main" id="{16A39F5C-AAAF-AC44-A0B3-DAE3165BD2A0}"/>
              </a:ext>
            </a:extLst>
          </p:cNvPr>
          <p:cNvCxnSpPr>
            <a:stCxn id="24" idx="3"/>
            <a:endCxn id="19" idx="1"/>
          </p:cNvCxnSpPr>
          <p:nvPr/>
        </p:nvCxnSpPr>
        <p:spPr>
          <a:xfrm>
            <a:off x="4949345" y="4758338"/>
            <a:ext cx="712940" cy="5675"/>
          </a:xfrm>
          <a:prstGeom prst="straightConnector1">
            <a:avLst/>
          </a:prstGeom>
          <a:noFill/>
          <a:ln w="9525" cap="flat" cmpd="sng" algn="ctr">
            <a:solidFill>
              <a:srgbClr val="00B050"/>
            </a:solidFill>
            <a:prstDash val="solid"/>
            <a:tailEnd type="arrow"/>
          </a:ln>
          <a:effectLst/>
        </p:spPr>
      </p:cxnSp>
      <p:cxnSp>
        <p:nvCxnSpPr>
          <p:cNvPr id="40" name="Straight Arrow Connector 39">
            <a:extLst>
              <a:ext uri="{FF2B5EF4-FFF2-40B4-BE49-F238E27FC236}">
                <a16:creationId xmlns="" xmlns:a16="http://schemas.microsoft.com/office/drawing/2014/main" id="{971126A7-E689-D645-A107-1CDAB81E6C45}"/>
              </a:ext>
            </a:extLst>
          </p:cNvPr>
          <p:cNvCxnSpPr>
            <a:stCxn id="25" idx="3"/>
          </p:cNvCxnSpPr>
          <p:nvPr/>
        </p:nvCxnSpPr>
        <p:spPr>
          <a:xfrm flipV="1">
            <a:off x="4949345" y="4736960"/>
            <a:ext cx="712939" cy="535924"/>
          </a:xfrm>
          <a:prstGeom prst="straightConnector1">
            <a:avLst/>
          </a:prstGeom>
          <a:noFill/>
          <a:ln w="9525" cap="flat" cmpd="sng" algn="ctr">
            <a:solidFill>
              <a:srgbClr val="00B050"/>
            </a:solidFill>
            <a:prstDash val="solid"/>
            <a:tailEnd type="arrow"/>
          </a:ln>
          <a:effectLst/>
        </p:spPr>
      </p:cxnSp>
      <p:cxnSp>
        <p:nvCxnSpPr>
          <p:cNvPr id="41" name="Elbow Connector 40">
            <a:extLst>
              <a:ext uri="{FF2B5EF4-FFF2-40B4-BE49-F238E27FC236}">
                <a16:creationId xmlns="" xmlns:a16="http://schemas.microsoft.com/office/drawing/2014/main" id="{07C954E5-F958-964B-A1A8-0F053C37F7E5}"/>
              </a:ext>
            </a:extLst>
          </p:cNvPr>
          <p:cNvCxnSpPr>
            <a:stCxn id="26" idx="1"/>
            <a:endCxn id="27" idx="3"/>
          </p:cNvCxnSpPr>
          <p:nvPr/>
        </p:nvCxnSpPr>
        <p:spPr>
          <a:xfrm rot="10800000" flipV="1">
            <a:off x="2923045" y="5849329"/>
            <a:ext cx="1116446" cy="3787"/>
          </a:xfrm>
          <a:prstGeom prst="bentConnector3">
            <a:avLst>
              <a:gd name="adj1" fmla="val 50000"/>
            </a:avLst>
          </a:prstGeom>
          <a:noFill/>
          <a:ln w="19050" cap="flat" cmpd="sng" algn="ctr">
            <a:solidFill>
              <a:srgbClr val="FF0000"/>
            </a:solidFill>
            <a:prstDash val="solid"/>
            <a:tailEnd type="arrow"/>
          </a:ln>
          <a:effectLst/>
        </p:spPr>
      </p:cxnSp>
      <p:cxnSp>
        <p:nvCxnSpPr>
          <p:cNvPr id="42" name="Elbow Connector 41">
            <a:extLst>
              <a:ext uri="{FF2B5EF4-FFF2-40B4-BE49-F238E27FC236}">
                <a16:creationId xmlns="" xmlns:a16="http://schemas.microsoft.com/office/drawing/2014/main" id="{D1F79EFD-255C-B041-8DEA-F9126D05C518}"/>
              </a:ext>
            </a:extLst>
          </p:cNvPr>
          <p:cNvCxnSpPr>
            <a:stCxn id="15" idx="1"/>
            <a:endCxn id="16" idx="2"/>
          </p:cNvCxnSpPr>
          <p:nvPr/>
        </p:nvCxnSpPr>
        <p:spPr>
          <a:xfrm rot="10800000">
            <a:off x="1253045" y="2345691"/>
            <a:ext cx="1204963" cy="148182"/>
          </a:xfrm>
          <a:prstGeom prst="bentConnector2">
            <a:avLst/>
          </a:prstGeom>
          <a:noFill/>
          <a:ln w="19050" cap="flat" cmpd="sng" algn="ctr">
            <a:solidFill>
              <a:sysClr val="windowText" lastClr="000000"/>
            </a:solidFill>
            <a:prstDash val="solid"/>
            <a:tailEnd type="arrow"/>
          </a:ln>
          <a:effectLst/>
        </p:spPr>
      </p:cxnSp>
      <p:cxnSp>
        <p:nvCxnSpPr>
          <p:cNvPr id="43" name="Elbow Connector 42">
            <a:extLst>
              <a:ext uri="{FF2B5EF4-FFF2-40B4-BE49-F238E27FC236}">
                <a16:creationId xmlns="" xmlns:a16="http://schemas.microsoft.com/office/drawing/2014/main" id="{7B19B894-4185-7645-8237-F55A3368678B}"/>
              </a:ext>
            </a:extLst>
          </p:cNvPr>
          <p:cNvCxnSpPr>
            <a:stCxn id="16" idx="0"/>
            <a:endCxn id="14" idx="1"/>
          </p:cNvCxnSpPr>
          <p:nvPr/>
        </p:nvCxnSpPr>
        <p:spPr>
          <a:xfrm rot="5400000" flipH="1" flipV="1">
            <a:off x="1853355" y="1203763"/>
            <a:ext cx="109283" cy="1309905"/>
          </a:xfrm>
          <a:prstGeom prst="bentConnector2">
            <a:avLst/>
          </a:prstGeom>
          <a:noFill/>
          <a:ln w="19050" cap="flat" cmpd="sng" algn="ctr">
            <a:solidFill>
              <a:sysClr val="windowText" lastClr="000000"/>
            </a:solidFill>
            <a:prstDash val="solid"/>
            <a:tailEnd type="arrow"/>
          </a:ln>
          <a:effectLst/>
        </p:spPr>
      </p:cxnSp>
      <p:cxnSp>
        <p:nvCxnSpPr>
          <p:cNvPr id="44" name="Elbow Connector 43">
            <a:extLst>
              <a:ext uri="{FF2B5EF4-FFF2-40B4-BE49-F238E27FC236}">
                <a16:creationId xmlns="" xmlns:a16="http://schemas.microsoft.com/office/drawing/2014/main" id="{443741D9-4374-8244-A2DF-54F575C56875}"/>
              </a:ext>
            </a:extLst>
          </p:cNvPr>
          <p:cNvCxnSpPr>
            <a:stCxn id="13" idx="3"/>
            <a:endCxn id="21" idx="0"/>
          </p:cNvCxnSpPr>
          <p:nvPr/>
        </p:nvCxnSpPr>
        <p:spPr>
          <a:xfrm>
            <a:off x="6329368" y="1804073"/>
            <a:ext cx="1509563" cy="1923431"/>
          </a:xfrm>
          <a:prstGeom prst="bentConnector2">
            <a:avLst/>
          </a:prstGeom>
          <a:noFill/>
          <a:ln w="19050" cap="flat" cmpd="sng" algn="ctr">
            <a:solidFill>
              <a:sysClr val="windowText" lastClr="000000"/>
            </a:solidFill>
            <a:prstDash val="solid"/>
            <a:tailEnd type="arrow"/>
          </a:ln>
          <a:effectLst/>
        </p:spPr>
      </p:cxnSp>
      <p:cxnSp>
        <p:nvCxnSpPr>
          <p:cNvPr id="45" name="Straight Arrow Connector 44">
            <a:extLst>
              <a:ext uri="{FF2B5EF4-FFF2-40B4-BE49-F238E27FC236}">
                <a16:creationId xmlns="" xmlns:a16="http://schemas.microsoft.com/office/drawing/2014/main" id="{5BC1D8E2-7B79-C64E-AD58-28EA1C20E013}"/>
              </a:ext>
            </a:extLst>
          </p:cNvPr>
          <p:cNvCxnSpPr>
            <a:stCxn id="22" idx="1"/>
            <a:endCxn id="34" idx="3"/>
          </p:cNvCxnSpPr>
          <p:nvPr/>
        </p:nvCxnSpPr>
        <p:spPr>
          <a:xfrm flipH="1">
            <a:off x="3353691" y="3727505"/>
            <a:ext cx="657057" cy="1030832"/>
          </a:xfrm>
          <a:prstGeom prst="straightConnector1">
            <a:avLst/>
          </a:prstGeom>
          <a:noFill/>
          <a:ln w="9525" cap="flat" cmpd="sng" algn="ctr">
            <a:solidFill>
              <a:srgbClr val="FF0000"/>
            </a:solidFill>
            <a:prstDash val="solid"/>
            <a:headEnd type="arrow"/>
            <a:tailEnd type="arrow"/>
          </a:ln>
          <a:effectLst/>
        </p:spPr>
      </p:cxnSp>
      <p:cxnSp>
        <p:nvCxnSpPr>
          <p:cNvPr id="46" name="Straight Arrow Connector 45">
            <a:extLst>
              <a:ext uri="{FF2B5EF4-FFF2-40B4-BE49-F238E27FC236}">
                <a16:creationId xmlns="" xmlns:a16="http://schemas.microsoft.com/office/drawing/2014/main" id="{3EDAF0E7-5EF8-014C-A971-1F7E5EDDCCDD}"/>
              </a:ext>
            </a:extLst>
          </p:cNvPr>
          <p:cNvCxnSpPr>
            <a:stCxn id="23" idx="1"/>
            <a:endCxn id="34" idx="3"/>
          </p:cNvCxnSpPr>
          <p:nvPr/>
        </p:nvCxnSpPr>
        <p:spPr>
          <a:xfrm flipH="1">
            <a:off x="3353691" y="4225468"/>
            <a:ext cx="669891" cy="532869"/>
          </a:xfrm>
          <a:prstGeom prst="straightConnector1">
            <a:avLst/>
          </a:prstGeom>
          <a:noFill/>
          <a:ln w="9525" cap="flat" cmpd="sng" algn="ctr">
            <a:solidFill>
              <a:srgbClr val="FF0000"/>
            </a:solidFill>
            <a:prstDash val="solid"/>
            <a:headEnd type="arrow"/>
            <a:tailEnd type="arrow"/>
          </a:ln>
          <a:effectLst/>
        </p:spPr>
      </p:cxnSp>
      <p:cxnSp>
        <p:nvCxnSpPr>
          <p:cNvPr id="47" name="Straight Arrow Connector 46">
            <a:extLst>
              <a:ext uri="{FF2B5EF4-FFF2-40B4-BE49-F238E27FC236}">
                <a16:creationId xmlns="" xmlns:a16="http://schemas.microsoft.com/office/drawing/2014/main" id="{F42DC774-09E0-A74C-BEEA-CCA936B4DE4B}"/>
              </a:ext>
            </a:extLst>
          </p:cNvPr>
          <p:cNvCxnSpPr>
            <a:stCxn id="24" idx="1"/>
            <a:endCxn id="34" idx="3"/>
          </p:cNvCxnSpPr>
          <p:nvPr/>
        </p:nvCxnSpPr>
        <p:spPr>
          <a:xfrm flipH="1" flipV="1">
            <a:off x="3353691" y="4758337"/>
            <a:ext cx="681254" cy="1"/>
          </a:xfrm>
          <a:prstGeom prst="straightConnector1">
            <a:avLst/>
          </a:prstGeom>
          <a:noFill/>
          <a:ln w="9525" cap="flat" cmpd="sng" algn="ctr">
            <a:solidFill>
              <a:srgbClr val="FF0000"/>
            </a:solidFill>
            <a:prstDash val="solid"/>
            <a:headEnd type="arrow"/>
            <a:tailEnd type="arrow"/>
          </a:ln>
          <a:effectLst/>
        </p:spPr>
      </p:cxnSp>
      <p:cxnSp>
        <p:nvCxnSpPr>
          <p:cNvPr id="48" name="Straight Arrow Connector 47">
            <a:extLst>
              <a:ext uri="{FF2B5EF4-FFF2-40B4-BE49-F238E27FC236}">
                <a16:creationId xmlns="" xmlns:a16="http://schemas.microsoft.com/office/drawing/2014/main" id="{45323A3A-CBAB-FF4E-8829-8B88BBBF82C4}"/>
              </a:ext>
            </a:extLst>
          </p:cNvPr>
          <p:cNvCxnSpPr>
            <a:stCxn id="25" idx="1"/>
            <a:endCxn id="34" idx="3"/>
          </p:cNvCxnSpPr>
          <p:nvPr/>
        </p:nvCxnSpPr>
        <p:spPr>
          <a:xfrm flipH="1" flipV="1">
            <a:off x="3353691" y="4758337"/>
            <a:ext cx="681254" cy="514547"/>
          </a:xfrm>
          <a:prstGeom prst="straightConnector1">
            <a:avLst/>
          </a:prstGeom>
          <a:noFill/>
          <a:ln w="9525" cap="flat" cmpd="sng" algn="ctr">
            <a:solidFill>
              <a:srgbClr val="FF0000"/>
            </a:solidFill>
            <a:prstDash val="solid"/>
            <a:headEnd type="arrow"/>
            <a:tailEnd type="arrow"/>
          </a:ln>
          <a:effectLst/>
        </p:spPr>
      </p:cxnSp>
      <p:cxnSp>
        <p:nvCxnSpPr>
          <p:cNvPr id="49" name="Elbow Connector 48">
            <a:extLst>
              <a:ext uri="{FF2B5EF4-FFF2-40B4-BE49-F238E27FC236}">
                <a16:creationId xmlns="" xmlns:a16="http://schemas.microsoft.com/office/drawing/2014/main" id="{8EFFD069-9701-9C49-843C-5D321292AD00}"/>
              </a:ext>
            </a:extLst>
          </p:cNvPr>
          <p:cNvCxnSpPr>
            <a:stCxn id="18" idx="1"/>
            <a:endCxn id="34" idx="0"/>
          </p:cNvCxnSpPr>
          <p:nvPr/>
        </p:nvCxnSpPr>
        <p:spPr>
          <a:xfrm rot="10800000" flipV="1">
            <a:off x="3020150" y="3023273"/>
            <a:ext cx="985687" cy="1577126"/>
          </a:xfrm>
          <a:prstGeom prst="bentConnector2">
            <a:avLst/>
          </a:prstGeom>
          <a:noFill/>
          <a:ln w="19050" cap="flat" cmpd="sng" algn="ctr">
            <a:solidFill>
              <a:srgbClr val="FF0000"/>
            </a:solidFill>
            <a:prstDash val="solid"/>
            <a:headEnd type="arrow"/>
            <a:tailEnd type="arrow"/>
          </a:ln>
          <a:effectLst/>
        </p:spPr>
      </p:cxnSp>
      <p:cxnSp>
        <p:nvCxnSpPr>
          <p:cNvPr id="50" name="Straight Arrow Connector 49">
            <a:extLst>
              <a:ext uri="{FF2B5EF4-FFF2-40B4-BE49-F238E27FC236}">
                <a16:creationId xmlns="" xmlns:a16="http://schemas.microsoft.com/office/drawing/2014/main" id="{F8F93F10-C2E6-4D47-9BAE-0BD6592602C7}"/>
              </a:ext>
            </a:extLst>
          </p:cNvPr>
          <p:cNvCxnSpPr>
            <a:stCxn id="19" idx="3"/>
            <a:endCxn id="20" idx="1"/>
          </p:cNvCxnSpPr>
          <p:nvPr/>
        </p:nvCxnSpPr>
        <p:spPr>
          <a:xfrm flipV="1">
            <a:off x="6329369" y="4761175"/>
            <a:ext cx="1052362" cy="2838"/>
          </a:xfrm>
          <a:prstGeom prst="straightConnector1">
            <a:avLst/>
          </a:prstGeom>
          <a:noFill/>
          <a:ln w="19050" cap="flat" cmpd="sng" algn="ctr">
            <a:solidFill>
              <a:srgbClr val="00B050"/>
            </a:solidFill>
            <a:prstDash val="solid"/>
            <a:tailEnd type="arrow"/>
          </a:ln>
          <a:effectLst/>
        </p:spPr>
      </p:cxnSp>
      <p:sp>
        <p:nvSpPr>
          <p:cNvPr id="51" name="TextBox 50">
            <a:extLst>
              <a:ext uri="{FF2B5EF4-FFF2-40B4-BE49-F238E27FC236}">
                <a16:creationId xmlns="" xmlns:a16="http://schemas.microsoft.com/office/drawing/2014/main" id="{47572304-4C37-904F-9B57-A7E76FBB6373}"/>
              </a:ext>
            </a:extLst>
          </p:cNvPr>
          <p:cNvSpPr txBox="1"/>
          <p:nvPr/>
        </p:nvSpPr>
        <p:spPr>
          <a:xfrm>
            <a:off x="5458030" y="5363069"/>
            <a:ext cx="3228769" cy="646331"/>
          </a:xfrm>
          <a:prstGeom prst="rect">
            <a:avLst/>
          </a:prstGeom>
          <a:noFill/>
          <a:ln>
            <a:solidFill>
              <a:sysClr val="windowText" lastClr="000000"/>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rPr>
              <a:t>Each Level of the </a:t>
            </a:r>
            <a:r>
              <a:rPr kumimoji="0" lang="en-US" sz="1200" b="0" i="0" u="none" strike="noStrike" kern="0" cap="none" spc="0" normalizeH="0" baseline="0" noProof="0" dirty="0" err="1">
                <a:ln>
                  <a:noFill/>
                </a:ln>
                <a:solidFill>
                  <a:prstClr val="black"/>
                </a:solidFill>
                <a:effectLst/>
                <a:uLnTx/>
                <a:uFillTx/>
              </a:rPr>
              <a:t>CoC</a:t>
            </a:r>
            <a:r>
              <a:rPr kumimoji="0" lang="en-US" sz="1200" b="0" i="0" u="none" strike="noStrike" kern="0" cap="none" spc="0" normalizeH="0" baseline="0" noProof="0" dirty="0">
                <a:ln>
                  <a:noFill/>
                </a:ln>
                <a:solidFill>
                  <a:prstClr val="black"/>
                </a:solidFill>
                <a:effectLst/>
                <a:uLnTx/>
                <a:uFillTx/>
              </a:rPr>
              <a:t> must assess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rPr>
              <a:t>feasibility and achievability of risk mitigation,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rPr>
              <a:t>before referring to next level</a:t>
            </a:r>
            <a:endParaRPr kumimoji="0" lang="en-GB" sz="1200" b="0" i="0" u="none" strike="noStrike" kern="0" cap="none" spc="0" normalizeH="0" baseline="0" noProof="0" dirty="0">
              <a:ln>
                <a:noFill/>
              </a:ln>
              <a:solidFill>
                <a:prstClr val="black"/>
              </a:solidFill>
              <a:effectLst/>
              <a:uLnTx/>
              <a:uFillTx/>
            </a:endParaRPr>
          </a:p>
        </p:txBody>
      </p:sp>
      <p:cxnSp>
        <p:nvCxnSpPr>
          <p:cNvPr id="52" name="Straight Arrow Connector 51">
            <a:extLst>
              <a:ext uri="{FF2B5EF4-FFF2-40B4-BE49-F238E27FC236}">
                <a16:creationId xmlns="" xmlns:a16="http://schemas.microsoft.com/office/drawing/2014/main" id="{867BEA4C-267B-EA4E-B155-5B8D85CB0FD3}"/>
              </a:ext>
            </a:extLst>
          </p:cNvPr>
          <p:cNvCxnSpPr>
            <a:endCxn id="51" idx="1"/>
          </p:cNvCxnSpPr>
          <p:nvPr/>
        </p:nvCxnSpPr>
        <p:spPr>
          <a:xfrm>
            <a:off x="5293716" y="5435978"/>
            <a:ext cx="164314" cy="250257"/>
          </a:xfrm>
          <a:prstGeom prst="straightConnector1">
            <a:avLst/>
          </a:prstGeom>
          <a:noFill/>
          <a:ln w="19050" cap="flat" cmpd="sng" algn="ctr">
            <a:solidFill>
              <a:sysClr val="windowText" lastClr="000000"/>
            </a:solidFill>
            <a:prstDash val="solid"/>
            <a:tailEnd type="arrow"/>
          </a:ln>
          <a:effectLst/>
        </p:spPr>
      </p:cxnSp>
    </p:spTree>
    <p:extLst>
      <p:ext uri="{BB962C8B-B14F-4D97-AF65-F5344CB8AC3E}">
        <p14:creationId xmlns:p14="http://schemas.microsoft.com/office/powerpoint/2010/main" val="9961997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3E0161-7B4D-884B-810F-00F76BAA3602}"/>
              </a:ext>
            </a:extLst>
          </p:cNvPr>
          <p:cNvSpPr>
            <a:spLocks noGrp="1"/>
          </p:cNvSpPr>
          <p:nvPr>
            <p:ph type="title"/>
          </p:nvPr>
        </p:nvSpPr>
        <p:spPr>
          <a:xfrm>
            <a:off x="2262521" y="249895"/>
            <a:ext cx="8229600" cy="452264"/>
          </a:xfrm>
        </p:spPr>
        <p:txBody>
          <a:bodyPr/>
          <a:lstStyle/>
          <a:p>
            <a:r>
              <a:rPr lang="en-GB" sz="4000" b="0" dirty="0">
                <a:latin typeface="+mj-lt"/>
              </a:rPr>
              <a:t>ESMRM - TREX</a:t>
            </a:r>
          </a:p>
        </p:txBody>
      </p:sp>
      <p:sp>
        <p:nvSpPr>
          <p:cNvPr id="3" name="Content Placeholder 2">
            <a:extLst>
              <a:ext uri="{FF2B5EF4-FFF2-40B4-BE49-F238E27FC236}">
                <a16:creationId xmlns="" xmlns:a16="http://schemas.microsoft.com/office/drawing/2014/main" id="{899C4D62-56A5-2749-9E0D-BA0824EE95C4}"/>
              </a:ext>
            </a:extLst>
          </p:cNvPr>
          <p:cNvSpPr>
            <a:spLocks noGrp="1"/>
          </p:cNvSpPr>
          <p:nvPr>
            <p:ph idx="1"/>
          </p:nvPr>
        </p:nvSpPr>
        <p:spPr>
          <a:xfrm>
            <a:off x="457199" y="586249"/>
            <a:ext cx="8229600" cy="4935600"/>
          </a:xfrm>
        </p:spPr>
        <p:txBody>
          <a:bodyPr/>
          <a:lstStyle/>
          <a:p>
            <a:r>
              <a:rPr lang="en-GB" sz="2400" dirty="0"/>
              <a:t>ESMRM within BiSC 75-003 – Collective </a:t>
            </a:r>
            <a:r>
              <a:rPr lang="en-GB" sz="2400" dirty="0" err="1"/>
              <a:t>Trg</a:t>
            </a:r>
            <a:r>
              <a:rPr lang="en-GB" sz="2400" dirty="0"/>
              <a:t> and Exercise Directive (proposed additions)</a:t>
            </a:r>
          </a:p>
          <a:p>
            <a:pPr marL="285750" indent="-285750">
              <a:buFont typeface="Arial" panose="020B0604020202020204" pitchFamily="34" charset="0"/>
              <a:buChar char="•"/>
            </a:pPr>
            <a:r>
              <a:rPr lang="en-US" b="0" i="1" dirty="0"/>
              <a:t>Where LIVEX is planned considerations must be made for appropriate Explosives and Munitions safety throughout the exercise to include storage, transport, handling and where required processing and disposal facilities</a:t>
            </a:r>
          </a:p>
          <a:p>
            <a:pPr marL="285750" indent="-285750">
              <a:buFont typeface="Arial" panose="020B0604020202020204" pitchFamily="34" charset="0"/>
              <a:buChar char="•"/>
            </a:pPr>
            <a:r>
              <a:rPr lang="en-US" b="0" i="1" dirty="0"/>
              <a:t>For LIVEX additional considerations must be made for risks to PS  posed by the storage, handling, transportation, processing and disposal of Explosives and Munitions</a:t>
            </a:r>
          </a:p>
          <a:p>
            <a:pPr marL="285750" indent="-285750">
              <a:buFont typeface="Arial" panose="020B0604020202020204" pitchFamily="34" charset="0"/>
              <a:buChar char="•"/>
            </a:pPr>
            <a:r>
              <a:rPr lang="en-US" b="0" i="1" dirty="0"/>
              <a:t>Appropriate infrastructure and support to provide for explosives and munitions safety during storage, handling, transportation, processing and disposal. </a:t>
            </a:r>
          </a:p>
          <a:p>
            <a:pPr marL="285750" indent="-285750">
              <a:buFont typeface="Arial" panose="020B0604020202020204" pitchFamily="34" charset="0"/>
              <a:buChar char="•"/>
            </a:pPr>
            <a:r>
              <a:rPr lang="en-US" b="0" i="1" dirty="0"/>
              <a:t>The presence of Explosives and Munitions during a LIVEX presents inherent risk to personnel and property and requires due planning consideration</a:t>
            </a:r>
            <a:endParaRPr lang="en-GB" sz="2200" b="0" dirty="0"/>
          </a:p>
        </p:txBody>
      </p:sp>
      <p:sp>
        <p:nvSpPr>
          <p:cNvPr id="4" name="Footer Placeholder 3">
            <a:extLst>
              <a:ext uri="{FF2B5EF4-FFF2-40B4-BE49-F238E27FC236}">
                <a16:creationId xmlns="" xmlns:a16="http://schemas.microsoft.com/office/drawing/2014/main" id="{548016DE-3632-9F4D-9A62-28149572EF4E}"/>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 xmlns:a16="http://schemas.microsoft.com/office/drawing/2014/main" id="{7DE66046-473E-574D-8CEA-0A403A6F10B2}"/>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34</a:t>
            </a:fld>
            <a:endParaRPr lang="en-GB" dirty="0"/>
          </a:p>
        </p:txBody>
      </p:sp>
      <p:sp>
        <p:nvSpPr>
          <p:cNvPr id="6" name="Date Placeholder 5">
            <a:extLst>
              <a:ext uri="{FF2B5EF4-FFF2-40B4-BE49-F238E27FC236}">
                <a16:creationId xmlns="" xmlns:a16="http://schemas.microsoft.com/office/drawing/2014/main" id="{88F43979-7FC5-1E43-9173-F7BF597657F8}"/>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13/06/2023</a:t>
            </a:fld>
            <a:endParaRPr lang="en-GB" dirty="0"/>
          </a:p>
        </p:txBody>
      </p:sp>
    </p:spTree>
    <p:extLst>
      <p:ext uri="{BB962C8B-B14F-4D97-AF65-F5344CB8AC3E}">
        <p14:creationId xmlns:p14="http://schemas.microsoft.com/office/powerpoint/2010/main" val="20326211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de-DE"/>
              <a:t>NATO UNCLASSIFIED</a:t>
            </a:r>
            <a:endParaRPr lang="de-DE" dirty="0"/>
          </a:p>
        </p:txBody>
      </p:sp>
      <p:sp>
        <p:nvSpPr>
          <p:cNvPr id="4" name="Slide Number Placeholder 3"/>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35</a:t>
            </a:fld>
            <a:endParaRPr lang="en-GB" dirty="0"/>
          </a:p>
        </p:txBody>
      </p:sp>
      <p:sp>
        <p:nvSpPr>
          <p:cNvPr id="6" name="Date Placeholder 5"/>
          <p:cNvSpPr>
            <a:spLocks noGrp="1"/>
          </p:cNvSpPr>
          <p:nvPr>
            <p:ph type="dt" sz="half" idx="4294967295"/>
          </p:nvPr>
        </p:nvSpPr>
        <p:spPr>
          <a:xfrm>
            <a:off x="6145096" y="6410415"/>
            <a:ext cx="756938" cy="365125"/>
          </a:xfrm>
        </p:spPr>
        <p:txBody>
          <a:bodyPr/>
          <a:lstStyle/>
          <a:p>
            <a:pPr lvl="1"/>
            <a:fld id="{C478E588-CB74-42E5-97AC-F64AD782D86F}" type="datetime1">
              <a:rPr lang="en-US" smtClean="0"/>
              <a:pPr lvl="1"/>
              <a:t>13/06/2023</a:t>
            </a:fld>
            <a:endParaRPr lang="en-GB" dirty="0"/>
          </a:p>
        </p:txBody>
      </p:sp>
      <p:sp>
        <p:nvSpPr>
          <p:cNvPr id="2" name="TextBox 1"/>
          <p:cNvSpPr txBox="1"/>
          <p:nvPr/>
        </p:nvSpPr>
        <p:spPr>
          <a:xfrm>
            <a:off x="1658172" y="0"/>
            <a:ext cx="5827654" cy="707886"/>
          </a:xfrm>
          <a:prstGeom prst="rect">
            <a:avLst/>
          </a:prstGeom>
          <a:noFill/>
        </p:spPr>
        <p:txBody>
          <a:bodyPr wrap="square" rtlCol="0">
            <a:spAutoFit/>
          </a:bodyPr>
          <a:lstStyle/>
          <a:p>
            <a:pPr algn="ctr"/>
            <a:r>
              <a:rPr lang="en-US" sz="4000" dirty="0">
                <a:solidFill>
                  <a:schemeClr val="tx2"/>
                </a:solidFill>
                <a:hlinkClick r:id="rId3" action="ppaction://hlinkfile"/>
              </a:rPr>
              <a:t>VIDEO – FOB Scenario</a:t>
            </a:r>
            <a:endParaRPr lang="en-US" sz="4000" dirty="0">
              <a:solidFill>
                <a:schemeClr val="tx2"/>
              </a:solidFill>
            </a:endParaRPr>
          </a:p>
        </p:txBody>
      </p:sp>
    </p:spTree>
    <p:extLst>
      <p:ext uri="{BB962C8B-B14F-4D97-AF65-F5344CB8AC3E}">
        <p14:creationId xmlns:p14="http://schemas.microsoft.com/office/powerpoint/2010/main" val="3007310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74276F-74A2-6842-A00F-A5DA420AC80B}"/>
              </a:ext>
            </a:extLst>
          </p:cNvPr>
          <p:cNvSpPr>
            <a:spLocks noGrp="1"/>
          </p:cNvSpPr>
          <p:nvPr>
            <p:ph type="title"/>
          </p:nvPr>
        </p:nvSpPr>
        <p:spPr>
          <a:xfrm>
            <a:off x="2408765" y="106789"/>
            <a:ext cx="8229600" cy="520647"/>
          </a:xfrm>
        </p:spPr>
        <p:txBody>
          <a:bodyPr/>
          <a:lstStyle/>
          <a:p>
            <a:r>
              <a:rPr lang="en-GB" sz="4000" b="0" dirty="0">
                <a:latin typeface="+mj-lt"/>
              </a:rPr>
              <a:t>ESMRM Way Forward</a:t>
            </a:r>
          </a:p>
        </p:txBody>
      </p:sp>
      <p:sp>
        <p:nvSpPr>
          <p:cNvPr id="3" name="Content Placeholder 2">
            <a:extLst>
              <a:ext uri="{FF2B5EF4-FFF2-40B4-BE49-F238E27FC236}">
                <a16:creationId xmlns="" xmlns:a16="http://schemas.microsoft.com/office/drawing/2014/main" id="{4F9B0619-0530-D044-962C-089C016E87B5}"/>
              </a:ext>
            </a:extLst>
          </p:cNvPr>
          <p:cNvSpPr>
            <a:spLocks noGrp="1"/>
          </p:cNvSpPr>
          <p:nvPr>
            <p:ph idx="1"/>
          </p:nvPr>
        </p:nvSpPr>
        <p:spPr>
          <a:xfrm>
            <a:off x="457199" y="851434"/>
            <a:ext cx="8229600" cy="4935600"/>
          </a:xfrm>
        </p:spPr>
        <p:txBody>
          <a:bodyPr/>
          <a:lstStyle/>
          <a:p>
            <a:pPr marL="342900" indent="-342900">
              <a:buFont typeface="Arial" panose="020B0604020202020204" pitchFamily="34" charset="0"/>
              <a:buChar char="•"/>
            </a:pPr>
            <a:r>
              <a:rPr lang="en-GB" sz="2400" b="0" dirty="0"/>
              <a:t>Broker in planning -   </a:t>
            </a:r>
            <a:r>
              <a:rPr lang="en-GB" sz="2400" b="0" i="1" dirty="0"/>
              <a:t>Authority, Infra, real estate, HNS</a:t>
            </a:r>
          </a:p>
          <a:p>
            <a:pPr marL="342900" indent="-342900">
              <a:buFont typeface="Arial" panose="020B0604020202020204" pitchFamily="34" charset="0"/>
              <a:buChar char="•"/>
            </a:pPr>
            <a:r>
              <a:rPr lang="en-GB" sz="2400" b="0" dirty="0"/>
              <a:t>Use ESMRM to solve problems in planning and execution</a:t>
            </a:r>
          </a:p>
          <a:p>
            <a:pPr marL="342900" indent="-342900">
              <a:buFont typeface="Arial" panose="020B0604020202020204" pitchFamily="34" charset="0"/>
              <a:buChar char="•"/>
            </a:pPr>
            <a:r>
              <a:rPr lang="en-GB" sz="2400" b="0" dirty="0"/>
              <a:t>Understand ALP </a:t>
            </a:r>
            <a:r>
              <a:rPr lang="en-GB" sz="2400" b="0" dirty="0" smtClean="0"/>
              <a:t>16, CRMs </a:t>
            </a:r>
            <a:r>
              <a:rPr lang="en-GB" sz="2400" b="0" dirty="0"/>
              <a:t>&amp; NCS SOPs</a:t>
            </a:r>
          </a:p>
          <a:p>
            <a:pPr marL="342900" indent="-342900">
              <a:buFont typeface="Arial" panose="020B0604020202020204" pitchFamily="34" charset="0"/>
              <a:buChar char="•"/>
            </a:pPr>
            <a:r>
              <a:rPr lang="en-GB" sz="2400" b="0" dirty="0"/>
              <a:t>Do not consider ES as a TCN problem – </a:t>
            </a:r>
            <a:r>
              <a:rPr lang="en-GB" sz="2400" b="0" i="1" dirty="0"/>
              <a:t>Plan for ES, include host nations</a:t>
            </a:r>
          </a:p>
          <a:p>
            <a:pPr marL="342900" indent="-342900">
              <a:buFont typeface="Arial" panose="020B0604020202020204" pitchFamily="34" charset="0"/>
              <a:buChar char="•"/>
            </a:pPr>
            <a:r>
              <a:rPr lang="en-GB" sz="2400" b="0" dirty="0"/>
              <a:t>Ensure SME participation during planning (all levels)</a:t>
            </a:r>
          </a:p>
          <a:p>
            <a:pPr marL="342900" indent="-342900">
              <a:buFont typeface="Arial" panose="020B0604020202020204" pitchFamily="34" charset="0"/>
              <a:buChar char="•"/>
            </a:pPr>
            <a:r>
              <a:rPr lang="en-GB" sz="2400" b="0" dirty="0"/>
              <a:t>Future Initiatives -  </a:t>
            </a:r>
            <a:r>
              <a:rPr lang="en-GB" sz="2400" b="0" i="1" dirty="0" smtClean="0"/>
              <a:t>AJP </a:t>
            </a:r>
            <a:r>
              <a:rPr lang="en-GB" sz="2400" b="0" i="1" dirty="0"/>
              <a:t>4.1, Bi-SC 75/3</a:t>
            </a:r>
          </a:p>
          <a:p>
            <a:endParaRPr lang="en-GB" dirty="0"/>
          </a:p>
        </p:txBody>
      </p:sp>
      <p:sp>
        <p:nvSpPr>
          <p:cNvPr id="4" name="Footer Placeholder 3">
            <a:extLst>
              <a:ext uri="{FF2B5EF4-FFF2-40B4-BE49-F238E27FC236}">
                <a16:creationId xmlns="" xmlns:a16="http://schemas.microsoft.com/office/drawing/2014/main" id="{5A0574CF-DF27-0645-A16E-2EECDDADF2BA}"/>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 xmlns:a16="http://schemas.microsoft.com/office/drawing/2014/main" id="{446BBF7B-37D6-1E43-813D-0A2409058D10}"/>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36</a:t>
            </a:fld>
            <a:endParaRPr lang="en-GB" dirty="0"/>
          </a:p>
        </p:txBody>
      </p:sp>
      <p:sp>
        <p:nvSpPr>
          <p:cNvPr id="6" name="Date Placeholder 5">
            <a:extLst>
              <a:ext uri="{FF2B5EF4-FFF2-40B4-BE49-F238E27FC236}">
                <a16:creationId xmlns="" xmlns:a16="http://schemas.microsoft.com/office/drawing/2014/main" id="{120FA98E-C3BC-2449-9D5A-F551978D3E0F}"/>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13/06/2023</a:t>
            </a:fld>
            <a:endParaRPr lang="en-GB" dirty="0"/>
          </a:p>
        </p:txBody>
      </p:sp>
    </p:spTree>
    <p:extLst>
      <p:ext uri="{BB962C8B-B14F-4D97-AF65-F5344CB8AC3E}">
        <p14:creationId xmlns:p14="http://schemas.microsoft.com/office/powerpoint/2010/main" val="21639111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74276F-74A2-6842-A00F-A5DA420AC80B}"/>
              </a:ext>
            </a:extLst>
          </p:cNvPr>
          <p:cNvSpPr>
            <a:spLocks noGrp="1"/>
          </p:cNvSpPr>
          <p:nvPr>
            <p:ph type="title"/>
          </p:nvPr>
        </p:nvSpPr>
        <p:spPr>
          <a:xfrm>
            <a:off x="2408765" y="183039"/>
            <a:ext cx="8229600" cy="520647"/>
          </a:xfrm>
        </p:spPr>
        <p:txBody>
          <a:bodyPr/>
          <a:lstStyle/>
          <a:p>
            <a:r>
              <a:rPr lang="en-GB" sz="4000" b="0" dirty="0">
                <a:latin typeface="+mj-lt"/>
              </a:rPr>
              <a:t>ESMRM</a:t>
            </a:r>
          </a:p>
        </p:txBody>
      </p:sp>
      <p:sp>
        <p:nvSpPr>
          <p:cNvPr id="3" name="Content Placeholder 2">
            <a:extLst>
              <a:ext uri="{FF2B5EF4-FFF2-40B4-BE49-F238E27FC236}">
                <a16:creationId xmlns="" xmlns:a16="http://schemas.microsoft.com/office/drawing/2014/main" id="{4F9B0619-0530-D044-962C-089C016E87B5}"/>
              </a:ext>
            </a:extLst>
          </p:cNvPr>
          <p:cNvSpPr>
            <a:spLocks noGrp="1"/>
          </p:cNvSpPr>
          <p:nvPr>
            <p:ph idx="1"/>
          </p:nvPr>
        </p:nvSpPr>
        <p:spPr>
          <a:xfrm>
            <a:off x="457199" y="851434"/>
            <a:ext cx="8229600" cy="4935600"/>
          </a:xfrm>
        </p:spPr>
        <p:txBody>
          <a:bodyPr/>
          <a:lstStyle/>
          <a:p>
            <a:r>
              <a:rPr lang="en-GB" sz="4000" b="0" dirty="0">
                <a:latin typeface="+mn-lt"/>
              </a:rPr>
              <a:t>Questions?</a:t>
            </a:r>
          </a:p>
        </p:txBody>
      </p:sp>
      <p:sp>
        <p:nvSpPr>
          <p:cNvPr id="4" name="Footer Placeholder 3">
            <a:extLst>
              <a:ext uri="{FF2B5EF4-FFF2-40B4-BE49-F238E27FC236}">
                <a16:creationId xmlns="" xmlns:a16="http://schemas.microsoft.com/office/drawing/2014/main" id="{5A0574CF-DF27-0645-A16E-2EECDDADF2BA}"/>
              </a:ext>
            </a:extLst>
          </p:cNvPr>
          <p:cNvSpPr>
            <a:spLocks noGrp="1"/>
          </p:cNvSpPr>
          <p:nvPr>
            <p:ph type="ftr" sz="quarter" idx="3"/>
          </p:nvPr>
        </p:nvSpPr>
        <p:spPr/>
        <p:txBody>
          <a:bodyPr/>
          <a:lstStyle/>
          <a:p>
            <a:r>
              <a:rPr lang="de-DE"/>
              <a:t>NATO UNCLASSIFIED</a:t>
            </a:r>
            <a:endParaRPr lang="de-DE" dirty="0"/>
          </a:p>
        </p:txBody>
      </p:sp>
      <p:sp>
        <p:nvSpPr>
          <p:cNvPr id="5" name="Slide Number Placeholder 4">
            <a:extLst>
              <a:ext uri="{FF2B5EF4-FFF2-40B4-BE49-F238E27FC236}">
                <a16:creationId xmlns="" xmlns:a16="http://schemas.microsoft.com/office/drawing/2014/main" id="{446BBF7B-37D6-1E43-813D-0A2409058D10}"/>
              </a:ext>
            </a:extLst>
          </p:cNvPr>
          <p:cNvSpPr>
            <a:spLocks noGrp="1"/>
          </p:cNvSpPr>
          <p:nvPr>
            <p:ph type="sldNum" sz="quarter" idx="4294967295"/>
          </p:nvPr>
        </p:nvSpPr>
        <p:spPr>
          <a:xfrm>
            <a:off x="6938967" y="6410415"/>
            <a:ext cx="738203" cy="365125"/>
          </a:xfrm>
        </p:spPr>
        <p:txBody>
          <a:bodyPr/>
          <a:lstStyle/>
          <a:p>
            <a:r>
              <a:rPr lang="en-GB"/>
              <a:t>| Slide </a:t>
            </a:r>
            <a:fld id="{AC1C9A27-5D71-496E-AC2B-58C1CA833928}" type="slidenum">
              <a:rPr lang="en-GB" smtClean="0"/>
              <a:pPr/>
              <a:t>37</a:t>
            </a:fld>
            <a:endParaRPr lang="en-GB" dirty="0"/>
          </a:p>
        </p:txBody>
      </p:sp>
      <p:sp>
        <p:nvSpPr>
          <p:cNvPr id="6" name="Date Placeholder 5">
            <a:extLst>
              <a:ext uri="{FF2B5EF4-FFF2-40B4-BE49-F238E27FC236}">
                <a16:creationId xmlns="" xmlns:a16="http://schemas.microsoft.com/office/drawing/2014/main" id="{120FA98E-C3BC-2449-9D5A-F551978D3E0F}"/>
              </a:ext>
            </a:extLst>
          </p:cNvPr>
          <p:cNvSpPr>
            <a:spLocks noGrp="1"/>
          </p:cNvSpPr>
          <p:nvPr>
            <p:ph type="dt" sz="half" idx="4294967295"/>
          </p:nvPr>
        </p:nvSpPr>
        <p:spPr>
          <a:xfrm>
            <a:off x="6145096" y="6410415"/>
            <a:ext cx="756938" cy="365125"/>
          </a:xfrm>
        </p:spPr>
        <p:txBody>
          <a:bodyPr/>
          <a:lstStyle/>
          <a:p>
            <a:pPr lvl="1"/>
            <a:fld id="{4AA8F6DC-237A-4057-8953-446ECCB83F9A}" type="datetime1">
              <a:rPr lang="en-US" smtClean="0"/>
              <a:pPr lvl="1"/>
              <a:t>13/06/2023</a:t>
            </a:fld>
            <a:endParaRPr lang="en-GB" dirty="0"/>
          </a:p>
        </p:txBody>
      </p:sp>
      <p:sp>
        <p:nvSpPr>
          <p:cNvPr id="7" name="TextBox 6">
            <a:extLst>
              <a:ext uri="{FF2B5EF4-FFF2-40B4-BE49-F238E27FC236}">
                <a16:creationId xmlns="" xmlns:a16="http://schemas.microsoft.com/office/drawing/2014/main" id="{61B63DC3-0AD3-443F-A1A8-FFD1A090967F}"/>
              </a:ext>
            </a:extLst>
          </p:cNvPr>
          <p:cNvSpPr txBox="1"/>
          <p:nvPr/>
        </p:nvSpPr>
        <p:spPr>
          <a:xfrm>
            <a:off x="4406462" y="2495988"/>
            <a:ext cx="1828800" cy="1828800"/>
          </a:xfrm>
          <a:prstGeom prst="rect">
            <a:avLst/>
          </a:prstGeom>
          <a:noFill/>
        </p:spPr>
        <p:txBody>
          <a:bodyPr wrap="square" rtlCol="0">
            <a:spAutoFit/>
          </a:bodyPr>
          <a:lstStyle/>
          <a:p>
            <a:pPr algn="l"/>
            <a:endParaRPr lang="x-none"/>
          </a:p>
        </p:txBody>
      </p:sp>
    </p:spTree>
    <p:extLst>
      <p:ext uri="{BB962C8B-B14F-4D97-AF65-F5344CB8AC3E}">
        <p14:creationId xmlns:p14="http://schemas.microsoft.com/office/powerpoint/2010/main" val="940941792"/>
      </p:ext>
    </p:extLst>
  </p:cSld>
  <p:clrMapOvr>
    <a:masterClrMapping/>
  </p:clrMapOvr>
  <p:timing>
    <p:tnLst>
      <p:par>
        <p:cTn id="1" dur="indefinite" restart="never" nodeType="tmRoot"/>
      </p:par>
    </p:tnLst>
  </p:timing>
</p:sld>
</file>

<file path=ppt/theme/theme1.xml><?xml version="1.0" encoding="utf-8"?>
<a:theme xmlns:a="http://schemas.openxmlformats.org/drawingml/2006/main" name="NSO_PPT_Master_2007_V1 0">
  <a:themeElements>
    <a:clrScheme name="COSEC Blue">
      <a:dk1>
        <a:srgbClr val="000000"/>
      </a:dk1>
      <a:lt1>
        <a:sysClr val="window" lastClr="FFFFFF"/>
      </a:lt1>
      <a:dk2>
        <a:srgbClr val="003B5B"/>
      </a:dk2>
      <a:lt2>
        <a:srgbClr val="E2E3E4"/>
      </a:lt2>
      <a:accent1>
        <a:srgbClr val="0C909D"/>
      </a:accent1>
      <a:accent2>
        <a:srgbClr val="6DBDC4"/>
      </a:accent2>
      <a:accent3>
        <a:srgbClr val="9ED3D8"/>
      </a:accent3>
      <a:accent4>
        <a:srgbClr val="CEE9EB"/>
      </a:accent4>
      <a:accent5>
        <a:srgbClr val="E2E3E4"/>
      </a:accent5>
      <a:accent6>
        <a:srgbClr val="003B5B"/>
      </a:accent6>
      <a:hlink>
        <a:srgbClr val="003B5B"/>
      </a:hlink>
      <a:folHlink>
        <a:srgbClr val="003B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ATO_SCHOOL_Oberammergau_default_master">
  <a:themeElements>
    <a:clrScheme name="Custom 1">
      <a:dk1>
        <a:srgbClr val="000000"/>
      </a:dk1>
      <a:lt1>
        <a:sysClr val="window" lastClr="FFFFFF"/>
      </a:lt1>
      <a:dk2>
        <a:srgbClr val="003B5B"/>
      </a:dk2>
      <a:lt2>
        <a:srgbClr val="E2E3E4"/>
      </a:lt2>
      <a:accent1>
        <a:srgbClr val="808285"/>
      </a:accent1>
      <a:accent2>
        <a:srgbClr val="003B5B"/>
      </a:accent2>
      <a:accent3>
        <a:srgbClr val="317696"/>
      </a:accent3>
      <a:accent4>
        <a:srgbClr val="6D9AB5"/>
      </a:accent4>
      <a:accent5>
        <a:srgbClr val="ADC5D7"/>
      </a:accent5>
      <a:accent6>
        <a:srgbClr val="E2E3E4"/>
      </a:accent6>
      <a:hlink>
        <a:srgbClr val="003B5B"/>
      </a:hlink>
      <a:folHlink>
        <a:srgbClr val="003B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NTEL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OSEC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JOPS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JPD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NCOPD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PRO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MSOffice_defaul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_JOPS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JPO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5B27A65603CCE4286BCFAF569B13952" ma:contentTypeVersion="12" ma:contentTypeDescription="Criar um novo documento." ma:contentTypeScope="" ma:versionID="e8ed86e5e11f9f02dcb9587e66bef5b7">
  <xsd:schema xmlns:xsd="http://www.w3.org/2001/XMLSchema" xmlns:xs="http://www.w3.org/2001/XMLSchema" xmlns:p="http://schemas.microsoft.com/office/2006/metadata/properties" xmlns:ns2="1c3fb4c2-0da0-4d0a-ba1a-d31282cddde4" xmlns:ns3="768ec260-3609-4363-825e-a27f12258866" targetNamespace="http://schemas.microsoft.com/office/2006/metadata/properties" ma:root="true" ma:fieldsID="e12a2af26451616c9c41a45c543fea80" ns2:_="" ns3:_="">
    <xsd:import namespace="1c3fb4c2-0da0-4d0a-ba1a-d31282cddde4"/>
    <xsd:import namespace="768ec260-3609-4363-825e-a27f122588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fb4c2-0da0-4d0a-ba1a-d31282cddd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Etiquetas de Imagem" ma:readOnly="false" ma:fieldId="{5cf76f15-5ced-4ddc-b409-7134ff3c332f}" ma:taxonomyMulti="true" ma:sspId="f8f0716f-eab5-442c-b43b-7dcdbaec426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68ec260-3609-4363-825e-a27f1225886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62ef64b-3660-49a0-8a9d-71bfcb2a4adc}" ma:internalName="TaxCatchAll" ma:showField="CatchAllData" ma:web="768ec260-3609-4363-825e-a27f122588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c3fb4c2-0da0-4d0a-ba1a-d31282cddde4">
      <Terms xmlns="http://schemas.microsoft.com/office/infopath/2007/PartnerControls"/>
    </lcf76f155ced4ddcb4097134ff3c332f>
    <TaxCatchAll xmlns="768ec260-3609-4363-825e-a27f12258866" xsi:nil="true"/>
  </documentManagement>
</p:properties>
</file>

<file path=customXml/itemProps1.xml><?xml version="1.0" encoding="utf-8"?>
<ds:datastoreItem xmlns:ds="http://schemas.openxmlformats.org/officeDocument/2006/customXml" ds:itemID="{9BB0B75F-B574-4C25-B7FC-926F62615F9A}"/>
</file>

<file path=customXml/itemProps2.xml><?xml version="1.0" encoding="utf-8"?>
<ds:datastoreItem xmlns:ds="http://schemas.openxmlformats.org/officeDocument/2006/customXml" ds:itemID="{8FF0CE93-54E7-4BAF-89A4-E7F0A67FBED6}"/>
</file>

<file path=customXml/itemProps3.xml><?xml version="1.0" encoding="utf-8"?>
<ds:datastoreItem xmlns:ds="http://schemas.openxmlformats.org/officeDocument/2006/customXml" ds:itemID="{BA3DABE1-AACD-41FF-9BA2-D38797DFAEE8}"/>
</file>

<file path=docProps/app.xml><?xml version="1.0" encoding="utf-8"?>
<Properties xmlns="http://schemas.openxmlformats.org/officeDocument/2006/extended-properties" xmlns:vt="http://schemas.openxmlformats.org/officeDocument/2006/docPropsVTypes">
  <Template>NSO_PPT_Master_2007_V1 0</Template>
  <TotalTime>16334</TotalTime>
  <Words>3454</Words>
  <Application>Microsoft Office PowerPoint</Application>
  <PresentationFormat>On-screen Show (4:3)</PresentationFormat>
  <Paragraphs>542</Paragraphs>
  <Slides>37</Slides>
  <Notes>34</Notes>
  <HiddenSlides>0</HiddenSlides>
  <MMClips>0</MMClips>
  <ScaleCrop>false</ScaleCrop>
  <HeadingPairs>
    <vt:vector size="4" baseType="variant">
      <vt:variant>
        <vt:lpstr>Theme</vt:lpstr>
      </vt:variant>
      <vt:variant>
        <vt:i4>11</vt:i4>
      </vt:variant>
      <vt:variant>
        <vt:lpstr>Slide Titles</vt:lpstr>
      </vt:variant>
      <vt:variant>
        <vt:i4>37</vt:i4>
      </vt:variant>
    </vt:vector>
  </HeadingPairs>
  <TitlesOfParts>
    <vt:vector size="48" baseType="lpstr">
      <vt:lpstr>NSO_PPT_Master_2007_V1 0</vt:lpstr>
      <vt:lpstr>NATO_SCHOOL_Oberammergau_default_master</vt:lpstr>
      <vt:lpstr>INTEL_master</vt:lpstr>
      <vt:lpstr>COSEC_master</vt:lpstr>
      <vt:lpstr>JOPS_master</vt:lpstr>
      <vt:lpstr>JPD_master</vt:lpstr>
      <vt:lpstr>NCOPD_master</vt:lpstr>
      <vt:lpstr>PROT_master</vt:lpstr>
      <vt:lpstr>MSOffice_default_master</vt:lpstr>
      <vt:lpstr>1_JOPS_master</vt:lpstr>
      <vt:lpstr>JPOD</vt:lpstr>
      <vt:lpstr>Explosives Safety and Munitions Risk Management (ESMRM)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 </vt:lpstr>
      <vt:lpstr>ESMRM Authority</vt:lpstr>
      <vt:lpstr>ESMRM Authority</vt:lpstr>
      <vt:lpstr>ESMRM Authority</vt:lpstr>
      <vt:lpstr>ESMRM Authority</vt:lpstr>
      <vt:lpstr>ESMRM Authority</vt:lpstr>
      <vt:lpstr>ESMRM Authority</vt:lpstr>
      <vt:lpstr>ESMRM Dynamic Application</vt:lpstr>
      <vt:lpstr>ESMRM Referral</vt:lpstr>
      <vt:lpstr>Risk Decision – Referral Process</vt:lpstr>
      <vt:lpstr>ESMRM - TREX</vt:lpstr>
      <vt:lpstr>PowerPoint Presentation</vt:lpstr>
      <vt:lpstr>ESMRM Way Forward</vt:lpstr>
      <vt:lpstr>ESMRM</vt:lpstr>
    </vt:vector>
  </TitlesOfParts>
  <Company>NATO School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ESMRM NATO School Oberammergau</dc:title>
  <dc:creator>william.d.thomas6.mil@mail.mil</dc:creator>
  <cp:lastModifiedBy>Humelsine, Erin (OF-4, USA-A)</cp:lastModifiedBy>
  <cp:revision>394</cp:revision>
  <cp:lastPrinted>2021-02-24T15:13:33Z</cp:lastPrinted>
  <dcterms:created xsi:type="dcterms:W3CDTF">2013-07-01T08:55:49Z</dcterms:created>
  <dcterms:modified xsi:type="dcterms:W3CDTF">2023-06-13T07:40:21Z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0x01010065B27A65603CCE4286BCFAF569B13952</vt:lpwstr>
  </property>
</Properties>
</file>