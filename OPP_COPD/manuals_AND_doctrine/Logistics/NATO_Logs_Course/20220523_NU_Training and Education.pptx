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61.xml" ContentType="application/vnd.openxmlformats-officedocument.presentationml.slideLayout+xml"/>
  <Override PartName="/ppt/slideMasters/slideMaster10.xml" ContentType="application/vnd.openxmlformats-officedocument.presentationml.slideMaster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Layouts/slideLayout5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4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775" r:id="rId2"/>
    <p:sldMasterId id="2147483732" r:id="rId3"/>
    <p:sldMasterId id="2147483727" r:id="rId4"/>
    <p:sldMasterId id="2147483737" r:id="rId5"/>
    <p:sldMasterId id="2147483742" r:id="rId6"/>
    <p:sldMasterId id="2147483747" r:id="rId7"/>
    <p:sldMasterId id="2147483678" r:id="rId8"/>
    <p:sldMasterId id="2147483757" r:id="rId9"/>
    <p:sldMasterId id="2147483762" r:id="rId10"/>
  </p:sldMasterIdLst>
  <p:notesMasterIdLst>
    <p:notesMasterId r:id="rId30"/>
  </p:notesMasterIdLst>
  <p:handoutMasterIdLst>
    <p:handoutMasterId r:id="rId31"/>
  </p:handoutMasterIdLst>
  <p:sldIdLst>
    <p:sldId id="256" r:id="rId11"/>
    <p:sldId id="259" r:id="rId12"/>
    <p:sldId id="272" r:id="rId13"/>
    <p:sldId id="273" r:id="rId14"/>
    <p:sldId id="274" r:id="rId15"/>
    <p:sldId id="271" r:id="rId16"/>
    <p:sldId id="258" r:id="rId17"/>
    <p:sldId id="257" r:id="rId18"/>
    <p:sldId id="263" r:id="rId19"/>
    <p:sldId id="262" r:id="rId20"/>
    <p:sldId id="261" r:id="rId21"/>
    <p:sldId id="276" r:id="rId22"/>
    <p:sldId id="277" r:id="rId23"/>
    <p:sldId id="278" r:id="rId24"/>
    <p:sldId id="270" r:id="rId25"/>
    <p:sldId id="268" r:id="rId26"/>
    <p:sldId id="267" r:id="rId27"/>
    <p:sldId id="265" r:id="rId28"/>
    <p:sldId id="275" r:id="rId29"/>
  </p:sldIdLst>
  <p:sldSz cx="9144000" cy="5143500" type="screen16x9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181"/>
    <a:srgbClr val="817A7D"/>
    <a:srgbClr val="999999"/>
    <a:srgbClr val="E5A2A3"/>
    <a:srgbClr val="BFCDB4"/>
    <a:srgbClr val="E1CDAD"/>
    <a:srgbClr val="E2B0A3"/>
    <a:srgbClr val="A5C6CB"/>
    <a:srgbClr val="9ED3CE"/>
    <a:srgbClr val="CDC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8" autoAdjust="0"/>
    <p:restoredTop sz="92987" autoAdjust="0"/>
  </p:normalViewPr>
  <p:slideViewPr>
    <p:cSldViewPr>
      <p:cViewPr>
        <p:scale>
          <a:sx n="100" d="100"/>
          <a:sy n="100" d="100"/>
        </p:scale>
        <p:origin x="-1291" y="-226"/>
      </p:cViewPr>
      <p:guideLst>
        <p:guide orient="horz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2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customXml" Target="../customXml/item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B841F-702C-4B40-8514-1912FE2C986C}" type="datetimeFigureOut">
              <a:rPr lang="en-GB" smtClean="0"/>
              <a:t>01/03/2023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8D9BE-8EC3-4497-94B4-7AA969EA9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696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DD29F-483B-417B-8995-B33B6E256D02}" type="datetimeFigureOut">
              <a:rPr lang="en-GB" smtClean="0"/>
              <a:t>01/03/2023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E81E-CC4F-4ABC-A4B2-871B8F63E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49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jpeg"/><Relationship Id="rId4" Type="http://schemas.openxmlformats.org/officeDocument/2006/relationships/image" Target="../media/image6.w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4065"/>
            <a:ext cx="1260000" cy="4783570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6" descr="G:\01_CMDG\08_PAO\01_PAO_CORPORATE-DESIGN\NATO Star\20150309_UC_NATO_Star_white_bg_transparent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40" t="6081" r="21698" b="-2337"/>
          <a:stretch/>
        </p:blipFill>
        <p:spPr bwMode="auto">
          <a:xfrm>
            <a:off x="7884000" y="2405406"/>
            <a:ext cx="1419326" cy="142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 userDrawn="1"/>
        </p:nvSpPr>
        <p:spPr>
          <a:xfrm>
            <a:off x="4345024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Academic Directorate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345024" y="2840019"/>
            <a:ext cx="3655976" cy="4572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Knowledge 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apability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hevron 16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NATO UNCLASSIFIED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99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3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NATO UNCLASSIFIED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6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98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1"/>
            <a:ext cx="6984864" cy="47394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6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301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1"/>
            <a:ext cx="6984864" cy="47394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pic>
        <p:nvPicPr>
          <p:cNvPr id="9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179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801203354"/>
              </p:ext>
            </p:extLst>
          </p:nvPr>
        </p:nvGraphicFramePr>
        <p:xfrm>
          <a:off x="3671888" y="1671638"/>
          <a:ext cx="18002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Bitmap Image" r:id="rId3" imgW="1800360" imgH="1800360" progId="Paint.Picture">
                  <p:embed/>
                </p:oleObj>
              </mc:Choice>
              <mc:Fallback>
                <p:oleObj name="Bitmap Image" r:id="rId3" imgW="1800360" imgH="1800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1888" y="1671638"/>
                        <a:ext cx="1800225" cy="180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pic>
        <p:nvPicPr>
          <p:cNvPr id="11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8" name="Chevron 7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692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4065"/>
            <a:ext cx="1260000" cy="4783570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6" descr="G:\01_CMDG\08_PAO\01_PAO_CORPORATE-DESIGN\NATO Star\20150309_UC_NATO_Star_white_bg_transparent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40" t="6081" r="21698" b="-2337"/>
          <a:stretch/>
        </p:blipFill>
        <p:spPr bwMode="auto">
          <a:xfrm>
            <a:off x="7884000" y="2405406"/>
            <a:ext cx="1419326" cy="142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 userDrawn="1"/>
        </p:nvSpPr>
        <p:spPr>
          <a:xfrm>
            <a:off x="4345024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Academic Directorate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345024" y="2840019"/>
            <a:ext cx="3655976" cy="4572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Knowledge 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apability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hevron 16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the NSO Website</a:t>
            </a:r>
            <a:endParaRPr lang="en-GB" sz="12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089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GB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65C39C9-8FC8-4E07-9AD4-4BF77C5BB1F6}" type="datetimeFigureOut">
              <a:rPr lang="en-GB"/>
              <a:pPr>
                <a:defRPr/>
              </a:pPr>
              <a:t>01/03/2023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D401E02C-F2D3-4636-9A8E-A2B7C45FB9E1}" type="slidenum">
              <a:rPr lang="en-GB" altLang="cs-CZ"/>
              <a:pPr>
                <a:defRPr/>
              </a:pPr>
              <a:t>‹#›</a:t>
            </a:fld>
            <a:endParaRPr lang="en-GB" altLang="cs-CZ"/>
          </a:p>
        </p:txBody>
      </p:sp>
    </p:spTree>
    <p:extLst>
      <p:ext uri="{BB962C8B-B14F-4D97-AF65-F5344CB8AC3E}">
        <p14:creationId xmlns:p14="http://schemas.microsoft.com/office/powerpoint/2010/main" val="285580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80" y="1544448"/>
            <a:ext cx="2340731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5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300"/>
            <a:ext cx="3657600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90" y="2435612"/>
            <a:ext cx="1260705" cy="1260941"/>
          </a:xfrm>
          <a:prstGeom prst="rtTriangle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Non Commissioned Officers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Department (NCOPD)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G:\01_CMDG\08_PAO\01_PAO_CORPORATE-DESIGN\Department Icons\NCOPD\20160531_NU_NCOP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27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996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589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6"/>
            <a:ext cx="6984864" cy="46009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92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047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evron 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83252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80" y="1544448"/>
            <a:ext cx="2340731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5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300"/>
            <a:ext cx="3657600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90" y="2435612"/>
            <a:ext cx="1260705" cy="1260941"/>
          </a:xfrm>
          <a:prstGeom prst="rtTriangle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Non Commissioned Officers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Department (NCOPD)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G:\01_CMDG\08_PAO\01_PAO_CORPORATE-DESIGN\Department Icons\NCOPD\20160531_NU_NCOP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27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3146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387"/>
            <a:ext cx="1260000" cy="4783570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Cooperative Security Department (COSEC)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G:\01_CMDG\08_PAO\01_PAO_CORPORATE-DESIGN\Department Icons\COSEC\20140715_NU_COSE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602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884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014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4231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114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387"/>
            <a:ext cx="1260000" cy="4783570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Cooperative Security Department (COSEC)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G:\01_CMDG\08_PAO\01_PAO_CORPORATE-DESIGN\Department Icons\COSEC\20140715_NU_COSE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1981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16016" y="2435720"/>
            <a:ext cx="4426524" cy="1258834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Distributed Learning Department (DL)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DL\20200525_NU_D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54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051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141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262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6776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539552" y="4731221"/>
            <a:ext cx="6193383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600" dirty="0" smtClean="0"/>
              <a:t>[insert additional info, e.g. classification of this slide]</a:t>
            </a:r>
            <a:endParaRPr lang="en-GB" sz="1600" dirty="0"/>
          </a:p>
        </p:txBody>
      </p:sp>
      <p:sp>
        <p:nvSpPr>
          <p:cNvPr id="6" name="Chevron 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2295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16016" y="2435720"/>
            <a:ext cx="4426524" cy="1258834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Distributed Learning Department (DL)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DL\20200525_NU_D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54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807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Hybrid, Influence &amp; Effects Department (HIED)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1" name="Picture 5" descr="G:\01_CMDG\08_PAO\01_PAO_CORPORATE-DESIGN\Department Icons\HIED\20161011_NU_HIE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27" y="2435811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5127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59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95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491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836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Hybrid,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Influence &amp; Effects Department (HIED)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1" name="Picture 5" descr="G:\01_CMDG\08_PAO\01_PAO_CORPORATE-DESIGN\Department Icons\HIED\20161011_NU_HIE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27" y="2435811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42227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Intelligence Department</a:t>
            </a:r>
            <a:b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(INTEL)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INTEL\20160531_NU_INTE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144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049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47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583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1936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Intelligence Department</a:t>
            </a:r>
            <a:b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(INTEL)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INTEL\20160531_NU_INTE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570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026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657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3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360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1798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3142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</a:t>
            </a:r>
            <a:r>
              <a:rPr lang="en-US" sz="1800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Targeting </a:t>
            </a:r>
            <a:r>
              <a:rPr lang="en-GB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Interoperability </a:t>
            </a:r>
            <a:r>
              <a:rPr lang="en-US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Curriculum (JTIC</a:t>
            </a:r>
            <a:r>
              <a:rPr lang="en-US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G:\01_CMDG\08_PAO\01_PAO_CORPORATE-DESIGN\Department Icons\JTIC\20160531_NU_JTI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706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23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143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3478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975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</a:t>
            </a:r>
            <a:r>
              <a:rPr lang="en-US" sz="1800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Targeting </a:t>
            </a:r>
            <a:r>
              <a:rPr lang="en-GB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Interoperability </a:t>
            </a:r>
            <a:r>
              <a:rPr lang="en-US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Curriculum (JTIC</a:t>
            </a:r>
            <a:r>
              <a:rPr lang="en-US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G:\01_CMDG\08_PAO\01_PAO_CORPORATE-DESIGN\Department Icons\JTIC\20160531_NU_JTI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16560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Protection Department (PROT)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 descr="G:\01_CMDG\08_PAO\01_PAO_CORPORATE-DESIGN\Department Icons\PROT\20160531_NU_PRO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849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6" name="Chevron 1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575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01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5498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5727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457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Protection Department (PROT)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 descr="G:\01_CMDG\08_PAO\01_PAO_CORPORATE-DESIGN\Department Icons\PROT\20160531_NU_PRO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849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hevron 1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785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Standards, Evaluation and Training Department (SET)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G:\01_CMDG\08_PAO\01_PAO_CORPORATE-DESIGN\Department Icons\SET\20170227_NU_SE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718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197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815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8961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049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Standards, Evaluation and Training Department (SET)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G:\01_CMDG\08_PAO\01_PAO_CORPORATE-DESIGN\Department Icons\SET\20170227_NU_SE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6362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4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40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46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52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58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8912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665" r:id="rId2"/>
    <p:sldLayoutId id="2147483774" r:id="rId3"/>
    <p:sldLayoutId id="2147483784" r:id="rId4"/>
    <p:sldLayoutId id="2147483771" r:id="rId5"/>
    <p:sldLayoutId id="2147483826" r:id="rId6"/>
    <p:sldLayoutId id="2147483835" r:id="rId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6263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8" r:id="rId2"/>
    <p:sldLayoutId id="2147483785" r:id="rId3"/>
    <p:sldLayoutId id="2147483795" r:id="rId4"/>
    <p:sldLayoutId id="2147483805" r:id="rId5"/>
    <p:sldLayoutId id="2147483825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9132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86" r:id="rId3"/>
    <p:sldLayoutId id="2147483796" r:id="rId4"/>
    <p:sldLayoutId id="2147483806" r:id="rId5"/>
    <p:sldLayoutId id="2147483827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384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0" r:id="rId2"/>
    <p:sldLayoutId id="2147483787" r:id="rId3"/>
    <p:sldLayoutId id="2147483797" r:id="rId4"/>
    <p:sldLayoutId id="2147483807" r:id="rId5"/>
    <p:sldLayoutId id="2147483828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73237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0" r:id="rId2"/>
    <p:sldLayoutId id="2147483788" r:id="rId3"/>
    <p:sldLayoutId id="2147483798" r:id="rId4"/>
    <p:sldLayoutId id="2147483808" r:id="rId5"/>
    <p:sldLayoutId id="2147483829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8327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5" r:id="rId2"/>
    <p:sldLayoutId id="2147483789" r:id="rId3"/>
    <p:sldLayoutId id="2147483799" r:id="rId4"/>
    <p:sldLayoutId id="2147483809" r:id="rId5"/>
    <p:sldLayoutId id="2147483830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3691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50" r:id="rId2"/>
    <p:sldLayoutId id="2147483790" r:id="rId3"/>
    <p:sldLayoutId id="2147483800" r:id="rId4"/>
    <p:sldLayoutId id="2147483810" r:id="rId5"/>
    <p:sldLayoutId id="2147483831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4770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91" r:id="rId3"/>
    <p:sldLayoutId id="2147483801" r:id="rId4"/>
    <p:sldLayoutId id="2147483811" r:id="rId5"/>
    <p:sldLayoutId id="2147483832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75460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0" r:id="rId2"/>
    <p:sldLayoutId id="2147483793" r:id="rId3"/>
    <p:sldLayoutId id="2147483803" r:id="rId4"/>
    <p:sldLayoutId id="2147483813" r:id="rId5"/>
    <p:sldLayoutId id="2147483833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737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5" r:id="rId2"/>
    <p:sldLayoutId id="2147483794" r:id="rId3"/>
    <p:sldLayoutId id="2147483804" r:id="rId4"/>
    <p:sldLayoutId id="2147483814" r:id="rId5"/>
    <p:sldLayoutId id="2147483834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79934" y="3834471"/>
            <a:ext cx="7512793" cy="609487"/>
          </a:xfrm>
        </p:spPr>
        <p:txBody>
          <a:bodyPr/>
          <a:lstStyle/>
          <a:p>
            <a:r>
              <a:rPr lang="en-US" dirty="0" smtClean="0"/>
              <a:t>NATO </a:t>
            </a:r>
            <a:r>
              <a:rPr lang="en-US" dirty="0"/>
              <a:t>Logistics Education and </a:t>
            </a:r>
            <a:r>
              <a:rPr lang="en-US" dirty="0" smtClean="0"/>
              <a:t>Training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0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Aim</a:t>
            </a:r>
          </a:p>
          <a:p>
            <a:r>
              <a:rPr lang="en-US" dirty="0" smtClean="0"/>
              <a:t>What do we have?</a:t>
            </a:r>
          </a:p>
          <a:p>
            <a:r>
              <a:rPr lang="en-US" dirty="0" smtClean="0"/>
              <a:t>Who?</a:t>
            </a:r>
          </a:p>
          <a:p>
            <a:r>
              <a:rPr lang="en-US" dirty="0" smtClean="0"/>
              <a:t>Process</a:t>
            </a:r>
          </a:p>
          <a:p>
            <a:r>
              <a:rPr lang="en-US" dirty="0" smtClean="0"/>
              <a:t>Challenges</a:t>
            </a:r>
          </a:p>
          <a:p>
            <a:r>
              <a:rPr lang="en-US" dirty="0" smtClean="0"/>
              <a:t>Way ahead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219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Aim of the briefing 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To give students a brief overview on the Education and Training within NATO and the respective R&amp;R of the different entities within the process.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28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What do we have?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800" dirty="0"/>
              <a:t>MC 458/3 (Final), NATO Education, Training, Exercises and Evaluation (ETEE) Policy, dated 03 Sep </a:t>
            </a:r>
            <a:r>
              <a:rPr lang="en-US" sz="1800" dirty="0" smtClean="0"/>
              <a:t>2014;</a:t>
            </a:r>
          </a:p>
          <a:p>
            <a:r>
              <a:rPr lang="en-US" sz="1800" dirty="0" smtClean="0"/>
              <a:t>Bi-SC </a:t>
            </a:r>
            <a:r>
              <a:rPr lang="en-US" sz="1800" dirty="0"/>
              <a:t>75-7, EDUCATION and INDIVIDUAL TRAINING DIRECTIVE (E&amp;ITD</a:t>
            </a:r>
            <a:r>
              <a:rPr lang="en-US" sz="1800" dirty="0" smtClean="0"/>
              <a:t>);</a:t>
            </a:r>
          </a:p>
          <a:p>
            <a:r>
              <a:rPr lang="en-US" sz="1800" dirty="0"/>
              <a:t>PO(2015)0099, NATO Logistics Strategic Training Plan, dated 17 Feb </a:t>
            </a:r>
            <a:r>
              <a:rPr lang="en-US" sz="1800" dirty="0" smtClean="0"/>
              <a:t>15;</a:t>
            </a:r>
          </a:p>
          <a:p>
            <a:r>
              <a:rPr lang="fr-FR" sz="1800" dirty="0"/>
              <a:t>NATO LOGISTICS DISCIPLINE ALIGNMENT PLAN </a:t>
            </a:r>
            <a:r>
              <a:rPr lang="fr-FR" sz="1800" dirty="0" smtClean="0"/>
              <a:t>2021;</a:t>
            </a:r>
          </a:p>
          <a:p>
            <a:r>
              <a:rPr lang="en-GB" sz="1800" dirty="0" smtClean="0"/>
              <a:t>MLCC Appointment </a:t>
            </a:r>
            <a:r>
              <a:rPr lang="en-GB" sz="1800" dirty="0"/>
              <a:t>as Department Head for Logistics, dated 04 Dec </a:t>
            </a:r>
            <a:r>
              <a:rPr lang="en-GB" sz="1800" dirty="0" smtClean="0"/>
              <a:t>15; </a:t>
            </a:r>
          </a:p>
          <a:p>
            <a:r>
              <a:rPr lang="en-GB" sz="1800" dirty="0" smtClean="0"/>
              <a:t>Logistics </a:t>
            </a:r>
            <a:r>
              <a:rPr lang="en-GB" sz="1800" dirty="0"/>
              <a:t>Training Requirements Analysis Final Report, dated 25 Nov </a:t>
            </a:r>
            <a:r>
              <a:rPr lang="en-GB" sz="1800" dirty="0" smtClean="0"/>
              <a:t>15.</a:t>
            </a:r>
            <a:endParaRPr lang="fr-FR" sz="1800" dirty="0" smtClean="0"/>
          </a:p>
          <a:p>
            <a:endParaRPr lang="fr-FR" sz="1800" dirty="0" smtClean="0"/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99372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Who?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 smtClean="0"/>
              <a:t>Requirement Authority 			SHAPE</a:t>
            </a:r>
          </a:p>
          <a:p>
            <a:r>
              <a:rPr lang="en-US" sz="2000" dirty="0" smtClean="0"/>
              <a:t>Department Head				Mr Roman </a:t>
            </a:r>
            <a:r>
              <a:rPr lang="en-US" sz="2000" dirty="0" err="1" smtClean="0"/>
              <a:t>Dufek</a:t>
            </a:r>
            <a:r>
              <a:rPr lang="en-US" sz="2000" dirty="0" smtClean="0"/>
              <a:t> (MLCC)</a:t>
            </a:r>
          </a:p>
          <a:p>
            <a:r>
              <a:rPr lang="en-US" sz="2000" dirty="0" smtClean="0"/>
              <a:t>JFD/Management </a:t>
            </a:r>
            <a:r>
              <a:rPr lang="en-US" sz="2000" dirty="0" smtClean="0"/>
              <a:t>and Evaluation		ACT</a:t>
            </a:r>
          </a:p>
          <a:p>
            <a:r>
              <a:rPr lang="en-US" sz="2000" dirty="0" smtClean="0"/>
              <a:t>OPRs					????</a:t>
            </a:r>
          </a:p>
          <a:p>
            <a:r>
              <a:rPr lang="en-US" sz="2000" dirty="0" smtClean="0"/>
              <a:t>EFTs					NSO/NCI Academy 							/MLCC/JCTC/JLEC….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1307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2400" dirty="0"/>
              <a:t>NATO </a:t>
            </a:r>
            <a:r>
              <a:rPr lang="en-GB" sz="2400" dirty="0" smtClean="0"/>
              <a:t>Training and Education Landscape</a:t>
            </a:r>
            <a:endParaRPr lang="en-GB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15" r="2375" b="6444"/>
          <a:stretch/>
        </p:blipFill>
        <p:spPr bwMode="auto">
          <a:xfrm>
            <a:off x="107504" y="864722"/>
            <a:ext cx="8496944" cy="365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60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altLang="cs-CZ" dirty="0"/>
              <a:t>Management process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699542"/>
            <a:ext cx="6192688" cy="4046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5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NATO</a:t>
            </a:r>
            <a:r>
              <a:rPr lang="en-US" dirty="0" smtClean="0"/>
              <a:t> Logistics Training and Education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251842" y="699542"/>
            <a:ext cx="8568630" cy="3960440"/>
          </a:xfrm>
        </p:spPr>
        <p:txBody>
          <a:bodyPr/>
          <a:lstStyle/>
          <a:p>
            <a:pPr marL="685800" indent="-685800">
              <a:lnSpc>
                <a:spcPct val="80000"/>
              </a:lnSpc>
              <a:spcBef>
                <a:spcPts val="1200"/>
              </a:spcBef>
              <a:spcAft>
                <a:spcPts val="1800"/>
              </a:spcAft>
              <a:buFont typeface="Calibri" pitchFamily="34" charset="0"/>
              <a:buNone/>
              <a:defRPr/>
            </a:pPr>
            <a:r>
              <a:rPr lang="en-GB" altLang="en-US" sz="1600" dirty="0"/>
              <a:t>DH, under HQ SACT JF</a:t>
            </a:r>
            <a:r>
              <a:rPr lang="cs-CZ" altLang="en-US" sz="1600" dirty="0"/>
              <a:t>D</a:t>
            </a:r>
            <a:r>
              <a:rPr lang="en-GB" altLang="en-US" sz="1600" dirty="0"/>
              <a:t> guidance: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1800"/>
              </a:spcAft>
              <a:defRPr/>
            </a:pPr>
            <a:r>
              <a:rPr lang="en-GB" altLang="en-US" sz="1600" dirty="0"/>
              <a:t>Translates the operational requirements into education and training programmes within the discipline framework 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1800"/>
              </a:spcAft>
              <a:defRPr/>
            </a:pPr>
            <a:r>
              <a:rPr lang="en-GB" altLang="en-US" sz="1600" dirty="0"/>
              <a:t>Leads the Training Needs Analyses, supported by HQ </a:t>
            </a:r>
            <a:r>
              <a:rPr lang="en-GB" altLang="en-US" sz="1600" dirty="0" smtClean="0"/>
              <a:t>SACT JF</a:t>
            </a:r>
            <a:r>
              <a:rPr lang="cs-CZ" altLang="en-US" sz="1600" dirty="0" smtClean="0"/>
              <a:t>D</a:t>
            </a:r>
            <a:r>
              <a:rPr lang="en-GB" altLang="en-US" sz="1600" dirty="0" smtClean="0"/>
              <a:t> </a:t>
            </a:r>
            <a:r>
              <a:rPr lang="en-GB" altLang="en-US" sz="1600" dirty="0"/>
              <a:t>and the RA (Requirement Authority);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1800"/>
              </a:spcAft>
              <a:defRPr/>
            </a:pPr>
            <a:r>
              <a:rPr lang="en-GB" altLang="en-US" sz="1600" dirty="0"/>
              <a:t>Recommend changes to the RA (and if necessary to JF</a:t>
            </a:r>
            <a:r>
              <a:rPr lang="cs-CZ" altLang="en-US" sz="1600" dirty="0"/>
              <a:t>D</a:t>
            </a:r>
            <a:r>
              <a:rPr lang="en-GB" altLang="en-US" sz="1600" dirty="0"/>
              <a:t>);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1800"/>
              </a:spcAft>
              <a:defRPr/>
            </a:pPr>
            <a:r>
              <a:rPr lang="en-GB" altLang="en-US" sz="1600" dirty="0"/>
              <a:t>Conduct and leads the Annual Discipline Conference (ADC)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1800"/>
              </a:spcAft>
              <a:defRPr/>
            </a:pPr>
            <a:r>
              <a:rPr lang="en-GB" altLang="en-US" sz="1600" dirty="0"/>
              <a:t>Participate in the Production Planning Process and working groups when appropriate (Planning Boards and the Training Synchronization Conference) to align requirements with programmed education and training solutions.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0217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Addressing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555526"/>
            <a:ext cx="6398462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27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Essential (mandatory) courses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856662" cy="3780000"/>
          </a:xfrm>
        </p:spPr>
        <p:txBody>
          <a:bodyPr/>
          <a:lstStyle/>
          <a:p>
            <a:r>
              <a:rPr lang="en-GB" sz="1800" dirty="0"/>
              <a:t>For all NATO LOG positions:</a:t>
            </a:r>
          </a:p>
          <a:p>
            <a:r>
              <a:rPr lang="en-GB" sz="1800" dirty="0"/>
              <a:t>NLIC – NATO Logistics Introductory Course 	</a:t>
            </a:r>
            <a:r>
              <a:rPr lang="en-GB" sz="1800" dirty="0" smtClean="0"/>
              <a:t>NSO</a:t>
            </a:r>
            <a:r>
              <a:rPr lang="en-GB" sz="1800" dirty="0"/>
              <a:t>, MLCC, FINCENT</a:t>
            </a:r>
          </a:p>
          <a:p>
            <a:r>
              <a:rPr lang="en-GB" sz="1800" dirty="0"/>
              <a:t>NLOC - NATO Logistics Operational Course 	</a:t>
            </a:r>
            <a:r>
              <a:rPr lang="en-GB" sz="1800" dirty="0" smtClean="0"/>
              <a:t>NSO</a:t>
            </a:r>
            <a:r>
              <a:rPr lang="en-GB" sz="1800" dirty="0"/>
              <a:t>, MLCC</a:t>
            </a:r>
          </a:p>
          <a:p>
            <a:endParaRPr lang="en-GB" sz="1800" dirty="0" smtClean="0"/>
          </a:p>
          <a:p>
            <a:r>
              <a:rPr lang="en-GB" sz="1800" dirty="0" smtClean="0"/>
              <a:t>Specialized </a:t>
            </a:r>
            <a:r>
              <a:rPr lang="en-GB" sz="1800" dirty="0"/>
              <a:t>courses for SMEs:</a:t>
            </a:r>
          </a:p>
          <a:p>
            <a:r>
              <a:rPr lang="en-GB" sz="1800" dirty="0" smtClean="0"/>
              <a:t>NATO </a:t>
            </a:r>
            <a:r>
              <a:rPr lang="en-GB" sz="1800" dirty="0"/>
              <a:t>Logistics Operational Planning </a:t>
            </a:r>
            <a:r>
              <a:rPr lang="en-GB" sz="1800" dirty="0" smtClean="0"/>
              <a:t>course	NSO</a:t>
            </a:r>
            <a:endParaRPr lang="en-GB" sz="1800" dirty="0"/>
          </a:p>
          <a:p>
            <a:r>
              <a:rPr lang="en-GB" sz="1800" dirty="0" smtClean="0"/>
              <a:t>NATO Host </a:t>
            </a:r>
            <a:r>
              <a:rPr lang="en-GB" sz="1800" dirty="0"/>
              <a:t>Nation Support </a:t>
            </a:r>
            <a:r>
              <a:rPr lang="en-GB" sz="1800" dirty="0" smtClean="0"/>
              <a:t>course		NSO</a:t>
            </a:r>
            <a:endParaRPr lang="en-GB" sz="1800" dirty="0"/>
          </a:p>
          <a:p>
            <a:r>
              <a:rPr lang="en-GB" sz="1800" dirty="0" smtClean="0"/>
              <a:t>NATO </a:t>
            </a:r>
            <a:r>
              <a:rPr lang="en-GB" sz="1800" dirty="0"/>
              <a:t>Movement &amp;Transportation Course </a:t>
            </a:r>
            <a:r>
              <a:rPr lang="en-GB" sz="1800" dirty="0" smtClean="0"/>
              <a:t>	NSO</a:t>
            </a:r>
            <a:endParaRPr lang="en-GB" sz="1800" dirty="0"/>
          </a:p>
          <a:p>
            <a:r>
              <a:rPr lang="en-GB" sz="1800" dirty="0" smtClean="0"/>
              <a:t>NATO </a:t>
            </a:r>
            <a:r>
              <a:rPr lang="en-GB" sz="1800" dirty="0"/>
              <a:t>Petroleum Strategic course </a:t>
            </a:r>
            <a:r>
              <a:rPr lang="en-GB" sz="1800" dirty="0" smtClean="0"/>
              <a:t>		NSO</a:t>
            </a:r>
            <a:endParaRPr lang="en-GB" sz="1800" dirty="0"/>
          </a:p>
          <a:p>
            <a:r>
              <a:rPr lang="en-GB" sz="1800" dirty="0" smtClean="0"/>
              <a:t>LOGFAS </a:t>
            </a:r>
            <a:r>
              <a:rPr lang="en-GB" sz="1800" dirty="0"/>
              <a:t>courses </a:t>
            </a:r>
            <a:r>
              <a:rPr lang="en-GB" sz="1800" dirty="0" smtClean="0"/>
              <a:t>				NCI Academy, MLCC</a:t>
            </a:r>
            <a:r>
              <a:rPr lang="en-GB" sz="1800" dirty="0"/>
              <a:t>, JLEC, </a:t>
            </a:r>
            <a:r>
              <a:rPr lang="en-GB" sz="1800" dirty="0" smtClean="0"/>
              <a:t>						JCTC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5095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Desired (complementary) courses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1800" dirty="0"/>
              <a:t>JLSG HQ Orientation courses </a:t>
            </a:r>
            <a:r>
              <a:rPr lang="en-GB" sz="1800" dirty="0" smtClean="0"/>
              <a:t>			MLCC</a:t>
            </a:r>
            <a:r>
              <a:rPr lang="en-GB" sz="1800" dirty="0"/>
              <a:t>, </a:t>
            </a:r>
            <a:r>
              <a:rPr lang="en-GB" sz="1800" dirty="0" smtClean="0"/>
              <a:t>JCTC</a:t>
            </a:r>
          </a:p>
          <a:p>
            <a:endParaRPr lang="en-GB" sz="1800" dirty="0"/>
          </a:p>
          <a:p>
            <a:r>
              <a:rPr lang="en-GB" sz="1800" dirty="0"/>
              <a:t>RSOM - Orientation course </a:t>
            </a:r>
            <a:r>
              <a:rPr lang="en-GB" sz="1800" dirty="0" smtClean="0"/>
              <a:t>			MLCC </a:t>
            </a:r>
            <a:r>
              <a:rPr lang="en-GB" sz="1800" dirty="0"/>
              <a:t>(+JLEC</a:t>
            </a:r>
            <a:r>
              <a:rPr lang="en-GB" sz="1800" dirty="0" smtClean="0"/>
              <a:t>)</a:t>
            </a:r>
            <a:endParaRPr lang="en-GB" sz="1800" dirty="0"/>
          </a:p>
          <a:p>
            <a:r>
              <a:rPr lang="en-GB" sz="1800" dirty="0"/>
              <a:t>RSOM - Advanced </a:t>
            </a:r>
            <a:r>
              <a:rPr lang="en-GB" sz="1800" dirty="0" smtClean="0"/>
              <a:t>course			MLCC </a:t>
            </a:r>
            <a:r>
              <a:rPr lang="en-GB" sz="1800" dirty="0"/>
              <a:t>(+JLEC</a:t>
            </a:r>
            <a:r>
              <a:rPr lang="en-GB" sz="1800" dirty="0" smtClean="0"/>
              <a:t>)</a:t>
            </a:r>
          </a:p>
          <a:p>
            <a:pPr marL="0" indent="0">
              <a:buNone/>
            </a:pPr>
            <a:endParaRPr lang="en-GB" sz="1800" dirty="0" smtClean="0"/>
          </a:p>
          <a:p>
            <a:r>
              <a:rPr lang="en-GB" sz="1800" dirty="0" smtClean="0"/>
              <a:t>Other </a:t>
            </a:r>
            <a:r>
              <a:rPr lang="en-GB" sz="1800" dirty="0"/>
              <a:t>courses:</a:t>
            </a:r>
          </a:p>
          <a:p>
            <a:r>
              <a:rPr lang="en-GB" sz="1800" dirty="0"/>
              <a:t>Logistics Staff Orientation </a:t>
            </a:r>
            <a:r>
              <a:rPr lang="en-GB" sz="1800" dirty="0" smtClean="0"/>
              <a:t>Course		TUR </a:t>
            </a:r>
            <a:r>
              <a:rPr lang="en-GB" sz="1800" dirty="0"/>
              <a:t>PTEC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60753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835696" y="267494"/>
            <a:ext cx="6984864" cy="460094"/>
          </a:xfrm>
        </p:spPr>
        <p:txBody>
          <a:bodyPr/>
          <a:lstStyle/>
          <a:p>
            <a:r>
              <a:rPr lang="en-US" dirty="0" smtClean="0"/>
              <a:t>Proficiency development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8" t="23167" r="22187" b="15944"/>
          <a:stretch/>
        </p:blipFill>
        <p:spPr bwMode="auto">
          <a:xfrm>
            <a:off x="1331640" y="915566"/>
            <a:ext cx="6557938" cy="384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414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2023 log training path </a:t>
            </a:r>
            <a:r>
              <a:rPr lang="en-US" dirty="0" smtClean="0"/>
              <a:t>development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2" t="31667" r="25000" b="4444"/>
          <a:stretch/>
        </p:blipFill>
        <p:spPr bwMode="auto">
          <a:xfrm>
            <a:off x="1979712" y="987574"/>
            <a:ext cx="5628908" cy="3715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6187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LOGFAS Training Path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13" t="22555" r="22500" b="12111"/>
          <a:stretch/>
        </p:blipFill>
        <p:spPr bwMode="auto">
          <a:xfrm>
            <a:off x="1187624" y="721308"/>
            <a:ext cx="6408712" cy="4082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0406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délník 55"/>
          <p:cNvSpPr/>
          <p:nvPr/>
        </p:nvSpPr>
        <p:spPr>
          <a:xfrm>
            <a:off x="1" y="483394"/>
            <a:ext cx="3419475" cy="570310"/>
          </a:xfrm>
          <a:prstGeom prst="rect">
            <a:avLst/>
          </a:prstGeom>
          <a:solidFill>
            <a:srgbClr val="FF0000"/>
          </a:solidFill>
          <a:ln w="25400" cap="flat" cmpd="sng" algn="ctr">
            <a:solidFill>
              <a:srgbClr val="00B05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cs-CZ" kern="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21507" name="Pravoúhlá spojnice 204"/>
          <p:cNvCxnSpPr>
            <a:cxnSpLocks/>
            <a:stCxn id="65" idx="3"/>
            <a:endCxn id="204" idx="1"/>
          </p:cNvCxnSpPr>
          <p:nvPr/>
        </p:nvCxnSpPr>
        <p:spPr bwMode="auto">
          <a:xfrm>
            <a:off x="1547814" y="760810"/>
            <a:ext cx="268287" cy="502444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rgbClr val="0070C0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Přímá spojnice 59"/>
          <p:cNvCxnSpPr>
            <a:cxnSpLocks/>
          </p:cNvCxnSpPr>
          <p:nvPr/>
        </p:nvCxnSpPr>
        <p:spPr>
          <a:xfrm>
            <a:off x="7451725" y="51198"/>
            <a:ext cx="0" cy="5041106"/>
          </a:xfrm>
          <a:prstGeom prst="line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Přímá spojnice 58"/>
          <p:cNvCxnSpPr>
            <a:cxnSpLocks/>
          </p:cNvCxnSpPr>
          <p:nvPr/>
        </p:nvCxnSpPr>
        <p:spPr>
          <a:xfrm>
            <a:off x="3525838" y="51198"/>
            <a:ext cx="0" cy="5041106"/>
          </a:xfrm>
          <a:prstGeom prst="line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římá spojnice 137"/>
          <p:cNvCxnSpPr/>
          <p:nvPr/>
        </p:nvCxnSpPr>
        <p:spPr>
          <a:xfrm>
            <a:off x="1619250" y="123826"/>
            <a:ext cx="0" cy="2080022"/>
          </a:xfrm>
          <a:prstGeom prst="line">
            <a:avLst/>
          </a:prstGeom>
          <a:ln w="254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aoblený obdélník 3"/>
          <p:cNvSpPr/>
          <p:nvPr/>
        </p:nvSpPr>
        <p:spPr>
          <a:xfrm>
            <a:off x="3708400" y="3170635"/>
            <a:ext cx="3600450" cy="336947"/>
          </a:xfrm>
          <a:prstGeom prst="roundRect">
            <a:avLst/>
          </a:prstGeom>
          <a:solidFill>
            <a:srgbClr val="01FF7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solidFill>
                  <a:prstClr val="black"/>
                </a:solidFill>
              </a:rPr>
              <a:t>LOGFAS Strategic Deployment Planning Courses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00" b="1" dirty="0">
                <a:solidFill>
                  <a:prstClr val="black"/>
                </a:solidFill>
              </a:rPr>
              <a:t>(ADAMS Operator)</a:t>
            </a:r>
          </a:p>
        </p:txBody>
      </p:sp>
      <p:sp>
        <p:nvSpPr>
          <p:cNvPr id="5" name="Zaoblený obdélník 4"/>
          <p:cNvSpPr/>
          <p:nvPr/>
        </p:nvSpPr>
        <p:spPr>
          <a:xfrm>
            <a:off x="3708400" y="4600575"/>
            <a:ext cx="1835150" cy="491729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solidFill>
                  <a:prstClr val="black"/>
                </a:solidFill>
              </a:rPr>
              <a:t>LOGFAS Sustainment Planning and Distribution Course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00" b="1" dirty="0">
                <a:solidFill>
                  <a:prstClr val="black"/>
                </a:solidFill>
              </a:rPr>
              <a:t>(SPM/SDM Operator)</a:t>
            </a:r>
          </a:p>
        </p:txBody>
      </p:sp>
      <p:sp>
        <p:nvSpPr>
          <p:cNvPr id="6" name="Zaoblený obdélník 5"/>
          <p:cNvSpPr/>
          <p:nvPr/>
        </p:nvSpPr>
        <p:spPr>
          <a:xfrm>
            <a:off x="3708400" y="3550444"/>
            <a:ext cx="1835150" cy="482204"/>
          </a:xfrm>
          <a:prstGeom prst="roundRect">
            <a:avLst/>
          </a:prstGeom>
          <a:solidFill>
            <a:srgbClr val="01FF7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solidFill>
                  <a:prstClr val="black"/>
                </a:solidFill>
              </a:rPr>
              <a:t>LOGFAS Operational Movement Planning Course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00" b="1" dirty="0">
                <a:solidFill>
                  <a:prstClr val="black"/>
                </a:solidFill>
              </a:rPr>
              <a:t>(CORSOM Operator)</a:t>
            </a:r>
          </a:p>
        </p:txBody>
      </p:sp>
      <p:cxnSp>
        <p:nvCxnSpPr>
          <p:cNvPr id="7" name="Pravoúhlá spojnice 6"/>
          <p:cNvCxnSpPr>
            <a:cxnSpLocks/>
            <a:stCxn id="23" idx="3"/>
            <a:endCxn id="4" idx="1"/>
          </p:cNvCxnSpPr>
          <p:nvPr/>
        </p:nvCxnSpPr>
        <p:spPr>
          <a:xfrm>
            <a:off x="3348038" y="3338512"/>
            <a:ext cx="360362" cy="0"/>
          </a:xfrm>
          <a:prstGeom prst="bentConnector3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aoblený obdélník 7"/>
          <p:cNvSpPr/>
          <p:nvPr/>
        </p:nvSpPr>
        <p:spPr>
          <a:xfrm>
            <a:off x="3708400" y="2759869"/>
            <a:ext cx="3600450" cy="359569"/>
          </a:xfrm>
          <a:prstGeom prst="roundRect">
            <a:avLst/>
          </a:prstGeom>
          <a:solidFill>
            <a:srgbClr val="F1A7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00" b="1" dirty="0">
                <a:solidFill>
                  <a:prstClr val="black"/>
                </a:solidFill>
              </a:rPr>
              <a:t>LOGFAS Information Management Course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00" b="1" dirty="0">
                <a:solidFill>
                  <a:prstClr val="black"/>
                </a:solidFill>
              </a:rPr>
              <a:t>(LOGFAS Staff Officer)</a:t>
            </a:r>
          </a:p>
        </p:txBody>
      </p:sp>
      <p:sp>
        <p:nvSpPr>
          <p:cNvPr id="12" name="Zaoblený obdélník 11"/>
          <p:cNvSpPr/>
          <p:nvPr/>
        </p:nvSpPr>
        <p:spPr>
          <a:xfrm>
            <a:off x="7488239" y="3113485"/>
            <a:ext cx="1620837" cy="466725"/>
          </a:xfrm>
          <a:prstGeom prst="roundRect">
            <a:avLst/>
          </a:prstGeom>
          <a:solidFill>
            <a:srgbClr val="F1A7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solidFill>
                  <a:prstClr val="black"/>
                </a:solidFill>
              </a:rPr>
              <a:t>LOGFAS Strategic Deployment Planning Courses</a:t>
            </a:r>
            <a:r>
              <a:rPr lang="cs-CZ" sz="1000" b="1" dirty="0">
                <a:solidFill>
                  <a:prstClr val="black"/>
                </a:solidFill>
              </a:rPr>
              <a:t> </a:t>
            </a:r>
            <a:r>
              <a:rPr lang="en-GB" sz="1000" b="1" dirty="0">
                <a:solidFill>
                  <a:prstClr val="black"/>
                </a:solidFill>
              </a:rPr>
              <a:t>Advanced</a:t>
            </a:r>
          </a:p>
        </p:txBody>
      </p:sp>
      <p:cxnSp>
        <p:nvCxnSpPr>
          <p:cNvPr id="13" name="Přímá spojnice se šipkou 12"/>
          <p:cNvCxnSpPr>
            <a:cxnSpLocks/>
            <a:stCxn id="4" idx="3"/>
            <a:endCxn id="12" idx="1"/>
          </p:cNvCxnSpPr>
          <p:nvPr/>
        </p:nvCxnSpPr>
        <p:spPr>
          <a:xfrm>
            <a:off x="7308850" y="3338513"/>
            <a:ext cx="179388" cy="83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aoblený obdélník 13"/>
          <p:cNvSpPr/>
          <p:nvPr/>
        </p:nvSpPr>
        <p:spPr>
          <a:xfrm>
            <a:off x="3708400" y="4083844"/>
            <a:ext cx="1835150" cy="467916"/>
          </a:xfrm>
          <a:prstGeom prst="roundRect">
            <a:avLst/>
          </a:prstGeom>
          <a:solidFill>
            <a:srgbClr val="01FF7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solidFill>
                  <a:prstClr val="black"/>
                </a:solidFill>
              </a:rPr>
              <a:t>LOGFAS Movement Execution and Coordination Course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00" b="1" dirty="0">
                <a:solidFill>
                  <a:prstClr val="black"/>
                </a:solidFill>
              </a:rPr>
              <a:t>(EVE Operator)</a:t>
            </a:r>
          </a:p>
        </p:txBody>
      </p:sp>
      <p:cxnSp>
        <p:nvCxnSpPr>
          <p:cNvPr id="16" name="Pravoúhlá spojnice 15"/>
          <p:cNvCxnSpPr>
            <a:cxnSpLocks/>
            <a:stCxn id="23" idx="3"/>
            <a:endCxn id="14" idx="1"/>
          </p:cNvCxnSpPr>
          <p:nvPr/>
        </p:nvCxnSpPr>
        <p:spPr>
          <a:xfrm>
            <a:off x="3348038" y="3338513"/>
            <a:ext cx="360362" cy="97988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ravoúhlá spojnice 16"/>
          <p:cNvCxnSpPr>
            <a:cxnSpLocks/>
            <a:stCxn id="23" idx="3"/>
            <a:endCxn id="6" idx="1"/>
          </p:cNvCxnSpPr>
          <p:nvPr/>
        </p:nvCxnSpPr>
        <p:spPr>
          <a:xfrm>
            <a:off x="3348038" y="3338512"/>
            <a:ext cx="360362" cy="45362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aoblený obdélník 22"/>
          <p:cNvSpPr/>
          <p:nvPr/>
        </p:nvSpPr>
        <p:spPr>
          <a:xfrm>
            <a:off x="468314" y="3157538"/>
            <a:ext cx="2879725" cy="36076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00" b="1" dirty="0">
                <a:solidFill>
                  <a:prstClr val="black"/>
                </a:solidFill>
              </a:rPr>
              <a:t>LOGFAS Fundamentals and </a:t>
            </a:r>
            <a:r>
              <a:rPr lang="cs-CZ" sz="1000" b="1" dirty="0">
                <a:solidFill>
                  <a:prstClr val="black"/>
                </a:solidFill>
              </a:rPr>
              <a:t>Basic </a:t>
            </a:r>
            <a:r>
              <a:rPr lang="en-GB" sz="1000" b="1" dirty="0">
                <a:solidFill>
                  <a:prstClr val="black"/>
                </a:solidFill>
              </a:rPr>
              <a:t>Data Operator course</a:t>
            </a:r>
          </a:p>
        </p:txBody>
      </p:sp>
      <p:cxnSp>
        <p:nvCxnSpPr>
          <p:cNvPr id="25" name="Pravoúhlá spojnice 24"/>
          <p:cNvCxnSpPr>
            <a:cxnSpLocks/>
            <a:stCxn id="23" idx="3"/>
            <a:endCxn id="5" idx="1"/>
          </p:cNvCxnSpPr>
          <p:nvPr/>
        </p:nvCxnSpPr>
        <p:spPr>
          <a:xfrm>
            <a:off x="3348038" y="3338513"/>
            <a:ext cx="360362" cy="150733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aoblený obdélník 26"/>
          <p:cNvSpPr/>
          <p:nvPr/>
        </p:nvSpPr>
        <p:spPr>
          <a:xfrm>
            <a:off x="7488239" y="4012407"/>
            <a:ext cx="1620837" cy="602456"/>
          </a:xfrm>
          <a:prstGeom prst="roundRect">
            <a:avLst/>
          </a:prstGeom>
          <a:solidFill>
            <a:srgbClr val="F1A7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solidFill>
                  <a:prstClr val="black"/>
                </a:solidFill>
              </a:rPr>
              <a:t>LOGFAS Movement Execution and Coordination Manager Course</a:t>
            </a:r>
            <a:endParaRPr lang="en-GB" sz="1000" b="1" dirty="0">
              <a:solidFill>
                <a:prstClr val="black"/>
              </a:solidFill>
            </a:endParaRPr>
          </a:p>
        </p:txBody>
      </p:sp>
      <p:sp>
        <p:nvSpPr>
          <p:cNvPr id="21524" name="TextovéPole 43008"/>
          <p:cNvSpPr txBox="1">
            <a:spLocks noChangeArrowheads="1"/>
          </p:cNvSpPr>
          <p:nvPr/>
        </p:nvSpPr>
        <p:spPr bwMode="auto">
          <a:xfrm>
            <a:off x="1725613" y="-9525"/>
            <a:ext cx="16938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cs-CZ" sz="1200" b="1">
                <a:solidFill>
                  <a:srgbClr val="000000"/>
                </a:solidFill>
                <a:latin typeface="Arial" charset="0"/>
              </a:rPr>
              <a:t>Intermediate - </a:t>
            </a:r>
            <a:r>
              <a:rPr lang="cs-CZ" altLang="cs-CZ" sz="1200" b="1">
                <a:solidFill>
                  <a:srgbClr val="000000"/>
                </a:solidFill>
                <a:latin typeface="Arial" charset="0"/>
              </a:rPr>
              <a:t>200</a:t>
            </a:r>
            <a:endParaRPr lang="en-GB" altLang="cs-CZ" sz="12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525" name="TextovéPole 43008"/>
          <p:cNvSpPr txBox="1">
            <a:spLocks noChangeArrowheads="1"/>
          </p:cNvSpPr>
          <p:nvPr/>
        </p:nvSpPr>
        <p:spPr bwMode="auto">
          <a:xfrm>
            <a:off x="4140200" y="-11906"/>
            <a:ext cx="2268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cs-CZ" sz="1200" b="1">
                <a:solidFill>
                  <a:srgbClr val="000000"/>
                </a:solidFill>
                <a:latin typeface="Arial" charset="0"/>
              </a:rPr>
              <a:t>Advanced</a:t>
            </a:r>
            <a:r>
              <a:rPr lang="cs-CZ" altLang="cs-CZ" sz="1200" b="1">
                <a:solidFill>
                  <a:srgbClr val="000000"/>
                </a:solidFill>
                <a:latin typeface="Arial" charset="0"/>
              </a:rPr>
              <a:t> - 300</a:t>
            </a:r>
            <a:endParaRPr lang="en-GB" altLang="cs-CZ" sz="12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526" name="TextovéPole 43008"/>
          <p:cNvSpPr txBox="1">
            <a:spLocks noChangeArrowheads="1"/>
          </p:cNvSpPr>
          <p:nvPr/>
        </p:nvSpPr>
        <p:spPr bwMode="auto">
          <a:xfrm>
            <a:off x="7524750" y="-11906"/>
            <a:ext cx="15494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cs-CZ" sz="1200" b="1">
                <a:solidFill>
                  <a:srgbClr val="000000"/>
                </a:solidFill>
                <a:latin typeface="Arial" charset="0"/>
              </a:rPr>
              <a:t>Expert</a:t>
            </a:r>
            <a:r>
              <a:rPr lang="cs-CZ" altLang="cs-CZ" sz="1200" b="1">
                <a:solidFill>
                  <a:srgbClr val="000000"/>
                </a:solidFill>
                <a:latin typeface="Arial" charset="0"/>
              </a:rPr>
              <a:t> - 400</a:t>
            </a:r>
            <a:endParaRPr lang="en-GB" altLang="cs-CZ" sz="1200" b="1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30" name="Přímá spojnice se šipkou 12"/>
          <p:cNvCxnSpPr>
            <a:cxnSpLocks/>
            <a:stCxn id="14" idx="3"/>
            <a:endCxn id="29" idx="1"/>
          </p:cNvCxnSpPr>
          <p:nvPr/>
        </p:nvCxnSpPr>
        <p:spPr>
          <a:xfrm flipV="1">
            <a:off x="5543550" y="4313635"/>
            <a:ext cx="1944688" cy="476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bdélník 56"/>
          <p:cNvSpPr/>
          <p:nvPr/>
        </p:nvSpPr>
        <p:spPr>
          <a:xfrm>
            <a:off x="3725863" y="230981"/>
            <a:ext cx="3598862" cy="252413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0099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kern="0">
                <a:solidFill>
                  <a:prstClr val="black"/>
                </a:solidFill>
                <a:latin typeface="Calibri"/>
                <a:cs typeface="Arial" pitchFamily="34" charset="0"/>
              </a:rPr>
              <a:t>NATO Logistics Operational Planing Course (NLOPC)</a:t>
            </a:r>
          </a:p>
        </p:txBody>
      </p:sp>
      <p:sp>
        <p:nvSpPr>
          <p:cNvPr id="58" name="Obdélník 57"/>
          <p:cNvSpPr/>
          <p:nvPr/>
        </p:nvSpPr>
        <p:spPr>
          <a:xfrm>
            <a:off x="3733800" y="591742"/>
            <a:ext cx="1835150" cy="467915"/>
          </a:xfrm>
          <a:prstGeom prst="rect">
            <a:avLst/>
          </a:prstGeom>
          <a:solidFill>
            <a:srgbClr val="01FF74"/>
          </a:solidFill>
          <a:ln w="25400" cap="flat" cmpd="sng" algn="ctr">
            <a:solidFill>
              <a:srgbClr val="0D3AE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kern="0" dirty="0">
                <a:solidFill>
                  <a:prstClr val="black"/>
                </a:solidFill>
                <a:latin typeface="Calibri"/>
                <a:cs typeface="Arial"/>
              </a:rPr>
              <a:t>NATO Movement </a:t>
            </a:r>
            <a:r>
              <a:rPr lang="cs-CZ" sz="1000" b="1" kern="0" dirty="0">
                <a:solidFill>
                  <a:prstClr val="black"/>
                </a:solidFill>
                <a:latin typeface="Calibri"/>
                <a:cs typeface="Arial"/>
              </a:rPr>
              <a:t>and </a:t>
            </a:r>
            <a:r>
              <a:rPr lang="en-GB" sz="1000" b="1" kern="0" dirty="0">
                <a:solidFill>
                  <a:prstClr val="black"/>
                </a:solidFill>
                <a:latin typeface="Calibri"/>
                <a:cs typeface="Arial"/>
              </a:rPr>
              <a:t>Transportation Course (NM&amp;TC)</a:t>
            </a:r>
          </a:p>
        </p:txBody>
      </p:sp>
      <p:sp>
        <p:nvSpPr>
          <p:cNvPr id="61" name="Obdélník 60"/>
          <p:cNvSpPr/>
          <p:nvPr/>
        </p:nvSpPr>
        <p:spPr>
          <a:xfrm>
            <a:off x="3735389" y="1119188"/>
            <a:ext cx="1836737" cy="292894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D3AE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kern="0" dirty="0">
                <a:solidFill>
                  <a:prstClr val="black"/>
                </a:solidFill>
                <a:latin typeface="Calibri"/>
                <a:cs typeface="Arial"/>
              </a:rPr>
              <a:t>Host Nation Support Course (HNS)</a:t>
            </a:r>
          </a:p>
        </p:txBody>
      </p:sp>
      <p:sp>
        <p:nvSpPr>
          <p:cNvPr id="65" name="Obdélník 64"/>
          <p:cNvSpPr/>
          <p:nvPr/>
        </p:nvSpPr>
        <p:spPr bwMode="auto">
          <a:xfrm>
            <a:off x="34925" y="534591"/>
            <a:ext cx="1512888" cy="452438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D3AE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kern="0">
                <a:solidFill>
                  <a:srgbClr val="000099"/>
                </a:solidFill>
                <a:latin typeface="Calibri"/>
                <a:cs typeface="Arial" pitchFamily="34" charset="0"/>
              </a:rPr>
              <a:t>NATO Logistics Introductory Course (NLIC)</a:t>
            </a:r>
            <a:endParaRPr lang="en-GB" sz="1000" b="1" kern="0" dirty="0">
              <a:solidFill>
                <a:srgbClr val="000099"/>
              </a:solidFill>
              <a:latin typeface="Calibri"/>
              <a:cs typeface="Arial" pitchFamily="34" charset="0"/>
            </a:endParaRPr>
          </a:p>
        </p:txBody>
      </p:sp>
      <p:sp>
        <p:nvSpPr>
          <p:cNvPr id="68" name="Obdélník 67"/>
          <p:cNvSpPr/>
          <p:nvPr/>
        </p:nvSpPr>
        <p:spPr bwMode="auto">
          <a:xfrm>
            <a:off x="1819275" y="542925"/>
            <a:ext cx="1512888" cy="453629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D3AE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kern="0">
                <a:solidFill>
                  <a:prstClr val="black"/>
                </a:solidFill>
                <a:latin typeface="Calibri"/>
                <a:cs typeface="Arial" pitchFamily="34" charset="0"/>
              </a:rPr>
              <a:t>NATO Logistics Operational Course (NLOC)</a:t>
            </a:r>
            <a:endParaRPr lang="en-GB" sz="1000" b="1" kern="0" dirty="0">
              <a:solidFill>
                <a:prstClr val="black"/>
              </a:solidFill>
              <a:latin typeface="Calibri"/>
              <a:cs typeface="Arial" pitchFamily="34" charset="0"/>
            </a:endParaRPr>
          </a:p>
        </p:txBody>
      </p:sp>
      <p:sp>
        <p:nvSpPr>
          <p:cNvPr id="72" name="Obdélník 71"/>
          <p:cNvSpPr/>
          <p:nvPr/>
        </p:nvSpPr>
        <p:spPr>
          <a:xfrm>
            <a:off x="1836738" y="1528763"/>
            <a:ext cx="1511300" cy="314325"/>
          </a:xfrm>
          <a:prstGeom prst="rect">
            <a:avLst/>
          </a:prstGeom>
          <a:solidFill>
            <a:srgbClr val="A6F8F8"/>
          </a:solidFill>
          <a:ln w="25400" cap="flat" cmpd="sng" algn="ctr">
            <a:solidFill>
              <a:srgbClr val="0D3AE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kern="0">
                <a:solidFill>
                  <a:prstClr val="black"/>
                </a:solidFill>
                <a:latin typeface="Calibri"/>
                <a:cs typeface="Arial"/>
              </a:rPr>
              <a:t>NATO Petroleum Strategic course (NPSC)</a:t>
            </a:r>
            <a:endParaRPr lang="en-GB" sz="1000" b="1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73" name="Obdélník 72"/>
          <p:cNvSpPr/>
          <p:nvPr/>
        </p:nvSpPr>
        <p:spPr>
          <a:xfrm>
            <a:off x="3733800" y="1515667"/>
            <a:ext cx="1835150" cy="305990"/>
          </a:xfrm>
          <a:prstGeom prst="rect">
            <a:avLst/>
          </a:prstGeom>
          <a:solidFill>
            <a:srgbClr val="A6F8F8"/>
          </a:solidFill>
          <a:ln w="25400" cap="flat" cmpd="sng" algn="ctr">
            <a:solidFill>
              <a:srgbClr val="0D3AE1"/>
            </a:solidFill>
            <a:prstDash val="dash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kern="0">
                <a:solidFill>
                  <a:prstClr val="black"/>
                </a:solidFill>
                <a:latin typeface="Calibri"/>
                <a:cs typeface="Arial" pitchFamily="34" charset="0"/>
              </a:rPr>
              <a:t>NATO Petroleum Operational Management Course (NPOMC)</a:t>
            </a:r>
            <a:endParaRPr lang="en-GB" sz="1000" b="1" kern="0" dirty="0">
              <a:solidFill>
                <a:prstClr val="black"/>
              </a:solidFill>
              <a:latin typeface="Calibri"/>
              <a:cs typeface="Arial" pitchFamily="34" charset="0"/>
            </a:endParaRPr>
          </a:p>
        </p:txBody>
      </p:sp>
      <p:cxnSp>
        <p:nvCxnSpPr>
          <p:cNvPr id="21535" name="Pravoúhlá spojnice 73"/>
          <p:cNvCxnSpPr>
            <a:cxnSpLocks/>
            <a:stCxn id="65" idx="3"/>
            <a:endCxn id="68" idx="1"/>
          </p:cNvCxnSpPr>
          <p:nvPr/>
        </p:nvCxnSpPr>
        <p:spPr bwMode="auto">
          <a:xfrm>
            <a:off x="1547813" y="760810"/>
            <a:ext cx="271462" cy="8334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6" name="Pravoúhlá spojnice 75"/>
          <p:cNvCxnSpPr>
            <a:cxnSpLocks/>
            <a:stCxn id="68" idx="3"/>
            <a:endCxn id="58" idx="1"/>
          </p:cNvCxnSpPr>
          <p:nvPr/>
        </p:nvCxnSpPr>
        <p:spPr bwMode="auto">
          <a:xfrm>
            <a:off x="3332164" y="769144"/>
            <a:ext cx="401637" cy="55960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7" name="Pravoúhlá spojnice 76"/>
          <p:cNvCxnSpPr>
            <a:cxnSpLocks/>
            <a:stCxn id="58" idx="3"/>
            <a:endCxn id="57" idx="1"/>
          </p:cNvCxnSpPr>
          <p:nvPr/>
        </p:nvCxnSpPr>
        <p:spPr bwMode="auto">
          <a:xfrm flipH="1" flipV="1">
            <a:off x="3725864" y="357188"/>
            <a:ext cx="1843087" cy="467916"/>
          </a:xfrm>
          <a:prstGeom prst="bentConnector5">
            <a:avLst>
              <a:gd name="adj1" fmla="val -12394"/>
              <a:gd name="adj2" fmla="val 61537"/>
              <a:gd name="adj3" fmla="val 112394"/>
            </a:avLst>
          </a:prstGeom>
          <a:noFill/>
          <a:ln w="38100" algn="ctr">
            <a:solidFill>
              <a:srgbClr val="000099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8" name="Pravoúhlá spojnice 77"/>
          <p:cNvCxnSpPr>
            <a:cxnSpLocks/>
            <a:stCxn id="68" idx="3"/>
            <a:endCxn id="61" idx="1"/>
          </p:cNvCxnSpPr>
          <p:nvPr/>
        </p:nvCxnSpPr>
        <p:spPr bwMode="auto">
          <a:xfrm>
            <a:off x="3332164" y="769144"/>
            <a:ext cx="403225" cy="496491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9" name="Pravoúhlá spojnice 78"/>
          <p:cNvCxnSpPr>
            <a:cxnSpLocks/>
            <a:stCxn id="65" idx="2"/>
            <a:endCxn id="72" idx="1"/>
          </p:cNvCxnSpPr>
          <p:nvPr/>
        </p:nvCxnSpPr>
        <p:spPr bwMode="auto">
          <a:xfrm rot="16200000" flipH="1">
            <a:off x="965003" y="814189"/>
            <a:ext cx="698897" cy="1044575"/>
          </a:xfrm>
          <a:prstGeom prst="bentConnector2">
            <a:avLst/>
          </a:prstGeom>
          <a:noFill/>
          <a:ln w="38100" algn="ctr">
            <a:solidFill>
              <a:srgbClr val="000099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0" name="Pravoúhlá spojnice 79"/>
          <p:cNvCxnSpPr>
            <a:cxnSpLocks/>
            <a:stCxn id="72" idx="3"/>
            <a:endCxn id="73" idx="1"/>
          </p:cNvCxnSpPr>
          <p:nvPr/>
        </p:nvCxnSpPr>
        <p:spPr bwMode="auto">
          <a:xfrm flipV="1">
            <a:off x="3348038" y="1668066"/>
            <a:ext cx="385762" cy="17859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rgbClr val="000099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1" name="Pravoúhlá spojnice 80"/>
          <p:cNvCxnSpPr>
            <a:cxnSpLocks/>
            <a:stCxn id="68" idx="3"/>
            <a:endCxn id="73" idx="1"/>
          </p:cNvCxnSpPr>
          <p:nvPr/>
        </p:nvCxnSpPr>
        <p:spPr bwMode="auto">
          <a:xfrm>
            <a:off x="3332164" y="769144"/>
            <a:ext cx="401637" cy="898922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42" name="TextovéPole 43008"/>
          <p:cNvSpPr txBox="1">
            <a:spLocks noChangeArrowheads="1"/>
          </p:cNvSpPr>
          <p:nvPr/>
        </p:nvSpPr>
        <p:spPr bwMode="auto">
          <a:xfrm>
            <a:off x="-103188" y="-20241"/>
            <a:ext cx="17224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200" b="1">
                <a:solidFill>
                  <a:srgbClr val="000000"/>
                </a:solidFill>
                <a:latin typeface="Arial" charset="0"/>
              </a:rPr>
              <a:t>Basic</a:t>
            </a:r>
            <a:r>
              <a:rPr lang="en-GB" altLang="cs-CZ" sz="1200" b="1">
                <a:solidFill>
                  <a:srgbClr val="000000"/>
                </a:solidFill>
                <a:latin typeface="Arial" charset="0"/>
              </a:rPr>
              <a:t> - </a:t>
            </a:r>
            <a:r>
              <a:rPr lang="cs-CZ" altLang="cs-CZ" sz="1200" b="1">
                <a:solidFill>
                  <a:srgbClr val="000000"/>
                </a:solidFill>
                <a:latin typeface="Arial" charset="0"/>
              </a:rPr>
              <a:t>100</a:t>
            </a:r>
            <a:endParaRPr lang="en-GB" altLang="cs-CZ" sz="1200" b="1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191" name="Přímá spojnice 58"/>
          <p:cNvCxnSpPr/>
          <p:nvPr/>
        </p:nvCxnSpPr>
        <p:spPr>
          <a:xfrm flipH="1">
            <a:off x="107950" y="2699147"/>
            <a:ext cx="8928100" cy="0"/>
          </a:xfrm>
          <a:prstGeom prst="line">
            <a:avLst/>
          </a:prstGeom>
          <a:ln w="254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Obdélník 203"/>
          <p:cNvSpPr/>
          <p:nvPr/>
        </p:nvSpPr>
        <p:spPr bwMode="auto">
          <a:xfrm>
            <a:off x="1816100" y="1106091"/>
            <a:ext cx="1511300" cy="313134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D3AE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i="1" kern="0">
                <a:solidFill>
                  <a:prstClr val="black"/>
                </a:solidFill>
                <a:latin typeface="Calibri"/>
                <a:cs typeface="Arial" pitchFamily="34" charset="0"/>
              </a:rPr>
              <a:t>JLSG HQ Orientation Course</a:t>
            </a:r>
          </a:p>
        </p:txBody>
      </p:sp>
      <p:cxnSp>
        <p:nvCxnSpPr>
          <p:cNvPr id="21545" name="Pravoúhlá spojnice 210"/>
          <p:cNvCxnSpPr>
            <a:cxnSpLocks/>
            <a:stCxn id="68" idx="3"/>
            <a:endCxn id="23" idx="1"/>
          </p:cNvCxnSpPr>
          <p:nvPr/>
        </p:nvCxnSpPr>
        <p:spPr bwMode="auto">
          <a:xfrm flipH="1">
            <a:off x="468313" y="769144"/>
            <a:ext cx="2863850" cy="2569369"/>
          </a:xfrm>
          <a:prstGeom prst="bentConnector5">
            <a:avLst>
              <a:gd name="adj1" fmla="val -7981"/>
              <a:gd name="adj2" fmla="val 84005"/>
              <a:gd name="adj3" fmla="val 107981"/>
            </a:avLst>
          </a:prstGeom>
          <a:noFill/>
          <a:ln w="38100" algn="ctr">
            <a:solidFill>
              <a:srgbClr val="000099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6" name="Pravoúhlá spojnice 214"/>
          <p:cNvCxnSpPr>
            <a:cxnSpLocks/>
            <a:stCxn id="68" idx="3"/>
            <a:endCxn id="8" idx="1"/>
          </p:cNvCxnSpPr>
          <p:nvPr/>
        </p:nvCxnSpPr>
        <p:spPr bwMode="auto">
          <a:xfrm>
            <a:off x="3332164" y="769144"/>
            <a:ext cx="376237" cy="2170510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8" name="Obdélník 217"/>
          <p:cNvSpPr/>
          <p:nvPr/>
        </p:nvSpPr>
        <p:spPr bwMode="auto">
          <a:xfrm>
            <a:off x="1835150" y="1934766"/>
            <a:ext cx="1512888" cy="622697"/>
          </a:xfrm>
          <a:prstGeom prst="rect">
            <a:avLst/>
          </a:prstGeom>
          <a:solidFill>
            <a:srgbClr val="01FF74"/>
          </a:solidFill>
          <a:ln w="25400" cap="flat" cmpd="sng" algn="ctr">
            <a:solidFill>
              <a:srgbClr val="0D3AE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i="1" kern="0" dirty="0">
                <a:solidFill>
                  <a:prstClr val="black"/>
                </a:solidFill>
                <a:latin typeface="Calibri"/>
                <a:cs typeface="Arial" pitchFamily="34" charset="0"/>
              </a:rPr>
              <a:t>Reception, Staging &amp; Onward Movement Orientation Course (RSOM OC)</a:t>
            </a:r>
          </a:p>
        </p:txBody>
      </p:sp>
      <p:sp>
        <p:nvSpPr>
          <p:cNvPr id="219" name="Obdélník 218"/>
          <p:cNvSpPr/>
          <p:nvPr/>
        </p:nvSpPr>
        <p:spPr bwMode="auto">
          <a:xfrm>
            <a:off x="3743325" y="1995488"/>
            <a:ext cx="1836738" cy="496491"/>
          </a:xfrm>
          <a:prstGeom prst="rect">
            <a:avLst/>
          </a:prstGeom>
          <a:solidFill>
            <a:srgbClr val="01FF74"/>
          </a:solidFill>
          <a:ln w="25400" cap="flat" cmpd="sng" algn="ctr">
            <a:solidFill>
              <a:srgbClr val="0D3AE1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1000" b="1" i="1" kern="0" dirty="0">
                <a:solidFill>
                  <a:prstClr val="black"/>
                </a:solidFill>
                <a:latin typeface="Calibri"/>
                <a:cs typeface="Arial" pitchFamily="34" charset="0"/>
              </a:rPr>
              <a:t>Reception, Staging &amp; Onward </a:t>
            </a:r>
            <a:r>
              <a:rPr lang="en-GB" sz="1000" b="1" i="1" kern="0">
                <a:solidFill>
                  <a:prstClr val="black"/>
                </a:solidFill>
                <a:latin typeface="Calibri"/>
                <a:cs typeface="Arial" pitchFamily="34" charset="0"/>
              </a:rPr>
              <a:t>Movement Advanced Course (RSOM AC)</a:t>
            </a:r>
            <a:endParaRPr lang="en-GB" sz="1000" b="1" i="1" kern="0" dirty="0">
              <a:solidFill>
                <a:prstClr val="black"/>
              </a:solidFill>
              <a:latin typeface="Calibri"/>
              <a:cs typeface="Arial" pitchFamily="34" charset="0"/>
            </a:endParaRPr>
          </a:p>
        </p:txBody>
      </p:sp>
      <p:cxnSp>
        <p:nvCxnSpPr>
          <p:cNvPr id="21549" name="Pravoúhlá spojnice 75"/>
          <p:cNvCxnSpPr>
            <a:cxnSpLocks/>
            <a:stCxn id="68" idx="3"/>
            <a:endCxn id="57" idx="1"/>
          </p:cNvCxnSpPr>
          <p:nvPr/>
        </p:nvCxnSpPr>
        <p:spPr bwMode="auto">
          <a:xfrm flipV="1">
            <a:off x="3332163" y="357188"/>
            <a:ext cx="393700" cy="411956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8" name="Obdélník: se zakulacenými rohy 167"/>
          <p:cNvSpPr/>
          <p:nvPr/>
        </p:nvSpPr>
        <p:spPr>
          <a:xfrm>
            <a:off x="334964" y="4049316"/>
            <a:ext cx="180975" cy="108347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solidFill>
                <a:prstClr val="white"/>
              </a:solidFill>
            </a:endParaRPr>
          </a:p>
        </p:txBody>
      </p:sp>
      <p:sp>
        <p:nvSpPr>
          <p:cNvPr id="169" name="Obdélník: se zakulacenými rohy 168"/>
          <p:cNvSpPr/>
          <p:nvPr/>
        </p:nvSpPr>
        <p:spPr>
          <a:xfrm>
            <a:off x="334964" y="4201716"/>
            <a:ext cx="180975" cy="108347"/>
          </a:xfrm>
          <a:prstGeom prst="roundRect">
            <a:avLst/>
          </a:prstGeom>
          <a:solidFill>
            <a:srgbClr val="01FF74"/>
          </a:solidFill>
          <a:ln>
            <a:solidFill>
              <a:srgbClr val="01FF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solidFill>
                <a:prstClr val="white"/>
              </a:solidFill>
            </a:endParaRPr>
          </a:p>
        </p:txBody>
      </p:sp>
      <p:sp>
        <p:nvSpPr>
          <p:cNvPr id="170" name="Obdélník: se zakulacenými rohy 169"/>
          <p:cNvSpPr/>
          <p:nvPr/>
        </p:nvSpPr>
        <p:spPr>
          <a:xfrm>
            <a:off x="334964" y="4354116"/>
            <a:ext cx="180975" cy="108347"/>
          </a:xfrm>
          <a:prstGeom prst="roundRect">
            <a:avLst/>
          </a:prstGeom>
          <a:solidFill>
            <a:srgbClr val="A6F8F8"/>
          </a:solidFill>
          <a:ln>
            <a:solidFill>
              <a:srgbClr val="A6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solidFill>
                <a:prstClr val="white"/>
              </a:solidFill>
            </a:endParaRPr>
          </a:p>
        </p:txBody>
      </p:sp>
      <p:sp>
        <p:nvSpPr>
          <p:cNvPr id="171" name="Obdélník: se zakulacenými rohy 170"/>
          <p:cNvSpPr/>
          <p:nvPr/>
        </p:nvSpPr>
        <p:spPr>
          <a:xfrm>
            <a:off x="334964" y="4506516"/>
            <a:ext cx="180975" cy="108347"/>
          </a:xfrm>
          <a:prstGeom prst="roundRect">
            <a:avLst/>
          </a:prstGeom>
          <a:solidFill>
            <a:srgbClr val="F1A7F3"/>
          </a:solidFill>
          <a:ln>
            <a:solidFill>
              <a:srgbClr val="F1A7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solidFill>
                <a:prstClr val="white"/>
              </a:solidFill>
            </a:endParaRPr>
          </a:p>
        </p:txBody>
      </p:sp>
      <p:sp>
        <p:nvSpPr>
          <p:cNvPr id="174" name="TextovéPole 173"/>
          <p:cNvSpPr txBox="1"/>
          <p:nvPr/>
        </p:nvSpPr>
        <p:spPr>
          <a:xfrm>
            <a:off x="623888" y="3999310"/>
            <a:ext cx="647700" cy="1846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" dirty="0">
                <a:solidFill>
                  <a:prstClr val="black"/>
                </a:solidFill>
                <a:latin typeface="Calibri"/>
                <a:cs typeface="+mn-cs"/>
              </a:rPr>
              <a:t>Logistics</a:t>
            </a:r>
          </a:p>
        </p:txBody>
      </p:sp>
      <p:sp>
        <p:nvSpPr>
          <p:cNvPr id="175" name="TextovéPole 174"/>
          <p:cNvSpPr txBox="1"/>
          <p:nvPr/>
        </p:nvSpPr>
        <p:spPr>
          <a:xfrm>
            <a:off x="623888" y="4151710"/>
            <a:ext cx="863600" cy="1846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">
                <a:solidFill>
                  <a:prstClr val="black"/>
                </a:solidFill>
                <a:latin typeface="Calibri"/>
                <a:cs typeface="+mn-cs"/>
              </a:rPr>
              <a:t>Deployment related</a:t>
            </a:r>
          </a:p>
        </p:txBody>
      </p:sp>
      <p:sp>
        <p:nvSpPr>
          <p:cNvPr id="176" name="TextovéPole 175"/>
          <p:cNvSpPr txBox="1"/>
          <p:nvPr/>
        </p:nvSpPr>
        <p:spPr>
          <a:xfrm>
            <a:off x="623888" y="4304110"/>
            <a:ext cx="863600" cy="1846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">
                <a:solidFill>
                  <a:prstClr val="black"/>
                </a:solidFill>
                <a:latin typeface="Calibri"/>
                <a:cs typeface="+mn-cs"/>
              </a:rPr>
              <a:t>Petroleum</a:t>
            </a:r>
          </a:p>
        </p:txBody>
      </p:sp>
      <p:sp>
        <p:nvSpPr>
          <p:cNvPr id="177" name="TextovéPole 176"/>
          <p:cNvSpPr txBox="1"/>
          <p:nvPr/>
        </p:nvSpPr>
        <p:spPr>
          <a:xfrm>
            <a:off x="623888" y="4456510"/>
            <a:ext cx="1204912" cy="1846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">
                <a:solidFill>
                  <a:prstClr val="black"/>
                </a:solidFill>
                <a:latin typeface="Calibri"/>
                <a:cs typeface="+mn-cs"/>
              </a:rPr>
              <a:t>NCI Academy exklusive courses</a:t>
            </a:r>
          </a:p>
        </p:txBody>
      </p:sp>
      <p:sp>
        <p:nvSpPr>
          <p:cNvPr id="178" name="TextovéPole 177"/>
          <p:cNvSpPr txBox="1"/>
          <p:nvPr/>
        </p:nvSpPr>
        <p:spPr>
          <a:xfrm>
            <a:off x="623888" y="4606528"/>
            <a:ext cx="863600" cy="1846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">
                <a:solidFill>
                  <a:prstClr val="black"/>
                </a:solidFill>
                <a:latin typeface="Calibri"/>
                <a:cs typeface="+mn-cs"/>
              </a:rPr>
              <a:t>Prerequisite</a:t>
            </a:r>
          </a:p>
        </p:txBody>
      </p:sp>
      <p:sp>
        <p:nvSpPr>
          <p:cNvPr id="179" name="TextovéPole 178"/>
          <p:cNvSpPr txBox="1"/>
          <p:nvPr/>
        </p:nvSpPr>
        <p:spPr>
          <a:xfrm>
            <a:off x="623888" y="4791075"/>
            <a:ext cx="863600" cy="1846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">
                <a:solidFill>
                  <a:prstClr val="black"/>
                </a:solidFill>
                <a:latin typeface="Calibri"/>
                <a:cs typeface="+mn-cs"/>
              </a:rPr>
              <a:t>Recommended</a:t>
            </a:r>
          </a:p>
        </p:txBody>
      </p:sp>
      <p:cxnSp>
        <p:nvCxnSpPr>
          <p:cNvPr id="21560" name="Pravoúhlá spojnice 73"/>
          <p:cNvCxnSpPr>
            <a:cxnSpLocks/>
            <a:stCxn id="218" idx="3"/>
            <a:endCxn id="219" idx="1"/>
          </p:cNvCxnSpPr>
          <p:nvPr/>
        </p:nvCxnSpPr>
        <p:spPr bwMode="auto">
          <a:xfrm flipV="1">
            <a:off x="3348039" y="2244329"/>
            <a:ext cx="395287" cy="1190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1" name="Pravoúhlá spojnice 210"/>
          <p:cNvCxnSpPr>
            <a:cxnSpLocks/>
            <a:stCxn id="68" idx="3"/>
            <a:endCxn id="218" idx="1"/>
          </p:cNvCxnSpPr>
          <p:nvPr/>
        </p:nvCxnSpPr>
        <p:spPr bwMode="auto">
          <a:xfrm flipH="1">
            <a:off x="1835151" y="769144"/>
            <a:ext cx="1497013" cy="1476375"/>
          </a:xfrm>
          <a:prstGeom prst="bentConnector5">
            <a:avLst>
              <a:gd name="adj1" fmla="val -8565"/>
              <a:gd name="adj2" fmla="val 134120"/>
              <a:gd name="adj3" fmla="val 115287"/>
            </a:avLst>
          </a:prstGeom>
          <a:noFill/>
          <a:ln w="38100" algn="ctr">
            <a:solidFill>
              <a:srgbClr val="000099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0" name="Přímá spojnice se šipkou 189"/>
          <p:cNvCxnSpPr/>
          <p:nvPr/>
        </p:nvCxnSpPr>
        <p:spPr>
          <a:xfrm>
            <a:off x="334963" y="4718447"/>
            <a:ext cx="215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Přímá spojnice se šipkou 191"/>
          <p:cNvCxnSpPr/>
          <p:nvPr/>
        </p:nvCxnSpPr>
        <p:spPr>
          <a:xfrm>
            <a:off x="334963" y="4862513"/>
            <a:ext cx="215900" cy="0"/>
          </a:xfrm>
          <a:prstGeom prst="straightConnector1">
            <a:avLst/>
          </a:prstGeom>
          <a:ln w="19050">
            <a:solidFill>
              <a:srgbClr val="0D3AE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Obdélník 193"/>
          <p:cNvSpPr/>
          <p:nvPr/>
        </p:nvSpPr>
        <p:spPr>
          <a:xfrm>
            <a:off x="250825" y="3792141"/>
            <a:ext cx="1568450" cy="122753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ln>
                <a:solidFill>
                  <a:prstClr val="black"/>
                </a:solidFill>
              </a:ln>
              <a:noFill/>
            </a:endParaRPr>
          </a:p>
        </p:txBody>
      </p:sp>
      <p:sp>
        <p:nvSpPr>
          <p:cNvPr id="2" name="TextovéPole 1"/>
          <p:cNvSpPr txBox="1"/>
          <p:nvPr/>
        </p:nvSpPr>
        <p:spPr>
          <a:xfrm>
            <a:off x="6516689" y="866775"/>
            <a:ext cx="1908175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Arial Black" panose="020B0A04020102020204" pitchFamily="34" charset="0"/>
                <a:cs typeface="+mn-cs"/>
              </a:rPr>
              <a:t>2022 LOG training path</a:t>
            </a:r>
          </a:p>
        </p:txBody>
      </p:sp>
      <p:sp>
        <p:nvSpPr>
          <p:cNvPr id="66" name="Obdélník: se zakulacenými rohy 167"/>
          <p:cNvSpPr/>
          <p:nvPr/>
        </p:nvSpPr>
        <p:spPr>
          <a:xfrm>
            <a:off x="344489" y="3883819"/>
            <a:ext cx="180975" cy="107156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solidFill>
                <a:prstClr val="white"/>
              </a:solidFill>
            </a:endParaRPr>
          </a:p>
        </p:txBody>
      </p:sp>
      <p:sp>
        <p:nvSpPr>
          <p:cNvPr id="67" name="TextovéPole 66"/>
          <p:cNvSpPr txBox="1"/>
          <p:nvPr/>
        </p:nvSpPr>
        <p:spPr>
          <a:xfrm>
            <a:off x="620713" y="3861198"/>
            <a:ext cx="1358900" cy="1846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" dirty="0">
                <a:solidFill>
                  <a:prstClr val="black"/>
                </a:solidFill>
                <a:latin typeface="Calibri"/>
                <a:cs typeface="+mn-cs"/>
              </a:rPr>
              <a:t>Mandatory for all LOG positions</a:t>
            </a:r>
          </a:p>
        </p:txBody>
      </p:sp>
    </p:spTree>
    <p:extLst>
      <p:ext uri="{BB962C8B-B14F-4D97-AF65-F5344CB8AC3E}">
        <p14:creationId xmlns:p14="http://schemas.microsoft.com/office/powerpoint/2010/main" val="168166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Solutions </a:t>
            </a:r>
            <a:r>
              <a:rPr lang="en-GB" dirty="0" smtClean="0"/>
              <a:t>development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Obrázek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74575"/>
            <a:ext cx="6264696" cy="409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099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Course Certification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800" dirty="0"/>
              <a:t>step 1) add course to ETOC to get the course code and develop CCDs based on RA (ACOS J4) approved model solutions </a:t>
            </a:r>
          </a:p>
          <a:p>
            <a:r>
              <a:rPr lang="en-US" sz="1800" dirty="0"/>
              <a:t>step 2) consult all 3 CCDs developed with DH LOG</a:t>
            </a:r>
          </a:p>
          <a:p>
            <a:r>
              <a:rPr lang="en-US" sz="1800" dirty="0"/>
              <a:t>step 3) finalize CCDs and send them to DHLOG with CCD1 signed by the Course Director and Academy Commander</a:t>
            </a:r>
          </a:p>
          <a:p>
            <a:r>
              <a:rPr lang="en-US" sz="1800" dirty="0"/>
              <a:t>step 4) DH LOG will sign CCD1 and send all 3 CCDs to RA </a:t>
            </a:r>
          </a:p>
          <a:p>
            <a:r>
              <a:rPr lang="en-US" sz="1800" dirty="0"/>
              <a:t>step 5) RA signs CCD1 and sends back to DH LOG</a:t>
            </a:r>
          </a:p>
          <a:p>
            <a:r>
              <a:rPr lang="en-US" sz="1800" dirty="0"/>
              <a:t>step 6) DH LOG sends CCD1 to ETF</a:t>
            </a:r>
          </a:p>
          <a:p>
            <a:r>
              <a:rPr lang="en-US" sz="1800" dirty="0"/>
              <a:t>step 7) ETF uploads CCDs to ETOC and request certification </a:t>
            </a:r>
          </a:p>
          <a:p>
            <a:r>
              <a:rPr lang="en-US" sz="1800" dirty="0"/>
              <a:t>step 8) ACT will check the course upon TRA and decide on certification </a:t>
            </a:r>
          </a:p>
          <a:p>
            <a:r>
              <a:rPr lang="en-US" sz="1800" dirty="0"/>
              <a:t>step 9) you will receive a letter from ACD JFD about certification and it will be also managed in ETOC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812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Way Ahead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700" dirty="0"/>
              <a:t>Support RA (ACO) in conducting the new TRA to reflect adaptation of NATO Command Structure and significant changes in the security </a:t>
            </a:r>
            <a:r>
              <a:rPr lang="en-US" sz="1700" dirty="0" smtClean="0"/>
              <a:t>environment</a:t>
            </a:r>
            <a:endParaRPr lang="en-US" sz="1700" dirty="0"/>
          </a:p>
          <a:p>
            <a:r>
              <a:rPr lang="en-US" sz="1700" dirty="0"/>
              <a:t>Implement LOGFAS training path and model solutions for future LOGFAS 7 </a:t>
            </a:r>
            <a:r>
              <a:rPr lang="en-US" sz="1700" dirty="0" smtClean="0"/>
              <a:t>courses</a:t>
            </a:r>
            <a:endParaRPr lang="en-US" sz="1700" dirty="0"/>
          </a:p>
          <a:p>
            <a:r>
              <a:rPr lang="en-US" sz="1700" dirty="0"/>
              <a:t>Continue coordination with the NATO School in Oberammergau, NCI Academy in Oeiras and other ETFs (MLCC, JCTC, JLEC, FINCENT) to deliver required </a:t>
            </a:r>
            <a:r>
              <a:rPr lang="en-US" sz="1700" dirty="0" smtClean="0"/>
              <a:t>solutions</a:t>
            </a:r>
            <a:endParaRPr lang="en-US" sz="1700" dirty="0"/>
          </a:p>
          <a:p>
            <a:r>
              <a:rPr lang="en-US" sz="1700" dirty="0"/>
              <a:t>Deepen DH LOG engagement in NATO </a:t>
            </a:r>
            <a:r>
              <a:rPr lang="en-US" sz="1700" dirty="0" smtClean="0"/>
              <a:t>exercises</a:t>
            </a:r>
          </a:p>
          <a:p>
            <a:r>
              <a:rPr lang="en-US" sz="1700" dirty="0" smtClean="0"/>
              <a:t>Integrate POL planning in NLOPC and ESMRM planning integrate in NLOPC</a:t>
            </a:r>
          </a:p>
          <a:p>
            <a:r>
              <a:rPr lang="en-US" sz="1700" dirty="0" err="1" smtClean="0"/>
              <a:t>eNLIC</a:t>
            </a:r>
            <a:r>
              <a:rPr lang="en-US" sz="1700" dirty="0" smtClean="0"/>
              <a:t> 24/7 at 365 days a year available</a:t>
            </a:r>
          </a:p>
          <a:p>
            <a:r>
              <a:rPr lang="en-US" sz="1700" dirty="0" smtClean="0"/>
              <a:t>Align </a:t>
            </a:r>
            <a:r>
              <a:rPr lang="en-US" sz="1700" dirty="0" smtClean="0"/>
              <a:t>training and exercise planning</a:t>
            </a:r>
          </a:p>
          <a:p>
            <a:r>
              <a:rPr lang="en-US" sz="1700" dirty="0" smtClean="0"/>
              <a:t>List of OPRs/SMEs in support of </a:t>
            </a:r>
          </a:p>
          <a:p>
            <a:endParaRPr lang="en-US" sz="1700" dirty="0" smtClean="0"/>
          </a:p>
          <a:p>
            <a:endParaRPr lang="en-US" sz="1700" dirty="0"/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258455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37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025a PPTMaster_16by9">
  <a:themeElements>
    <a:clrScheme name="NSO Startpage">
      <a:dk1>
        <a:sysClr val="windowText" lastClr="000000"/>
      </a:dk1>
      <a:lt1>
        <a:sysClr val="window" lastClr="FFFFFF"/>
      </a:lt1>
      <a:dk2>
        <a:srgbClr val="003B5B"/>
      </a:dk2>
      <a:lt2>
        <a:srgbClr val="003B5B"/>
      </a:lt2>
      <a:accent1>
        <a:srgbClr val="003B5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COPD">
  <a:themeElements>
    <a:clrScheme name="NCOPD">
      <a:dk1>
        <a:sysClr val="windowText" lastClr="000000"/>
      </a:dk1>
      <a:lt1>
        <a:sysClr val="window" lastClr="FFFFFF"/>
      </a:lt1>
      <a:dk2>
        <a:srgbClr val="1F497D"/>
      </a:dk2>
      <a:lt2>
        <a:srgbClr val="817A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SEC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0C909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L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1D707C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HIED">
  <a:themeElements>
    <a:clrScheme name="HIED">
      <a:dk1>
        <a:sysClr val="windowText" lastClr="000000"/>
      </a:dk1>
      <a:lt1>
        <a:sysClr val="window" lastClr="FFFFFF"/>
      </a:lt1>
      <a:dk2>
        <a:srgbClr val="1F497D"/>
      </a:dk2>
      <a:lt2>
        <a:srgbClr val="B5823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NTEL">
  <a:themeElements>
    <a:clrScheme name="INTEL">
      <a:dk1>
        <a:sysClr val="windowText" lastClr="000000"/>
      </a:dk1>
      <a:lt1>
        <a:sysClr val="window" lastClr="FFFFFF"/>
      </a:lt1>
      <a:dk2>
        <a:srgbClr val="1F497D"/>
      </a:dk2>
      <a:lt2>
        <a:srgbClr val="B63A19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JPOD">
  <a:themeElements>
    <a:clrScheme name="JPOD">
      <a:dk1>
        <a:sysClr val="windowText" lastClr="000000"/>
      </a:dk1>
      <a:lt1>
        <a:sysClr val="window" lastClr="FFFFFF"/>
      </a:lt1>
      <a:dk2>
        <a:srgbClr val="1F497D"/>
      </a:dk2>
      <a:lt2>
        <a:srgbClr val="60814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JTIC">
  <a:themeElements>
    <a:clrScheme name="JTIC">
      <a:dk1>
        <a:sysClr val="windowText" lastClr="000000"/>
      </a:dk1>
      <a:lt1>
        <a:sysClr val="window" lastClr="FFFFFF"/>
      </a:lt1>
      <a:dk2>
        <a:srgbClr val="1F497D"/>
      </a:dk2>
      <a:lt2>
        <a:srgbClr val="BF1618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PROT">
  <a:themeElements>
    <a:clrScheme name="Custom 3">
      <a:dk1>
        <a:sysClr val="windowText" lastClr="000000"/>
      </a:dk1>
      <a:lt1>
        <a:sysClr val="window" lastClr="FFFFFF"/>
      </a:lt1>
      <a:dk2>
        <a:srgbClr val="1F497D"/>
      </a:dk2>
      <a:lt2>
        <a:srgbClr val="0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ET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003B5B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5B27A65603CCE4286BCFAF569B13952" ma:contentTypeVersion="12" ma:contentTypeDescription="Criar um novo documento." ma:contentTypeScope="" ma:versionID="e8ed86e5e11f9f02dcb9587e66bef5b7">
  <xsd:schema xmlns:xsd="http://www.w3.org/2001/XMLSchema" xmlns:xs="http://www.w3.org/2001/XMLSchema" xmlns:p="http://schemas.microsoft.com/office/2006/metadata/properties" xmlns:ns2="1c3fb4c2-0da0-4d0a-ba1a-d31282cddde4" xmlns:ns3="768ec260-3609-4363-825e-a27f12258866" targetNamespace="http://schemas.microsoft.com/office/2006/metadata/properties" ma:root="true" ma:fieldsID="e12a2af26451616c9c41a45c543fea80" ns2:_="" ns3:_="">
    <xsd:import namespace="1c3fb4c2-0da0-4d0a-ba1a-d31282cddde4"/>
    <xsd:import namespace="768ec260-3609-4363-825e-a27f122588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3fb4c2-0da0-4d0a-ba1a-d31282cddd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m" ma:readOnly="false" ma:fieldId="{5cf76f15-5ced-4ddc-b409-7134ff3c332f}" ma:taxonomyMulti="true" ma:sspId="f8f0716f-eab5-442c-b43b-7dcdbaec42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ec260-3609-4363-825e-a27f122588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62ef64b-3660-49a0-8a9d-71bfcb2a4adc}" ma:internalName="TaxCatchAll" ma:showField="CatchAllData" ma:web="768ec260-3609-4363-825e-a27f122588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3fb4c2-0da0-4d0a-ba1a-d31282cddde4">
      <Terms xmlns="http://schemas.microsoft.com/office/infopath/2007/PartnerControls"/>
    </lcf76f155ced4ddcb4097134ff3c332f>
    <TaxCatchAll xmlns="768ec260-3609-4363-825e-a27f12258866" xsi:nil="true"/>
  </documentManagement>
</p:properties>
</file>

<file path=customXml/itemProps1.xml><?xml version="1.0" encoding="utf-8"?>
<ds:datastoreItem xmlns:ds="http://schemas.openxmlformats.org/officeDocument/2006/customXml" ds:itemID="{A08A7101-FB4E-4053-91EC-601D4A83BA68}"/>
</file>

<file path=customXml/itemProps2.xml><?xml version="1.0" encoding="utf-8"?>
<ds:datastoreItem xmlns:ds="http://schemas.openxmlformats.org/officeDocument/2006/customXml" ds:itemID="{AB0FB15D-F612-4D54-818C-3BC0BABBA024}"/>
</file>

<file path=customXml/itemProps3.xml><?xml version="1.0" encoding="utf-8"?>
<ds:datastoreItem xmlns:ds="http://schemas.openxmlformats.org/officeDocument/2006/customXml" ds:itemID="{8AD61D5C-FEF3-4F6A-9304-A2AC94ED1747}"/>
</file>

<file path=docProps/app.xml><?xml version="1.0" encoding="utf-8"?>
<Properties xmlns="http://schemas.openxmlformats.org/officeDocument/2006/extended-properties" xmlns:vt="http://schemas.openxmlformats.org/officeDocument/2006/docPropsVTypes">
  <Template>025a PPTMaster_16by9</Template>
  <TotalTime>133</TotalTime>
  <Words>670</Words>
  <Application>Microsoft Office PowerPoint</Application>
  <PresentationFormat>On-screen Show (16:9)</PresentationFormat>
  <Paragraphs>112</Paragraphs>
  <Slides>19</Slides>
  <Notes>0</Notes>
  <HiddenSlides>3</HiddenSlides>
  <MMClips>0</MMClips>
  <ScaleCrop>false</ScaleCrop>
  <HeadingPairs>
    <vt:vector size="6" baseType="variant"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025a PPTMaster_16by9</vt:lpstr>
      <vt:lpstr>1_NCOPD</vt:lpstr>
      <vt:lpstr>COSEC</vt:lpstr>
      <vt:lpstr>DL</vt:lpstr>
      <vt:lpstr>HIED</vt:lpstr>
      <vt:lpstr>INTEL</vt:lpstr>
      <vt:lpstr>JPOD</vt:lpstr>
      <vt:lpstr>JTIC</vt:lpstr>
      <vt:lpstr>PROT</vt:lpstr>
      <vt:lpstr>SET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NATO School Oberammergau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 Waal, Johannes (OF-3, NLD-A)</dc:creator>
  <cp:lastModifiedBy>De Waal, Johannes (OF-3, NLD-A)</cp:lastModifiedBy>
  <cp:revision>18</cp:revision>
  <cp:lastPrinted>2018-03-23T13:39:48Z</cp:lastPrinted>
  <dcterms:created xsi:type="dcterms:W3CDTF">2022-05-10T10:15:58Z</dcterms:created>
  <dcterms:modified xsi:type="dcterms:W3CDTF">2023-03-01T08:12:11Z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0x01010065B27A65603CCE4286BCFAF569B13952</vt:lpwstr>
  </property>
</Properties>
</file>