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0066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1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05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713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717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580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647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900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258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056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3870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493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784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E5799-0E86-497D-8839-E76543B8F95B}" type="datetimeFigureOut">
              <a:rPr lang="en-IE" smtClean="0"/>
              <a:t>01/04/2025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256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 rot="19182835">
            <a:off x="249405" y="698091"/>
            <a:ext cx="8084920" cy="4985269"/>
          </a:xfrm>
          <a:prstGeom prst="ellipse">
            <a:avLst/>
          </a:prstGeom>
          <a:solidFill>
            <a:schemeClr val="bg1">
              <a:lumMod val="85000"/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Oval 4"/>
          <p:cNvSpPr/>
          <p:nvPr/>
        </p:nvSpPr>
        <p:spPr>
          <a:xfrm>
            <a:off x="7460107" y="1898639"/>
            <a:ext cx="4708502" cy="2584172"/>
          </a:xfrm>
          <a:prstGeom prst="ellipse">
            <a:avLst/>
          </a:prstGeom>
          <a:solidFill>
            <a:schemeClr val="accent1"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Oval 7"/>
          <p:cNvSpPr/>
          <p:nvPr/>
        </p:nvSpPr>
        <p:spPr>
          <a:xfrm rot="1057647">
            <a:off x="7362091" y="3327895"/>
            <a:ext cx="3543458" cy="1331193"/>
          </a:xfrm>
          <a:prstGeom prst="ellipse">
            <a:avLst/>
          </a:prstGeom>
          <a:solidFill>
            <a:schemeClr val="accent5">
              <a:lumMod val="75000"/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Oval 5"/>
          <p:cNvSpPr/>
          <p:nvPr/>
        </p:nvSpPr>
        <p:spPr>
          <a:xfrm>
            <a:off x="6701976" y="1049357"/>
            <a:ext cx="975872" cy="1187501"/>
          </a:xfrm>
          <a:prstGeom prst="ellipse">
            <a:avLst/>
          </a:prstGeom>
          <a:solidFill>
            <a:schemeClr val="accent4">
              <a:lumMod val="20000"/>
              <a:lumOff val="80000"/>
              <a:alpha val="84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Oval 6"/>
          <p:cNvSpPr/>
          <p:nvPr/>
        </p:nvSpPr>
        <p:spPr>
          <a:xfrm rot="487926">
            <a:off x="342262" y="2492402"/>
            <a:ext cx="6194239" cy="3415043"/>
          </a:xfrm>
          <a:prstGeom prst="ellipse">
            <a:avLst/>
          </a:prstGeom>
          <a:solidFill>
            <a:schemeClr val="accent2">
              <a:lumMod val="20000"/>
              <a:lumOff val="80000"/>
              <a:alpha val="77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Oval 1"/>
          <p:cNvSpPr/>
          <p:nvPr/>
        </p:nvSpPr>
        <p:spPr>
          <a:xfrm>
            <a:off x="4617359" y="896420"/>
            <a:ext cx="1782927" cy="2350091"/>
          </a:xfrm>
          <a:prstGeom prst="ellipse">
            <a:avLst/>
          </a:prstGeom>
          <a:solidFill>
            <a:schemeClr val="accent5">
              <a:lumMod val="20000"/>
              <a:lumOff val="80000"/>
              <a:alpha val="72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Oval 3"/>
          <p:cNvSpPr/>
          <p:nvPr/>
        </p:nvSpPr>
        <p:spPr>
          <a:xfrm rot="1245219">
            <a:off x="2609434" y="865868"/>
            <a:ext cx="1768893" cy="4356445"/>
          </a:xfrm>
          <a:prstGeom prst="ellipse">
            <a:avLst/>
          </a:prstGeom>
          <a:solidFill>
            <a:schemeClr val="accent6">
              <a:lumMod val="20000"/>
              <a:lumOff val="80000"/>
              <a:alpha val="71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2" y="450724"/>
            <a:ext cx="10946337" cy="622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8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8" grpId="0" animBg="1"/>
      <p:bldP spid="6" grpId="0" animBg="1"/>
      <p:bldP spid="7" grpId="0" animBg="1"/>
      <p:bldP spid="2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6900" y="177800"/>
            <a:ext cx="11430000" cy="6261100"/>
          </a:xfrm>
          <a:prstGeom prst="rect">
            <a:avLst/>
          </a:prstGeom>
          <a:gradFill>
            <a:gsLst>
              <a:gs pos="50000">
                <a:schemeClr val="accent5">
                  <a:lumMod val="20000"/>
                  <a:lumOff val="80000"/>
                </a:schemeClr>
              </a:gs>
              <a:gs pos="20000">
                <a:schemeClr val="accent1">
                  <a:lumMod val="75000"/>
                </a:schemeClr>
              </a:gs>
              <a:gs pos="81000">
                <a:srgbClr val="FF7C80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ounded Rectangle 4"/>
          <p:cNvSpPr/>
          <p:nvPr/>
        </p:nvSpPr>
        <p:spPr>
          <a:xfrm>
            <a:off x="1431625" y="911192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00322" y="1814630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K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586806" y="1054681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E" sz="90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Lady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15098" y="2258676"/>
            <a:ext cx="1307055" cy="39978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Judge </a:t>
            </a:r>
            <a:r>
              <a:rPr lang="en-IE" sz="9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Kantanga</a:t>
            </a:r>
            <a:endParaRPr lang="en-IE" sz="9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 </a:t>
            </a:r>
            <a:r>
              <a:rPr lang="en-IE" sz="9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Sangusa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51994" y="911192"/>
            <a:ext cx="746760" cy="406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82222" y="2125226"/>
            <a:ext cx="746760" cy="406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GOM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3744" y="1408230"/>
            <a:ext cx="746760" cy="406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GOY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20504" y="3149801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</a:t>
            </a:r>
            <a:r>
              <a:rPr lang="en-IE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Parties</a:t>
            </a:r>
            <a:endParaRPr lang="en-IE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97980" y="4885451"/>
            <a:ext cx="744220" cy="44323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Armed Gangs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712475" y="3670797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 Network</a:t>
            </a:r>
            <a:endParaRPr lang="en-IE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71774" y="4447301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RAAF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82222" y="2743401"/>
            <a:ext cx="746760" cy="406400"/>
          </a:xfrm>
          <a:prstGeom prst="round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945525" y="2946601"/>
            <a:ext cx="744220" cy="443230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APF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00322" y="3670797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CIDG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408619" y="2272846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Down Arrow 19"/>
          <p:cNvSpPr/>
          <p:nvPr/>
        </p:nvSpPr>
        <p:spPr>
          <a:xfrm rot="6670869">
            <a:off x="6240168" y="2545013"/>
            <a:ext cx="355804" cy="93980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Down Arrow 21"/>
          <p:cNvSpPr/>
          <p:nvPr/>
        </p:nvSpPr>
        <p:spPr>
          <a:xfrm rot="10800000">
            <a:off x="1854198" y="3389831"/>
            <a:ext cx="469901" cy="93980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Down Arrow 22"/>
          <p:cNvSpPr/>
          <p:nvPr/>
        </p:nvSpPr>
        <p:spPr>
          <a:xfrm>
            <a:off x="8057236" y="3235010"/>
            <a:ext cx="332844" cy="154019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Down Arrow 23"/>
          <p:cNvSpPr/>
          <p:nvPr/>
        </p:nvSpPr>
        <p:spPr>
          <a:xfrm>
            <a:off x="10158414" y="3495637"/>
            <a:ext cx="350305" cy="1648846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Down Arrow 25"/>
          <p:cNvSpPr/>
          <p:nvPr/>
        </p:nvSpPr>
        <p:spPr>
          <a:xfrm rot="1970907">
            <a:off x="10773115" y="4216611"/>
            <a:ext cx="343193" cy="93980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7" name="Down Arrow 26"/>
          <p:cNvSpPr/>
          <p:nvPr/>
        </p:nvSpPr>
        <p:spPr>
          <a:xfrm rot="3991519" flipH="1">
            <a:off x="8624646" y="888223"/>
            <a:ext cx="508463" cy="1322791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Down Arrow 27"/>
          <p:cNvSpPr/>
          <p:nvPr/>
        </p:nvSpPr>
        <p:spPr>
          <a:xfrm>
            <a:off x="9301790" y="2311224"/>
            <a:ext cx="350306" cy="93980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Down Arrow 28"/>
          <p:cNvSpPr/>
          <p:nvPr/>
        </p:nvSpPr>
        <p:spPr>
          <a:xfrm>
            <a:off x="9265016" y="4204683"/>
            <a:ext cx="350306" cy="93980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0" name="Down Arrow 29"/>
          <p:cNvSpPr/>
          <p:nvPr/>
        </p:nvSpPr>
        <p:spPr>
          <a:xfrm rot="6670869">
            <a:off x="2434762" y="1563761"/>
            <a:ext cx="355804" cy="93980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Down Arrow 30"/>
          <p:cNvSpPr/>
          <p:nvPr/>
        </p:nvSpPr>
        <p:spPr>
          <a:xfrm rot="5400000">
            <a:off x="7042153" y="1886512"/>
            <a:ext cx="462371" cy="939800"/>
          </a:xfrm>
          <a:prstGeom prst="downArrow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96900" y="177800"/>
            <a:ext cx="0" cy="62611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96899" y="6415603"/>
            <a:ext cx="11430001" cy="2329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 rot="16200000">
            <a:off x="-1191670" y="4747871"/>
            <a:ext cx="2836525" cy="453185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241300" y="911192"/>
            <a:ext cx="0" cy="4417489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2085" y="6426914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Friendly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968785" y="6415603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Hostile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755435" y="6395526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33176" y="3744765"/>
            <a:ext cx="1169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 capability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53154" y="1584607"/>
            <a:ext cx="1169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Strengthen friendly actors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46842" y="804699"/>
            <a:ext cx="1169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Moderate 1</a:t>
            </a:r>
            <a:r>
              <a:rPr lang="en-IE" sz="12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Lady’s position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52096" y="2203662"/>
            <a:ext cx="1169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General’s Position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88430" y="3192866"/>
            <a:ext cx="1490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Influence </a:t>
            </a:r>
            <a:r>
              <a:rPr lang="en-IE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Opp</a:t>
            </a:r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Parties towards friendly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70410" y="3929383"/>
            <a:ext cx="93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Degrade capability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488638" y="4377933"/>
            <a:ext cx="93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Degrade capability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983267" y="4775200"/>
            <a:ext cx="93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Degrade capability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22657" y="866866"/>
            <a:ext cx="1048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Maintain Relationship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42394" y="1765641"/>
            <a:ext cx="93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hostility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53588" y="449527"/>
            <a:ext cx="1048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Maintain Relationship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00777" y="409113"/>
            <a:ext cx="1048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Maintain Relationship</a:t>
            </a:r>
            <a:endParaRPr lang="en-I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79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2" grpId="0"/>
      <p:bldP spid="36" grpId="0"/>
      <p:bldP spid="38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9492" y="124388"/>
            <a:ext cx="11430000" cy="6261100"/>
          </a:xfrm>
          <a:prstGeom prst="rect">
            <a:avLst/>
          </a:prstGeom>
          <a:gradFill>
            <a:gsLst>
              <a:gs pos="50000">
                <a:schemeClr val="accent5">
                  <a:lumMod val="20000"/>
                  <a:lumOff val="80000"/>
                </a:schemeClr>
              </a:gs>
              <a:gs pos="20000">
                <a:schemeClr val="accent1">
                  <a:lumMod val="75000"/>
                </a:schemeClr>
              </a:gs>
              <a:gs pos="81000">
                <a:srgbClr val="FF7C80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ounded Rectangle 4"/>
          <p:cNvSpPr/>
          <p:nvPr/>
        </p:nvSpPr>
        <p:spPr>
          <a:xfrm>
            <a:off x="1751704" y="2479262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26234" y="1211223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E" sz="90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Lady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17672" y="4039159"/>
            <a:ext cx="746760" cy="406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39498" y="2990096"/>
            <a:ext cx="746760" cy="406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GOM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90540" y="5107066"/>
            <a:ext cx="744220" cy="44323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Armed Gangs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911176" y="4974463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 Network</a:t>
            </a:r>
            <a:endParaRPr lang="en-IE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3115" y="3071971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RAAF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486258" y="3368876"/>
            <a:ext cx="746760" cy="406400"/>
          </a:xfrm>
          <a:prstGeom prst="round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860908" y="3850088"/>
            <a:ext cx="744220" cy="443230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APF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59674" y="1687076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CIDG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7380" y="2452333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96900" y="177800"/>
            <a:ext cx="0" cy="62611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96899" y="6415603"/>
            <a:ext cx="11430001" cy="2329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 rot="16200000">
            <a:off x="-1191670" y="4747871"/>
            <a:ext cx="2836525" cy="453185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241300" y="911192"/>
            <a:ext cx="0" cy="4417489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2085" y="6426914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Friendly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968785" y="6415603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Hostile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755435" y="6395526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004944" y="746905"/>
            <a:ext cx="746760" cy="406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Quelo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892798" y="3149801"/>
            <a:ext cx="746760" cy="406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YAM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04081" y="4445559"/>
            <a:ext cx="746760" cy="406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826234" y="1701045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Manori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11112" y="3479207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IDPs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818297" y="2990096"/>
            <a:ext cx="795764" cy="406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Uvembi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796074" y="2708601"/>
            <a:ext cx="746760" cy="406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240844" y="5841989"/>
            <a:ext cx="746760" cy="406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MOL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own Arrow 2"/>
          <p:cNvSpPr/>
          <p:nvPr/>
        </p:nvSpPr>
        <p:spPr>
          <a:xfrm rot="7487223">
            <a:off x="4910090" y="1941490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Equal 20"/>
          <p:cNvSpPr/>
          <p:nvPr/>
        </p:nvSpPr>
        <p:spPr>
          <a:xfrm>
            <a:off x="1811693" y="697216"/>
            <a:ext cx="791923" cy="521030"/>
          </a:xfrm>
          <a:prstGeom prst="mathEqual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61" name="Down Arrow 60"/>
          <p:cNvSpPr/>
          <p:nvPr/>
        </p:nvSpPr>
        <p:spPr>
          <a:xfrm rot="7487223">
            <a:off x="4850311" y="985605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2" name="Down Arrow 61"/>
          <p:cNvSpPr/>
          <p:nvPr/>
        </p:nvSpPr>
        <p:spPr>
          <a:xfrm rot="10800000">
            <a:off x="7851448" y="1839863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4" name="Down Arrow 63"/>
          <p:cNvSpPr/>
          <p:nvPr/>
        </p:nvSpPr>
        <p:spPr>
          <a:xfrm rot="10800000">
            <a:off x="9842808" y="2193773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TextBox 24"/>
          <p:cNvSpPr txBox="1"/>
          <p:nvPr/>
        </p:nvSpPr>
        <p:spPr>
          <a:xfrm>
            <a:off x="1654140" y="254000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Reassure</a:t>
            </a:r>
            <a:endParaRPr lang="en-IE" dirty="0"/>
          </a:p>
        </p:txBody>
      </p:sp>
      <p:sp>
        <p:nvSpPr>
          <p:cNvPr id="65" name="TextBox 64"/>
          <p:cNvSpPr txBox="1"/>
          <p:nvPr/>
        </p:nvSpPr>
        <p:spPr>
          <a:xfrm>
            <a:off x="3247428" y="1033580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Maintain</a:t>
            </a:r>
            <a:endParaRPr lang="en-IE" dirty="0"/>
          </a:p>
        </p:txBody>
      </p:sp>
      <p:sp>
        <p:nvSpPr>
          <p:cNvPr id="66" name="TextBox 65"/>
          <p:cNvSpPr txBox="1"/>
          <p:nvPr/>
        </p:nvSpPr>
        <p:spPr>
          <a:xfrm>
            <a:off x="3266178" y="1971438"/>
            <a:ext cx="1444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Persuade &amp; Reassure</a:t>
            </a:r>
            <a:endParaRPr lang="en-IE" dirty="0"/>
          </a:p>
        </p:txBody>
      </p:sp>
      <p:sp>
        <p:nvSpPr>
          <p:cNvPr id="67" name="TextBox 66"/>
          <p:cNvSpPr txBox="1"/>
          <p:nvPr/>
        </p:nvSpPr>
        <p:spPr>
          <a:xfrm>
            <a:off x="7668218" y="1344139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Persuade</a:t>
            </a:r>
            <a:endParaRPr lang="en-IE" dirty="0"/>
          </a:p>
        </p:txBody>
      </p:sp>
      <p:sp>
        <p:nvSpPr>
          <p:cNvPr id="68" name="TextBox 67"/>
          <p:cNvSpPr txBox="1"/>
          <p:nvPr/>
        </p:nvSpPr>
        <p:spPr>
          <a:xfrm>
            <a:off x="9445598" y="1776117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Discredit</a:t>
            </a:r>
            <a:endParaRPr lang="en-IE" dirty="0"/>
          </a:p>
        </p:txBody>
      </p:sp>
      <p:sp>
        <p:nvSpPr>
          <p:cNvPr id="69" name="Down Arrow 68"/>
          <p:cNvSpPr/>
          <p:nvPr/>
        </p:nvSpPr>
        <p:spPr>
          <a:xfrm rot="10800000">
            <a:off x="10928236" y="3681437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0" name="TextBox 69"/>
          <p:cNvSpPr txBox="1"/>
          <p:nvPr/>
        </p:nvSpPr>
        <p:spPr>
          <a:xfrm>
            <a:off x="10531026" y="3263781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Discredit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4597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95</Words>
  <Application>Microsoft Office PowerPoint</Application>
  <PresentationFormat>Widescreen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DOD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39</cp:revision>
  <dcterms:created xsi:type="dcterms:W3CDTF">2025-02-11T21:02:12Z</dcterms:created>
  <dcterms:modified xsi:type="dcterms:W3CDTF">2025-04-02T13:45:27Z</dcterms:modified>
</cp:coreProperties>
</file>