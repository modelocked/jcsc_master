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4" r:id="rId3"/>
    <p:sldId id="266" r:id="rId4"/>
    <p:sldId id="257" r:id="rId5"/>
    <p:sldId id="265" r:id="rId6"/>
    <p:sldId id="267" r:id="rId7"/>
    <p:sldId id="264" r:id="rId8"/>
    <p:sldId id="268" r:id="rId9"/>
    <p:sldId id="269" r:id="rId10"/>
    <p:sldId id="270" r:id="rId11"/>
    <p:sldId id="271" r:id="rId12"/>
    <p:sldId id="272" r:id="rId13"/>
    <p:sldId id="273" r:id="rId14"/>
    <p:sldId id="275" r:id="rId15"/>
    <p:sldId id="263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2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3">
          <p15:clr>
            <a:srgbClr val="A4A3A4"/>
          </p15:clr>
        </p15:guide>
        <p15:guide id="4" orient="horz" pos="2750">
          <p15:clr>
            <a:srgbClr val="A4A3A4"/>
          </p15:clr>
        </p15:guide>
        <p15:guide id="5" pos="2064">
          <p15:clr>
            <a:srgbClr val="A4A3A4"/>
          </p15:clr>
        </p15:guide>
        <p15:guide id="6" pos="220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3A19"/>
    <a:srgbClr val="E2B0A3"/>
    <a:srgbClr val="B58233"/>
    <a:srgbClr val="E1CDAD"/>
    <a:srgbClr val="1D707C"/>
    <a:srgbClr val="A5C6CB"/>
    <a:srgbClr val="0C909D"/>
    <a:srgbClr val="6DBCC4"/>
    <a:srgbClr val="9ED3D8"/>
    <a:srgbClr val="CDC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7958" autoAdjust="0"/>
    <p:restoredTop sz="92945" autoAdjust="0"/>
  </p:normalViewPr>
  <p:slideViewPr>
    <p:cSldViewPr>
      <p:cViewPr>
        <p:scale>
          <a:sx n="100" d="100"/>
          <a:sy n="100" d="100"/>
        </p:scale>
        <p:origin x="-2274" y="-192"/>
      </p:cViewPr>
      <p:guideLst>
        <p:guide orient="horz" pos="1622"/>
        <p:guide orient="horz" pos="1933"/>
        <p:guide orient="horz" pos="2750"/>
        <p:guide pos="2880"/>
        <p:guide pos="2064"/>
        <p:guide pos="2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24" y="-84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26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59" y="0"/>
            <a:ext cx="3038604" cy="46526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B841F-702C-4B40-8514-1912FE2C986C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48"/>
            <a:ext cx="3038604" cy="4652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59" y="8829648"/>
            <a:ext cx="3038604" cy="4652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8D9BE-8EC3-4497-94B4-7AA969EA9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6962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26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59" y="0"/>
            <a:ext cx="3038604" cy="46526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DD29F-483B-417B-8995-B33B6E256D02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713" y="4416311"/>
            <a:ext cx="5608975" cy="41829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48"/>
            <a:ext cx="3038604" cy="4652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59" y="8829648"/>
            <a:ext cx="3038604" cy="4652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AE81E-CC4F-4ABC-A4B2-871B8F63E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649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48000" y="0"/>
            <a:ext cx="1296000" cy="6372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pic>
        <p:nvPicPr>
          <p:cNvPr id="4098" name="Picture 2" descr="G:\01_CMDG\08_PAO\01_PAO_CORPORATE-DESIGN\Department Icons\JPOD\20160531_NU_JPOD_Icon_6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000" y="3060000"/>
            <a:ext cx="1296000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5" y="5112629"/>
            <a:ext cx="7512793" cy="100467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0" y="189034"/>
            <a:ext cx="2281154" cy="57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>
          <a:xfrm rot="2700000">
            <a:off x="3093189" y="2242815"/>
            <a:ext cx="2884736" cy="468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pic>
        <p:nvPicPr>
          <p:cNvPr id="19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0" y="1764000"/>
            <a:ext cx="4516257" cy="2592000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 userDrawn="1"/>
        </p:nvSpPr>
        <p:spPr>
          <a:xfrm>
            <a:off x="0" y="1296000"/>
            <a:ext cx="3672000" cy="468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26" name="Right Triangle 25"/>
          <p:cNvSpPr/>
          <p:nvPr userDrawn="1"/>
        </p:nvSpPr>
        <p:spPr>
          <a:xfrm rot="16200000">
            <a:off x="3492000" y="3060000"/>
            <a:ext cx="1296144" cy="1296144"/>
          </a:xfrm>
          <a:prstGeom prst="rtTriangle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4788000" y="3060000"/>
            <a:ext cx="3060000" cy="1296000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3403553"/>
            <a:ext cx="3655976" cy="609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 Plans and Operations Department (JPOD)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0269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84788"/>
            <a:ext cx="6984864" cy="63192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774964"/>
            <a:ext cx="1854336" cy="11988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519063"/>
            <a:ext cx="32964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000" y="6372000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1199999"/>
            <a:ext cx="8568630" cy="504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6403400"/>
            <a:ext cx="480502" cy="456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" y="180000"/>
            <a:ext cx="1431625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657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84788"/>
            <a:ext cx="6984864" cy="63192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774964"/>
            <a:ext cx="1854336" cy="11988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519063"/>
            <a:ext cx="32964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6403400"/>
            <a:ext cx="480502" cy="456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1199999"/>
            <a:ext cx="4140000" cy="504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1199999"/>
            <a:ext cx="4140000" cy="504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21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" y="180000"/>
            <a:ext cx="1431625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000" y="6372000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763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84788"/>
            <a:ext cx="6984864" cy="63192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774964"/>
            <a:ext cx="1854336" cy="11988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519063"/>
            <a:ext cx="32964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6403400"/>
            <a:ext cx="480502" cy="456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1200000"/>
            <a:ext cx="8568000" cy="50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18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" y="180000"/>
            <a:ext cx="1431625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000" y="6372000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3609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267962" y="6403400"/>
            <a:ext cx="480502" cy="456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38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pic>
        <p:nvPicPr>
          <p:cNvPr id="8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000" y="6372000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798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48000" y="0"/>
            <a:ext cx="1296000" cy="6372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7" name="Picture 2" descr="G:\01_CMDG\08_PAO\01_PAO_CORPORATE-DESIGN\QR_Codes\20170824_NU_qrcode_nso_startpage.jp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00" y="72000"/>
            <a:ext cx="1152000" cy="11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0" y="189034"/>
            <a:ext cx="2281154" cy="57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:\01_CMDG\08_PAO\01_PAO_CORPORATE-DESIGN\Department Icons\JPOD\20160531_NU_JPOD_Icon_600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000" y="3060000"/>
            <a:ext cx="1296000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 userDrawn="1"/>
        </p:nvSpPr>
        <p:spPr>
          <a:xfrm rot="2700000">
            <a:off x="3093189" y="2242815"/>
            <a:ext cx="2884736" cy="468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pic>
        <p:nvPicPr>
          <p:cNvPr id="13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0" y="1764000"/>
            <a:ext cx="4516257" cy="2592000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1296000"/>
            <a:ext cx="3672000" cy="468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21" name="Right Triangle 20"/>
          <p:cNvSpPr/>
          <p:nvPr userDrawn="1"/>
        </p:nvSpPr>
        <p:spPr>
          <a:xfrm rot="16200000">
            <a:off x="3492000" y="3060000"/>
            <a:ext cx="1296144" cy="1296144"/>
          </a:xfrm>
          <a:prstGeom prst="rtTriangle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4788000" y="3060000"/>
            <a:ext cx="3060000" cy="1296000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4283968" y="3403553"/>
            <a:ext cx="3655976" cy="609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 Plans and Operations Department (JPOD)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2052000" y="4860000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7848000" y="1260000"/>
            <a:ext cx="12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the NSO Website</a:t>
            </a:r>
            <a:endParaRPr lang="en-GB" sz="12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3142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145213" y="6410325"/>
            <a:ext cx="757237" cy="365125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 smtClean="0"/>
              <a:t>4 December 2013</a:t>
            </a:r>
            <a:endParaRPr lang="en-GB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95600" y="6235700"/>
            <a:ext cx="3352800" cy="688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NATO UNCLASSIFIED</a:t>
            </a:r>
            <a:endParaRPr lang="en-GB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38963" y="6410325"/>
            <a:ext cx="73818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752475" cy="69532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 smtClean="0"/>
              <a:t>JPOD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45169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PD_separate_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pic>
        <p:nvPicPr>
          <p:cNvPr id="6" name="Bild 9" descr="NATO_Star.png"/>
          <p:cNvPicPr>
            <a:picLocks noChangeAspect="1"/>
          </p:cNvPicPr>
          <p:nvPr userDrawn="1"/>
        </p:nvPicPr>
        <p:blipFill>
          <a:blip r:embed="rId2"/>
          <a:srcRect t="14047" r="35991"/>
          <a:stretch>
            <a:fillRect/>
          </a:stretch>
        </p:blipFill>
        <p:spPr bwMode="auto">
          <a:xfrm>
            <a:off x="3302000" y="9525"/>
            <a:ext cx="5853113" cy="567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hteck 6"/>
          <p:cNvSpPr/>
          <p:nvPr userDrawn="1"/>
        </p:nvSpPr>
        <p:spPr>
          <a:xfrm>
            <a:off x="0" y="0"/>
            <a:ext cx="236538" cy="236538"/>
          </a:xfrm>
          <a:prstGeom prst="rect">
            <a:avLst/>
          </a:prstGeom>
          <a:solidFill>
            <a:srgbClr val="61814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5554800" cy="4935600"/>
          </a:xfrm>
          <a:prstGeom prst="rect">
            <a:avLst/>
          </a:prstGeom>
        </p:spPr>
        <p:txBody>
          <a:bodyPr numCol="1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0"/>
          </p:nvPr>
        </p:nvSpPr>
        <p:spPr>
          <a:xfrm>
            <a:off x="6289200" y="1134531"/>
            <a:ext cx="2397600" cy="4935600"/>
          </a:xfrm>
          <a:prstGeom prst="rect">
            <a:avLst/>
          </a:prstGeom>
        </p:spPr>
        <p:txBody>
          <a:bodyPr numCol="1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0"/>
            <a:endParaRPr lang="en-US" dirty="0" smtClean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938963" y="6410325"/>
            <a:ext cx="738187" cy="365125"/>
          </a:xfrm>
          <a:prstGeom prst="rect">
            <a:avLst/>
          </a:prstGeom>
        </p:spPr>
        <p:txBody>
          <a:bodyPr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/>
              <a:t>| Slide </a:t>
            </a:r>
            <a:fld id="{D4BEFFE6-BC91-4D65-8F4B-B939F59624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9" name="Fußzeilenplatzhalter 7"/>
          <p:cNvSpPr>
            <a:spLocks noGrp="1"/>
          </p:cNvSpPr>
          <p:nvPr>
            <p:ph type="ftr" sz="quarter" idx="12"/>
          </p:nvPr>
        </p:nvSpPr>
        <p:spPr>
          <a:xfrm>
            <a:off x="2895600" y="6235700"/>
            <a:ext cx="3352800" cy="68897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6145213" y="6410325"/>
            <a:ext cx="757237" cy="365125"/>
          </a:xfrm>
          <a:prstGeom prst="rect">
            <a:avLst/>
          </a:prstGeom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r>
              <a:rPr lang="en-US"/>
              <a:t>17 April 2013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68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PD_one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4"/>
          <p:cNvSpPr/>
          <p:nvPr userDrawn="1"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pic>
        <p:nvPicPr>
          <p:cNvPr id="5" name="Bild 9" descr="NATO_Star.png"/>
          <p:cNvPicPr>
            <a:picLocks noChangeAspect="1"/>
          </p:cNvPicPr>
          <p:nvPr userDrawn="1"/>
        </p:nvPicPr>
        <p:blipFill>
          <a:blip r:embed="rId2"/>
          <a:srcRect t="14047" r="35991"/>
          <a:stretch>
            <a:fillRect/>
          </a:stretch>
        </p:blipFill>
        <p:spPr bwMode="auto">
          <a:xfrm>
            <a:off x="3302000" y="9525"/>
            <a:ext cx="5853113" cy="567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hteck 6"/>
          <p:cNvSpPr/>
          <p:nvPr userDrawn="1"/>
        </p:nvSpPr>
        <p:spPr>
          <a:xfrm>
            <a:off x="0" y="0"/>
            <a:ext cx="236538" cy="236538"/>
          </a:xfrm>
          <a:prstGeom prst="rect">
            <a:avLst/>
          </a:prstGeom>
          <a:solidFill>
            <a:srgbClr val="61814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8229600" cy="4935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938963" y="6410325"/>
            <a:ext cx="738187" cy="365125"/>
          </a:xfrm>
          <a:prstGeom prst="rect">
            <a:avLst/>
          </a:prstGeom>
        </p:spPr>
        <p:txBody>
          <a:bodyPr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/>
              <a:t>| Slide </a:t>
            </a:r>
            <a:fld id="{50C4239F-5052-4537-A2DB-F2B65071D5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2895600" y="6235700"/>
            <a:ext cx="3352800" cy="68897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>
          <a:xfrm>
            <a:off x="6145213" y="6410325"/>
            <a:ext cx="757237" cy="365125"/>
          </a:xfrm>
          <a:prstGeom prst="rect">
            <a:avLst/>
          </a:prstGeom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r>
              <a:rPr lang="en-US"/>
              <a:t>17 April 2013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7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SO_one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4"/>
          <p:cNvSpPr/>
          <p:nvPr userDrawn="1"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5" name="Rechteck 6"/>
          <p:cNvSpPr/>
          <p:nvPr userDrawn="1"/>
        </p:nvSpPr>
        <p:spPr>
          <a:xfrm>
            <a:off x="0" y="0"/>
            <a:ext cx="236538" cy="236538"/>
          </a:xfrm>
          <a:prstGeom prst="rect">
            <a:avLst/>
          </a:prstGeom>
          <a:solidFill>
            <a:srgbClr val="033E5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pic>
        <p:nvPicPr>
          <p:cNvPr id="6" name="Bild 9" descr="NATO_Star.png"/>
          <p:cNvPicPr>
            <a:picLocks noChangeAspect="1"/>
          </p:cNvPicPr>
          <p:nvPr userDrawn="1"/>
        </p:nvPicPr>
        <p:blipFill>
          <a:blip r:embed="rId2"/>
          <a:srcRect t="14047" r="35991"/>
          <a:stretch>
            <a:fillRect/>
          </a:stretch>
        </p:blipFill>
        <p:spPr bwMode="auto">
          <a:xfrm>
            <a:off x="3302000" y="22225"/>
            <a:ext cx="5853113" cy="567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8229600" cy="4935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7" name="Fußzeilenplatzhalter 7"/>
          <p:cNvSpPr>
            <a:spLocks noGrp="1"/>
          </p:cNvSpPr>
          <p:nvPr>
            <p:ph type="ftr" sz="quarter" idx="10"/>
          </p:nvPr>
        </p:nvSpPr>
        <p:spPr>
          <a:xfrm>
            <a:off x="2895600" y="6235700"/>
            <a:ext cx="3352800" cy="6873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938963" y="6410325"/>
            <a:ext cx="738187" cy="365125"/>
          </a:xfrm>
          <a:prstGeom prst="rect">
            <a:avLst/>
          </a:prstGeom>
        </p:spPr>
        <p:txBody>
          <a:bodyPr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/>
              <a:t>| Slide </a:t>
            </a:r>
            <a:fld id="{1506551D-65BC-4B2F-8DBF-E890280EF5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>
          <a:xfrm>
            <a:off x="6145213" y="6410325"/>
            <a:ext cx="757237" cy="365125"/>
          </a:xfrm>
          <a:prstGeom prst="rect">
            <a:avLst/>
          </a:prstGeom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r>
              <a:rPr lang="en-US"/>
              <a:t>17 April 2013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64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244475"/>
            <a:ext cx="6985000" cy="97631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" y="1508125"/>
            <a:ext cx="8331200" cy="4787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938967" y="6410415"/>
            <a:ext cx="73820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 smtClean="0">
                <a:solidFill>
                  <a:srgbClr val="1F497D"/>
                </a:solidFill>
              </a:rPr>
              <a:t>| Slide </a:t>
            </a:r>
            <a:fld id="{AC1C9A27-5D71-496E-AC2B-58C1CA833928}" type="slidenum">
              <a:rPr lang="en-GB" smtClean="0">
                <a:solidFill>
                  <a:srgbClr val="1F497D"/>
                </a:solidFill>
              </a:rPr>
              <a:pPr/>
              <a:t>‹#›</a:t>
            </a:fld>
            <a:endParaRPr lang="en-GB" dirty="0">
              <a:solidFill>
                <a:srgbClr val="1F497D"/>
              </a:solidFill>
            </a:endParaRPr>
          </a:p>
        </p:txBody>
      </p:sp>
      <p:sp>
        <p:nvSpPr>
          <p:cNvPr id="6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2895467" y="6235823"/>
            <a:ext cx="3353065" cy="688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r>
              <a:rPr lang="de-DE" dirty="0" smtClean="0"/>
              <a:t>NATO UNCLASSIFIED</a:t>
            </a:r>
            <a:endParaRPr lang="de-DE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6145096" y="6410415"/>
            <a:ext cx="75693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algn="r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/>
            <a:fld id="{CF693CE6-79B8-4533-A98C-FCB19712FC7E}" type="datetime1">
              <a:rPr lang="en-US" smtClean="0">
                <a:solidFill>
                  <a:srgbClr val="1F497D"/>
                </a:solidFill>
              </a:rPr>
              <a:pPr lvl="1"/>
              <a:t>26.05.2022</a:t>
            </a:fld>
            <a:endParaRPr lang="en-GB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4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13">
            <a:alphaModFix amt="20000"/>
          </a:blip>
          <a:srcRect t="14047" r="35991"/>
          <a:stretch>
            <a:fillRect/>
          </a:stretch>
        </p:blipFill>
        <p:spPr>
          <a:xfrm>
            <a:off x="3301735" y="9153"/>
            <a:ext cx="5853069" cy="567250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372000"/>
            <a:ext cx="9144000" cy="468000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3691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50" r:id="rId2"/>
    <p:sldLayoutId id="2147483790" r:id="rId3"/>
    <p:sldLayoutId id="2147483800" r:id="rId4"/>
    <p:sldLayoutId id="2147483810" r:id="rId5"/>
    <p:sldLayoutId id="2147483831" r:id="rId6"/>
    <p:sldLayoutId id="2147483836" r:id="rId7"/>
    <p:sldLayoutId id="2147483837" r:id="rId8"/>
    <p:sldLayoutId id="2147483838" r:id="rId9"/>
    <p:sldLayoutId id="2147483839" r:id="rId10"/>
    <p:sldLayoutId id="214748384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3200" b="1" u="sng" dirty="0" smtClean="0"/>
              <a:t>Medical Logistics</a:t>
            </a:r>
          </a:p>
          <a:p>
            <a:r>
              <a:rPr lang="en-US" b="1" dirty="0" smtClean="0"/>
              <a:t>Lt Col Adam G. Henson, MSC, FACHE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NATO UNCLASSIFIED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400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Overview 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51842" y="1199999"/>
            <a:ext cx="8712646" cy="50400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AJP 4.6. JLSG (How medical fits in)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AJMed P-1, Joint Medical Planning Doctrine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AJMed P-4, Joint Doctrine for Medical Support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AJMed P-2, Joint Medical Doctrine for MEDEVAC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136" y="5157192"/>
            <a:ext cx="1976239" cy="1129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38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AJP 4.6- JLSG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196751"/>
            <a:ext cx="3470045" cy="48965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740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JLSG C2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289050"/>
            <a:ext cx="8943975" cy="4286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>
          <a:xfrm flipH="1">
            <a:off x="162037" y="5224300"/>
            <a:ext cx="233499" cy="0"/>
          </a:xfrm>
          <a:prstGeom prst="line">
            <a:avLst/>
          </a:prstGeom>
          <a:ln w="349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69987" y="3068638"/>
            <a:ext cx="0" cy="2163613"/>
          </a:xfrm>
          <a:prstGeom prst="line">
            <a:avLst/>
          </a:prstGeom>
          <a:ln w="349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69987" y="3076589"/>
            <a:ext cx="2385789" cy="0"/>
          </a:xfrm>
          <a:prstGeom prst="line">
            <a:avLst/>
          </a:prstGeom>
          <a:ln w="349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95536" y="5003651"/>
            <a:ext cx="1008112" cy="4572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/>
          <p:cNvCxnSpPr>
            <a:endCxn id="6" idx="0"/>
          </p:cNvCxnSpPr>
          <p:nvPr/>
        </p:nvCxnSpPr>
        <p:spPr>
          <a:xfrm flipH="1">
            <a:off x="899592" y="4621332"/>
            <a:ext cx="1" cy="382319"/>
          </a:xfrm>
          <a:prstGeom prst="line">
            <a:avLst/>
          </a:prstGeom>
          <a:ln w="349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91642" y="4628834"/>
            <a:ext cx="3464334" cy="0"/>
          </a:xfrm>
          <a:prstGeom prst="line">
            <a:avLst/>
          </a:prstGeom>
          <a:ln w="349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340074" y="4241353"/>
            <a:ext cx="0" cy="387481"/>
          </a:xfrm>
          <a:prstGeom prst="line">
            <a:avLst/>
          </a:prstGeom>
          <a:ln w="349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282555" y="3784153"/>
            <a:ext cx="1584176" cy="457200"/>
          </a:xfrm>
          <a:prstGeom prst="rect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94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JLSG C2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206" y="1073150"/>
            <a:ext cx="6043587" cy="3350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5331835" y="3068638"/>
            <a:ext cx="1152128" cy="36036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251520" y="4509120"/>
            <a:ext cx="88286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Medical Branch:</a:t>
            </a:r>
          </a:p>
          <a:p>
            <a:r>
              <a:rPr lang="en-US" dirty="0" smtClean="0"/>
              <a:t>The medical branch is responsible for the coordination of medical support functions</a:t>
            </a:r>
          </a:p>
          <a:p>
            <a:r>
              <a:rPr lang="en-US" dirty="0"/>
              <a:t>a</a:t>
            </a:r>
            <a:r>
              <a:rPr lang="en-US" dirty="0" smtClean="0"/>
              <a:t>nd elements assigned to COM JLSG and for the integration with the overall C2 structure </a:t>
            </a:r>
          </a:p>
          <a:p>
            <a:r>
              <a:rPr lang="en-US" dirty="0" smtClean="0"/>
              <a:t>In theatre. The senior medical officer of the medical branch acts as the medical advisor </a:t>
            </a:r>
          </a:p>
          <a:p>
            <a:r>
              <a:rPr lang="en-US" dirty="0" smtClean="0"/>
              <a:t>(MEDAD) to COM JLSG.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294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JLSG C2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64" y="931380"/>
            <a:ext cx="5951046" cy="545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305226" y="4192512"/>
            <a:ext cx="863302" cy="36004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AJP 4.6- JLSG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Medical Support in NATO is, in principle a national responsibility</a:t>
            </a:r>
          </a:p>
          <a:p>
            <a:pPr lvl="1"/>
            <a:r>
              <a:rPr lang="en-US" b="1" u="sng" dirty="0" smtClean="0">
                <a:solidFill>
                  <a:srgbClr val="FF0000"/>
                </a:solidFill>
              </a:rPr>
              <a:t>However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smtClean="0">
                <a:solidFill>
                  <a:schemeClr val="tx1"/>
                </a:solidFill>
              </a:rPr>
              <a:t>COM JTF shares the responsibility for medical support of multinational forces</a:t>
            </a:r>
          </a:p>
          <a:p>
            <a:pPr lvl="1"/>
            <a:endParaRPr lang="en-US" sz="1000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JLSG HQ is deployed = medical representation is key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Medical C2 Structure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Patient Evacuation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Medical input to RSOM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Medical re-supply</a:t>
            </a:r>
          </a:p>
          <a:p>
            <a:pPr lvl="1"/>
            <a:endParaRPr lang="en-US" sz="1000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MEDAD will have direct access to COM JLSG  </a:t>
            </a:r>
          </a:p>
        </p:txBody>
      </p:sp>
    </p:spTree>
    <p:extLst>
      <p:ext uri="{BB962C8B-B14F-4D97-AF65-F5344CB8AC3E}">
        <p14:creationId xmlns:p14="http://schemas.microsoft.com/office/powerpoint/2010/main" val="346832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AJP 4.6- JLSG Responsibilities 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smtClean="0">
                <a:solidFill>
                  <a:schemeClr val="tx1"/>
                </a:solidFill>
              </a:rPr>
              <a:t>Medical Branch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Provide medical advice to COM JLSG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Short term planning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Exchange of information (theatre wide), GO, NGOs, IOs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Medical Reporting System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Medical Support to RSOM&amp;I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C2 of Medical Treatment Facilities assigned to JLSG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Coordinating Medical Logistics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Patient Evacuation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PECC- Patient Evacuation Coordination Center</a:t>
            </a:r>
          </a:p>
        </p:txBody>
      </p:sp>
    </p:spTree>
    <p:extLst>
      <p:ext uri="{BB962C8B-B14F-4D97-AF65-F5344CB8AC3E}">
        <p14:creationId xmlns:p14="http://schemas.microsoft.com/office/powerpoint/2010/main" val="127253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AJMed P-1, Joint Medical Planning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268759"/>
            <a:ext cx="3384376" cy="49470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873" y="4797152"/>
            <a:ext cx="1486901" cy="1490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3319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AJMed P-1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en-US" dirty="0" smtClean="0">
                <a:solidFill>
                  <a:schemeClr val="tx1"/>
                </a:solidFill>
              </a:rPr>
              <a:t>uiding principle for medical logistics is that it is a </a:t>
            </a:r>
            <a:r>
              <a:rPr lang="en-US" b="1" u="sng" dirty="0" smtClean="0">
                <a:solidFill>
                  <a:srgbClr val="FF0000"/>
                </a:solidFill>
              </a:rPr>
              <a:t>national responsibility </a:t>
            </a:r>
          </a:p>
          <a:p>
            <a:r>
              <a:rPr lang="en-US" b="1" u="sng" dirty="0" smtClean="0">
                <a:solidFill>
                  <a:srgbClr val="00B050"/>
                </a:solidFill>
              </a:rPr>
              <a:t>However</a:t>
            </a:r>
            <a:r>
              <a:rPr lang="en-US" dirty="0" smtClean="0">
                <a:solidFill>
                  <a:srgbClr val="00B050"/>
                </a:solidFill>
              </a:rPr>
              <a:t>,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multinational solutions may offer efficiencies for the medical supply chain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Due to technical complexity and legal requirements medical logistics factors require full analysis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Blood products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Special handling requirements (pharmaceuticals, gas, etc.)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Prioritization of delivery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Mortuary affairs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Disposal of clinical waste (medical &amp; radiological)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Water, Food, Power     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70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AJMed P-4, Medical Support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173358"/>
            <a:ext cx="3456384" cy="5087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363" y="4773034"/>
            <a:ext cx="1487487" cy="148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6913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AJMed P-4 </a:t>
            </a:r>
            <a:r>
              <a:rPr lang="en-US" sz="2400" dirty="0" smtClean="0">
                <a:solidFill>
                  <a:schemeClr val="tx1"/>
                </a:solidFill>
              </a:rPr>
              <a:t>(Slide 1 of 2)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51842" y="1199999"/>
            <a:ext cx="8712646" cy="50400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The responsibility for planning &amp; executing medical logistics is </a:t>
            </a:r>
            <a:r>
              <a:rPr lang="en-US" b="1" u="sng" dirty="0" smtClean="0">
                <a:solidFill>
                  <a:srgbClr val="FF0000"/>
                </a:solidFill>
              </a:rPr>
              <a:t>shared by the medical &amp; logistics staff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Compliance with Good Distribution Practice (GDP) which is an internationally accepted standard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Interoperability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Property exchange or replacement of medical non-expendable items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Medical supplies- handling instructions (expiration, storage, etc.)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Identification of content (syringes, containers, etc.) STANAG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Medical supplies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Protected under the terms of the Geneva Conventions</a:t>
            </a:r>
            <a:r>
              <a:rPr lang="en-US" dirty="0" smtClean="0">
                <a:solidFill>
                  <a:srgbClr val="FF0000"/>
                </a:solidFill>
              </a:rPr>
              <a:t>*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Regulatory aspects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Handling requirements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Importance</a:t>
            </a:r>
          </a:p>
          <a:p>
            <a:pPr lvl="1"/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10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AJMed P-4 (slide 2 of 2)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51842" y="1199999"/>
            <a:ext cx="8712646" cy="50400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First Aid &amp; Emergency Medical Care Equipment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Blood &amp; Blood products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Stretchers, Litters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Medical Gases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Medical Waste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Medical Stockpile Planning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u="sng" dirty="0" smtClean="0">
                <a:solidFill>
                  <a:schemeClr val="tx1"/>
                </a:solidFill>
              </a:rPr>
              <a:t>AJMed P-2, Medical Evacuation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Ground, Air, Maritime assets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Special challenges for logistics?</a:t>
            </a:r>
            <a:r>
              <a:rPr lang="en-US" b="1" u="sng" dirty="0" smtClean="0">
                <a:solidFill>
                  <a:schemeClr val="tx1"/>
                </a:solidFill>
              </a:rPr>
              <a:t> </a:t>
            </a:r>
          </a:p>
          <a:p>
            <a:endParaRPr lang="en-US" b="1" u="sng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06810"/>
            <a:ext cx="9144000" cy="1151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543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Review  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51842" y="1199999"/>
            <a:ext cx="8712646" cy="50400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AJP 4.6. JLSG (How medical fits in)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AJMed P-1, Joint Medical Planning Doctrine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AJMed P-4, Joint Doctrine for Medical Support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AJMed P-2, Joint Medical Doctrine for MEDEVAC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211" y="4581128"/>
            <a:ext cx="2965423" cy="16817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62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039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POD">
  <a:themeElements>
    <a:clrScheme name="JPOD">
      <a:dk1>
        <a:sysClr val="windowText" lastClr="000000"/>
      </a:dk1>
      <a:lt1>
        <a:sysClr val="window" lastClr="FFFFFF"/>
      </a:lt1>
      <a:dk2>
        <a:srgbClr val="1F497D"/>
      </a:dk2>
      <a:lt2>
        <a:srgbClr val="60814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5B27A65603CCE4286BCFAF569B13952" ma:contentTypeVersion="12" ma:contentTypeDescription="Criar um novo documento." ma:contentTypeScope="" ma:versionID="e8ed86e5e11f9f02dcb9587e66bef5b7">
  <xsd:schema xmlns:xsd="http://www.w3.org/2001/XMLSchema" xmlns:xs="http://www.w3.org/2001/XMLSchema" xmlns:p="http://schemas.microsoft.com/office/2006/metadata/properties" xmlns:ns2="1c3fb4c2-0da0-4d0a-ba1a-d31282cddde4" xmlns:ns3="768ec260-3609-4363-825e-a27f12258866" targetNamespace="http://schemas.microsoft.com/office/2006/metadata/properties" ma:root="true" ma:fieldsID="e12a2af26451616c9c41a45c543fea80" ns2:_="" ns3:_="">
    <xsd:import namespace="1c3fb4c2-0da0-4d0a-ba1a-d31282cddde4"/>
    <xsd:import namespace="768ec260-3609-4363-825e-a27f122588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3fb4c2-0da0-4d0a-ba1a-d31282cddd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m" ma:readOnly="false" ma:fieldId="{5cf76f15-5ced-4ddc-b409-7134ff3c332f}" ma:taxonomyMulti="true" ma:sspId="f8f0716f-eab5-442c-b43b-7dcdbaec42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8ec260-3609-4363-825e-a27f122588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62ef64b-3660-49a0-8a9d-71bfcb2a4adc}" ma:internalName="TaxCatchAll" ma:showField="CatchAllData" ma:web="768ec260-3609-4363-825e-a27f122588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3fb4c2-0da0-4d0a-ba1a-d31282cddde4">
      <Terms xmlns="http://schemas.microsoft.com/office/infopath/2007/PartnerControls"/>
    </lcf76f155ced4ddcb4097134ff3c332f>
    <TaxCatchAll xmlns="768ec260-3609-4363-825e-a27f12258866" xsi:nil="true"/>
  </documentManagement>
</p:properties>
</file>

<file path=customXml/itemProps1.xml><?xml version="1.0" encoding="utf-8"?>
<ds:datastoreItem xmlns:ds="http://schemas.openxmlformats.org/officeDocument/2006/customXml" ds:itemID="{042B938F-0DE5-4834-9CD7-12E39C8E3ED7}"/>
</file>

<file path=customXml/itemProps2.xml><?xml version="1.0" encoding="utf-8"?>
<ds:datastoreItem xmlns:ds="http://schemas.openxmlformats.org/officeDocument/2006/customXml" ds:itemID="{3AD24F80-6109-44B9-8BC8-DAB9125DD9F8}"/>
</file>

<file path=customXml/itemProps3.xml><?xml version="1.0" encoding="utf-8"?>
<ds:datastoreItem xmlns:ds="http://schemas.openxmlformats.org/officeDocument/2006/customXml" ds:itemID="{CEC8E103-EFB2-4BDA-8BBD-F433399B936D}"/>
</file>

<file path=docProps/app.xml><?xml version="1.0" encoding="utf-8"?>
<Properties xmlns="http://schemas.openxmlformats.org/officeDocument/2006/extended-properties" xmlns:vt="http://schemas.openxmlformats.org/officeDocument/2006/docPropsVTypes">
  <Template>20210119_NU_PAO_CD_Template_PPTMaster_4by3</Template>
  <TotalTime>4242</TotalTime>
  <Words>485</Words>
  <Application>Microsoft Office PowerPoint</Application>
  <PresentationFormat>On-screen Show (4:3)</PresentationFormat>
  <Paragraphs>100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JPOD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NATO School Oberammergau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Warthen, Nathaniel  (MAJ, USA-M)</dc:creator>
  <cp:lastModifiedBy>De Waal, Johannes (OF-3, NLD-A)</cp:lastModifiedBy>
  <cp:revision>92</cp:revision>
  <cp:lastPrinted>2021-07-07T12:56:23Z</cp:lastPrinted>
  <dcterms:created xsi:type="dcterms:W3CDTF">2021-02-03T13:34:31Z</dcterms:created>
  <dcterms:modified xsi:type="dcterms:W3CDTF">2022-05-26T13:43:08Z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0x01010065B27A65603CCE4286BCFAF569B13952</vt:lpwstr>
  </property>
</Properties>
</file>