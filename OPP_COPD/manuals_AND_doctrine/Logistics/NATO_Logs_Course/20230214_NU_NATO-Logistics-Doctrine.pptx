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lsx" ContentType="application/vnd.openxmlformats-officedocument.spreadsheetml.sheet"/>
  <Default Extension="xml" ContentType="application/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Layouts/slideLayout60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Layouts/slideLayout5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8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9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12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775" r:id="rId2"/>
    <p:sldMasterId id="2147483732" r:id="rId3"/>
    <p:sldMasterId id="2147483727" r:id="rId4"/>
    <p:sldMasterId id="2147483737" r:id="rId5"/>
    <p:sldMasterId id="2147483742" r:id="rId6"/>
    <p:sldMasterId id="2147483747" r:id="rId7"/>
    <p:sldMasterId id="2147483678" r:id="rId8"/>
    <p:sldMasterId id="2147483757" r:id="rId9"/>
    <p:sldMasterId id="2147483762" r:id="rId10"/>
  </p:sldMasterIdLst>
  <p:notesMasterIdLst>
    <p:notesMasterId r:id="rId22"/>
  </p:notesMasterIdLst>
  <p:handoutMasterIdLst>
    <p:handoutMasterId r:id="rId23"/>
  </p:handoutMasterIdLst>
  <p:sldIdLst>
    <p:sldId id="256" r:id="rId11"/>
    <p:sldId id="324" r:id="rId12"/>
    <p:sldId id="321" r:id="rId13"/>
    <p:sldId id="330" r:id="rId14"/>
    <p:sldId id="326" r:id="rId15"/>
    <p:sldId id="328" r:id="rId16"/>
    <p:sldId id="325" r:id="rId17"/>
    <p:sldId id="327" r:id="rId18"/>
    <p:sldId id="323" r:id="rId19"/>
    <p:sldId id="329" r:id="rId20"/>
    <p:sldId id="287" r:id="rId21"/>
  </p:sldIdLst>
  <p:sldSz cx="9144000" cy="5143500" type="screen16x9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2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>
          <p15:clr>
            <a:srgbClr val="A4A3A4"/>
          </p15:clr>
        </p15:guide>
        <p15:guide id="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4F8"/>
    <a:srgbClr val="C8E5EE"/>
    <a:srgbClr val="99FF66"/>
    <a:srgbClr val="66FF66"/>
    <a:srgbClr val="D7FFAF"/>
    <a:srgbClr val="CCFF99"/>
    <a:srgbClr val="66FF33"/>
    <a:srgbClr val="ADC5D7"/>
    <a:srgbClr val="818181"/>
    <a:srgbClr val="817A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33" autoAdjust="0"/>
    <p:restoredTop sz="93605" autoAdjust="0"/>
  </p:normalViewPr>
  <p:slideViewPr>
    <p:cSldViewPr>
      <p:cViewPr varScale="1">
        <p:scale>
          <a:sx n="137" d="100"/>
          <a:sy n="137" d="100"/>
        </p:scale>
        <p:origin x="1038" y="90"/>
      </p:cViewPr>
      <p:guideLst>
        <p:guide orient="horz" pos="1622"/>
        <p:guide pos="2880"/>
        <p:guide orient="horz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92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236-4909-9890-9EC13969DB28}"/>
              </c:ext>
            </c:extLst>
          </c:dPt>
          <c:dPt>
            <c:idx val="1"/>
            <c:bubble3D val="0"/>
            <c:spPr>
              <a:solidFill>
                <a:schemeClr val="bg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236-4909-9890-9EC13969DB28}"/>
              </c:ext>
            </c:extLst>
          </c:dPt>
          <c:dPt>
            <c:idx val="2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236-4909-9890-9EC13969DB28}"/>
              </c:ext>
            </c:extLst>
          </c:dPt>
          <c:dLbls>
            <c:dLbl>
              <c:idx val="0"/>
              <c:layout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mtClean="0"/>
                      <a:t>Management</a:t>
                    </a:r>
                    <a:br>
                      <a:rPr lang="en-US" smtClean="0"/>
                    </a:br>
                    <a:r>
                      <a:rPr lang="en-US" smtClean="0"/>
                      <a:t>Phase</a:t>
                    </a:r>
                    <a:endParaRPr lang="en-US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3236-4909-9890-9EC13969DB28}"/>
                </c:ext>
              </c:extLst>
            </c:dLbl>
            <c:dLbl>
              <c:idx val="1"/>
              <c:layout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 smtClean="0">
                        <a:solidFill>
                          <a:schemeClr val="bg1"/>
                        </a:solidFill>
                      </a:rPr>
                      <a:t>Review</a:t>
                    </a:r>
                    <a:r>
                      <a:rPr lang="en-US" baseline="0" dirty="0" smtClean="0">
                        <a:solidFill>
                          <a:schemeClr val="bg1"/>
                        </a:solidFill>
                      </a:rPr>
                      <a:t> Phase</a:t>
                    </a:r>
                    <a:endParaRPr lang="en-US" dirty="0">
                      <a:solidFill>
                        <a:schemeClr val="bg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3236-4909-9890-9EC13969DB28}"/>
                </c:ext>
              </c:extLst>
            </c:dLbl>
            <c:dLbl>
              <c:idx val="2"/>
              <c:layout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mtClean="0">
                        <a:solidFill>
                          <a:schemeClr val="tx1"/>
                        </a:solidFill>
                      </a:rPr>
                      <a:t>Development</a:t>
                    </a:r>
                    <a:br>
                      <a:rPr lang="en-US" smtClean="0">
                        <a:solidFill>
                          <a:schemeClr val="tx1"/>
                        </a:solidFill>
                      </a:rPr>
                    </a:br>
                    <a:r>
                      <a:rPr lang="en-US" smtClean="0">
                        <a:solidFill>
                          <a:schemeClr val="tx1"/>
                        </a:solidFill>
                      </a:rPr>
                      <a:t>Phase</a:t>
                    </a:r>
                    <a:endParaRPr lang="en-US" dirty="0">
                      <a:solidFill>
                        <a:schemeClr val="tx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3236-4909-9890-9EC13969DB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3"/>
                <c:pt idx="0">
                  <c:v>3.3</c:v>
                </c:pt>
                <c:pt idx="1">
                  <c:v>3.3</c:v>
                </c:pt>
                <c:pt idx="2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236-4909-9890-9EC13969DB2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203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B841F-702C-4B40-8514-1912FE2C986C}" type="datetimeFigureOut">
              <a:rPr lang="en-GB" smtClean="0"/>
              <a:t>25/02/2023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78D9BE-8EC3-4497-94B4-7AA969EA95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6962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DD29F-483B-417B-8995-B33B6E256D02}" type="datetimeFigureOut">
              <a:rPr lang="en-GB" smtClean="0"/>
              <a:t>25/02/2023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AE81E-CC4F-4ABC-A4B2-871B8F63E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649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jpeg"/><Relationship Id="rId4" Type="http://schemas.openxmlformats.org/officeDocument/2006/relationships/image" Target="../media/image6.w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884000" y="-4065"/>
            <a:ext cx="1260000" cy="4783570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0" name="Right Triangle 9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Picture 6" descr="G:\01_CMDG\08_PAO\01_PAO_CORPORATE-DESIGN\NATO Star\20150309_UC_NATO_Star_white_bg_transparent.png"/>
          <p:cNvPicPr>
            <a:picLocks noChangeAspect="1" noChangeArrowheads="1"/>
          </p:cNvPicPr>
          <p:nvPr userDrawn="1"/>
        </p:nvPicPr>
        <p:blipFill rotWithShape="1"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2488"/>
          <a:stretch/>
        </p:blipFill>
        <p:spPr bwMode="auto">
          <a:xfrm>
            <a:off x="7884000" y="2405406"/>
            <a:ext cx="1419326" cy="142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 userDrawn="1"/>
        </p:nvSpPr>
        <p:spPr>
          <a:xfrm>
            <a:off x="4345024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Academic Directorate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345024" y="2840019"/>
            <a:ext cx="3655976" cy="45720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Knowledge Enables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apability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hevron 16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99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3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16" name="Picture 3" descr="G:\01_CMDG\08_PAO\01_PAO_CORPORATE-DESIGN\NSO_Logos\NSO_Eagle\Logo_NATO_School_Logo_RGB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492" y="4783500"/>
            <a:ext cx="35950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987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1"/>
            <a:ext cx="6984864" cy="47394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16" name="Picture 3" descr="G:\01_CMDG\08_PAO\01_PAO_CORPORATE-DESIGN\NSO_Logos\NSO_Eagle\Logo_NATO_School_Logo_RGB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492" y="4783500"/>
            <a:ext cx="35950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3014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1"/>
            <a:ext cx="6984864" cy="47394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pic>
        <p:nvPicPr>
          <p:cNvPr id="9" name="Picture 3" descr="G:\01_CMDG\08_PAO\01_PAO_CORPORATE-DESIGN\NSO_Logos\NSO_Eagle\Logo_NATO_School_Logo_RGB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492" y="4783500"/>
            <a:ext cx="35950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1797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801203354"/>
              </p:ext>
            </p:extLst>
          </p:nvPr>
        </p:nvGraphicFramePr>
        <p:xfrm>
          <a:off x="3671888" y="1671638"/>
          <a:ext cx="180022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" name="Bitmap Image" r:id="rId3" imgW="1800360" imgH="1800360" progId="Paint.Picture">
                  <p:embed/>
                </p:oleObj>
              </mc:Choice>
              <mc:Fallback>
                <p:oleObj name="Bitmap Image" r:id="rId3" imgW="1800360" imgH="18003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71888" y="1671638"/>
                        <a:ext cx="1800225" cy="180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pic>
        <p:nvPicPr>
          <p:cNvPr id="11" name="Picture 3" descr="G:\01_CMDG\08_PAO\01_PAO_CORPORATE-DESIGN\NSO_Logos\NSO_Eagle\Logo_NATO_School_Logo_RGB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492" y="4783500"/>
            <a:ext cx="35950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8" name="Chevron 7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6922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884000" y="-4065"/>
            <a:ext cx="1260000" cy="4783570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0" name="Right Triangle 9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Picture 6" descr="G:\01_CMDG\08_PAO\01_PAO_CORPORATE-DESIGN\NATO Star\20150309_UC_NATO_Star_white_bg_transparent.png"/>
          <p:cNvPicPr>
            <a:picLocks noChangeAspect="1" noChangeArrowheads="1"/>
          </p:cNvPicPr>
          <p:nvPr userDrawn="1"/>
        </p:nvPicPr>
        <p:blipFill rotWithShape="1"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2488"/>
          <a:stretch/>
        </p:blipFill>
        <p:spPr bwMode="auto">
          <a:xfrm>
            <a:off x="7884000" y="2405406"/>
            <a:ext cx="1419326" cy="142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 userDrawn="1"/>
        </p:nvSpPr>
        <p:spPr>
          <a:xfrm>
            <a:off x="4345024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Academic Directorate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345024" y="2840019"/>
            <a:ext cx="3655976" cy="45720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Knowledge Enables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apability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hevron 16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 userDrawn="1"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the NSO Website</a:t>
            </a:r>
            <a:endParaRPr lang="en-GB" sz="12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089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OPD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80" y="1544448"/>
            <a:ext cx="2340731" cy="419129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5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300"/>
            <a:ext cx="3657600" cy="419129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90" y="2435612"/>
            <a:ext cx="1260705" cy="1260941"/>
          </a:xfrm>
          <a:prstGeom prst="rtTriangle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Non Commissioned Officers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Programmes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Department (NCOPD)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6" name="Picture 2" descr="G:\01_CMDG\08_PAO\01_PAO_CORPORATE-DESIGN\Department Icons\NCOPD\20160531_NU_NCOPD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90927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4856080"/>
            <a:ext cx="240420" cy="227954"/>
          </a:xfrm>
          <a:prstGeom prst="chevron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9996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OPD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0"/>
            <a:ext cx="6984864" cy="47394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80"/>
            <a:ext cx="240420" cy="227954"/>
          </a:xfrm>
          <a:prstGeom prst="chevron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5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817A7D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817A7D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817A7D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817A7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817A7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CDCA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CDCA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G:\01_CMDG\08_PAO\01_PAO_CORPORATE-DESIGN\Department Icons\NCOPD\20160531_NU_NCOP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99135" y="4802550"/>
            <a:ext cx="341265" cy="34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25897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OPD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6"/>
            <a:ext cx="6984864" cy="46009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80"/>
            <a:ext cx="240420" cy="227954"/>
          </a:xfrm>
          <a:prstGeom prst="chevron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5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CDCA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CDCA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G:\01_CMDG\08_PAO\01_PAO_CORPORATE-DESIGN\Department Icons\NCOPD\20160531_NU_NCOP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99135" y="4802550"/>
            <a:ext cx="341265" cy="34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817A7D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817A7D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817A7D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817A7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817A7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817A7D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817A7D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817A7D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817A7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817A7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921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OPD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0"/>
            <a:ext cx="6984864" cy="47394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80"/>
            <a:ext cx="240420" cy="227954"/>
          </a:xfrm>
          <a:prstGeom prst="chevron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5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CDCA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CDCA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G:\01_CMDG\08_PAO\01_PAO_CORPORATE-DESIGN\Department Icons\NCOPD\20160531_NU_NCOP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99135" y="4802550"/>
            <a:ext cx="341265" cy="34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0477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OPD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2" descr="G:\01_CMDG\08_PAO\01_PAO_CORPORATE-DESIGN\Department Icons\NCOPD\20160531_NU_NCOPD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99135" y="4802550"/>
            <a:ext cx="341265" cy="34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hevron 4"/>
          <p:cNvSpPr/>
          <p:nvPr userDrawn="1"/>
        </p:nvSpPr>
        <p:spPr>
          <a:xfrm>
            <a:off x="224962" y="4856080"/>
            <a:ext cx="240420" cy="227954"/>
          </a:xfrm>
          <a:prstGeom prst="chevron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83252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OPD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80" y="1544448"/>
            <a:ext cx="2340731" cy="419129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5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300"/>
            <a:ext cx="3657600" cy="419129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90" y="2435612"/>
            <a:ext cx="1260705" cy="1260941"/>
          </a:xfrm>
          <a:prstGeom prst="rtTriangle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Non Commissioned Officers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Programmes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Department (NCOPD)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6" name="Picture 2" descr="G:\01_CMDG\08_PAO\01_PAO_CORPORATE-DESIGN\Department Icons\NCOPD\20160531_NU_NCOPD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90927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evron 14"/>
          <p:cNvSpPr/>
          <p:nvPr userDrawn="1"/>
        </p:nvSpPr>
        <p:spPr>
          <a:xfrm>
            <a:off x="224962" y="4856080"/>
            <a:ext cx="240420" cy="227954"/>
          </a:xfrm>
          <a:prstGeom prst="chevron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6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53146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EC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884000" y="-387"/>
            <a:ext cx="1260000" cy="4783570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0C90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0" name="Right Triangle 9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0C90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Cooperative Security Department (COSEC) 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G:\01_CMDG\08_PAO\01_PAO_CORPORATE-DESIGN\Department Icons\COSEC\20140715_NU_COSEC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84000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4" name="Chevron 13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6029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EC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C909D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C909D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C909D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C909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C909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ED3C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ED3C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2" descr="G:\01_CMDG\08_PAO\01_PAO_CORPORATE-DESIGN\Department Icons\COSEC\20160531_NU_COSEC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11089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8840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EC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ED3C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ED3C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2" descr="G:\01_CMDG\08_PAO\01_PAO_CORPORATE-DESIGN\Department Icons\COSEC\20160531_NU_COSEC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11089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C909D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C909D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C909D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C909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0C909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C909D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0C909D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0C909D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0C909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C909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2014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EC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ED3C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ED3C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2" descr="G:\01_CMDG\08_PAO\01_PAO_CORPORATE-DESIGN\Department Icons\COSEC\20160531_NU_COSEC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11089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4231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EC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ED3C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ED3C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COSEC\20160531_NU_COSEC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11089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3114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EC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884000" y="-387"/>
            <a:ext cx="1260000" cy="4783570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0C90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0" name="Right Triangle 9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0C90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Cooperative Security Department (COSEC) 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G:\01_CMDG\08_PAO\01_PAO_CORPORATE-DESIGN\Department Icons\COSEC\20140715_NU_COSEC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84000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hevron 13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0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1981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L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716016" y="2435720"/>
            <a:ext cx="4426524" cy="1258834"/>
          </a:xfrm>
          <a:prstGeom prst="rect">
            <a:avLst/>
          </a:prstGeom>
          <a:solidFill>
            <a:srgbClr val="1D7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0" name="Right Triangle 9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1D7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Distributed Learning Department (DL) 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G:\01_CMDG\08_PAO\01_PAO_CORPORATE-DESIGN\Department Icons\DL\20200525_NU_DL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82540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4" name="Chevron 13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0518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L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1450512" y="303250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3250"/>
            <a:ext cx="6984864" cy="459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1D707C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1D707C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1D707C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1D707C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1D707C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5C6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5C6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" descr="G:\01_CMDG\08_PAO\01_PAO_CORPORATE-DESIGN\Department Icons\DL\20200525_NU_DL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99134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1141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L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1450512" y="303250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3250"/>
            <a:ext cx="6984864" cy="459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5C6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5C6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" descr="G:\01_CMDG\08_PAO\01_PAO_CORPORATE-DESIGN\Department Icons\DL\20200525_NU_DL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99134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1D707C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1D707C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1D707C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1D707C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1D707C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1D707C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1D707C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1D707C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1D707C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1D707C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2628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L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1450512" y="303250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3250"/>
            <a:ext cx="6984864" cy="459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5C6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5C6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" descr="G:\01_CMDG\08_PAO\01_PAO_CORPORATE-DESIGN\Department Icons\DL\20200525_NU_DL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99134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67765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L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5C6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5C6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2" descr="G:\01_CMDG\08_PAO\01_PAO_CORPORATE-DESIGN\Department Icons\DL\20200525_NU_DL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99134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539552" y="4731221"/>
            <a:ext cx="6193383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1600" dirty="0" smtClean="0"/>
              <a:t>[insert additional info, e.g. classification of this slide]</a:t>
            </a:r>
            <a:endParaRPr lang="en-GB" sz="1600" dirty="0"/>
          </a:p>
        </p:txBody>
      </p:sp>
      <p:sp>
        <p:nvSpPr>
          <p:cNvPr id="6" name="Chevron 5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22955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L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716016" y="2435720"/>
            <a:ext cx="4426524" cy="1258834"/>
          </a:xfrm>
          <a:prstGeom prst="rect">
            <a:avLst/>
          </a:prstGeom>
          <a:solidFill>
            <a:srgbClr val="1D7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0" name="Right Triangle 9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1D7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Distributed Learning Department (DL) 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G:\01_CMDG\08_PAO\01_PAO_CORPORATE-DESIGN\Department Icons\DL\20200525_NU_DL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82540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hevron 13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0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48070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D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B5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B5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Hybrid, Influence &amp; Effects Department (HIED)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21" name="Picture 5" descr="G:\01_CMDG\08_PAO\01_PAO_CORPORATE-DESIGN\Department Icons\HIED\20161011_NU_HIED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90927" y="2435811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5127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D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HIED\20161011_NU_HIE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5823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B5823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B5823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B5823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B5823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7595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D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HIED\20161011_NU_HIE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5823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B5823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B5823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B5823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B5823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5823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B5823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B5823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B5823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B5823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7957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D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HIED\20161011_NU_HIE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4919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D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:\01_CMDG\08_PAO\01_PAO_CORPORATE-DESIGN\Department Icons\HIED\20161011_NU_HIED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8361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D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B5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B5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smtClean="0">
                <a:latin typeface="Arial" panose="020B0604020202020204" pitchFamily="34" charset="0"/>
                <a:cs typeface="Arial" panose="020B0604020202020204" pitchFamily="34" charset="0"/>
              </a:rPr>
              <a:t>Hybrid, 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Influence &amp; Effects Department (HIED)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21" name="Picture 5" descr="G:\01_CMDG\08_PAO\01_PAO_CORPORATE-DESIGN\Department Icons\HIED\20161011_NU_HIED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90927" y="2435811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42227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B63A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B63A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Intelligence Department</a:t>
            </a:r>
            <a:b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(INTEL)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G:\01_CMDG\08_PAO\01_PAO_CORPORATE-DESIGN\Department Icons\INTEL\20160531_NU_INTEL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84368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144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2" descr="G:\01_CMDG\08_PAO\01_PAO_CORPORATE-DESIGN\Department Icons\INTEL\20160531_NU_INTEL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63A19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B63A19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B63A19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B63A19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B63A19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0049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2" descr="G:\01_CMDG\08_PAO\01_PAO_CORPORATE-DESIGN\Department Icons\INTEL\20160531_NU_INTEL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63A19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B63A19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B63A19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B63A19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B63A19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63A19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B63A19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B63A19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B63A19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B63A19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6477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2" descr="G:\01_CMDG\08_PAO\01_PAO_CORPORATE-DESIGN\Department Icons\INTEL\20160531_NU_INTEL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583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:\01_CMDG\08_PAO\01_PAO_CORPORATE-DESIGN\Department Icons\INTEL\20160531_NU_INTEL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1936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B63A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B63A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Intelligence Department</a:t>
            </a:r>
            <a:b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(INTEL)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G:\01_CMDG\08_PAO\01_PAO_CORPORATE-DESIGN\Department Icons\INTEL\20160531_NU_INTEL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84368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5707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Joint Plans and Operations Department (JPOD)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G:\01_CMDG\08_PAO\01_PAO_CORPORATE-DESIGN\Department Icons\JPOD\20160531_NU_JPOD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84000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90269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0"/>
            <a:ext cx="6984864" cy="47394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BF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BFCD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657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0"/>
            <a:ext cx="6984864" cy="47394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BF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BFCD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7638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0"/>
            <a:ext cx="6984864" cy="47394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53609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BF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BFCD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17981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Joint Plans and Operations Department (JPOD)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G:\01_CMDG\08_PAO\01_PAO_CORPORATE-DESIGN\Department Icons\JPOD\20160531_NU_JPOD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84000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33142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TIC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BF1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BF1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Joint</a:t>
            </a:r>
            <a:r>
              <a:rPr lang="en-US" sz="1800" b="1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 Targeting </a:t>
            </a:r>
            <a:r>
              <a:rPr lang="en-GB" sz="1800" b="1" kern="1200" baseline="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Interoperability </a:t>
            </a:r>
            <a:r>
              <a:rPr lang="en-US" sz="1800" b="1" kern="1200" baseline="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Curriculum (JTIC</a:t>
            </a:r>
            <a:r>
              <a:rPr lang="en-US" b="1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G:\01_CMDG\08_PAO\01_PAO_CORPORATE-DESIGN\Department Icons\JTIC\20160531_NU_JTIC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84000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706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TIC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6" name="Picture 2" descr="G:\01_CMDG\08_PAO\01_PAO_CORPORATE-DESIGN\Department Icons\JTIC\20160531_NU_JTIC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F1618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BF1618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BF1618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BF1618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BF1618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5A2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5A2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7233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TIC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6" name="Picture 2" descr="G:\01_CMDG\08_PAO\01_PAO_CORPORATE-DESIGN\Department Icons\JTIC\20160531_NU_JTIC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5A2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5A2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F1618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BF1618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BF1618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BF1618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BF1618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F1618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BF1618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BF1618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BF1618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BF1618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1434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TIC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6" name="Picture 2" descr="G:\01_CMDG\08_PAO\01_PAO_CORPORATE-DESIGN\Department Icons\JTIC\20160531_NU_JTIC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5A2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5A2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13478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TIC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:\01_CMDG\08_PAO\01_PAO_CORPORATE-DESIGN\Department Icons\JTIC\20160531_NU_JTIC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5A2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5A2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09754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TIC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BF1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BF1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Joint</a:t>
            </a:r>
            <a:r>
              <a:rPr lang="en-US" sz="1800" b="1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 Targeting </a:t>
            </a:r>
            <a:r>
              <a:rPr lang="en-GB" sz="1800" b="1" kern="1200" baseline="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Interoperability </a:t>
            </a:r>
            <a:r>
              <a:rPr lang="en-US" sz="1800" b="1" kern="1200" baseline="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Curriculum (JTIC</a:t>
            </a:r>
            <a:r>
              <a:rPr lang="en-US" b="1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G:\01_CMDG\08_PAO\01_PAO_CORPORATE-DESIGN\Department Icons\JTIC\20160531_NU_JTIC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84000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16560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Protection Department (PROT)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4" name="Picture 2" descr="G:\01_CMDG\08_PAO\01_PAO_CORPORATE-DESIGN\Department Icons\PROT\20160531_NU_PROT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93849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6" name="Chevron 15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575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G:\01_CMDG\08_PAO\01_PAO_CORPORATE-DESIGN\Department Icons\PROT\20160531_NU_PROT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82121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999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0000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00000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0000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0000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00000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1013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G:\01_CMDG\08_PAO\01_PAO_CORPORATE-DESIGN\Department Icons\PROT\20160531_NU_PROT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82121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999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0000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00000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0000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0000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000000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0000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000000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000000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000000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00000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5498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G:\01_CMDG\08_PAO\01_PAO_CORPORATE-DESIGN\Department Icons\PROT\20160531_NU_PROT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82121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999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5727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G:\01_CMDG\08_PAO\01_PAO_CORPORATE-DESIGN\Department Icons\PROT\20160531_NU_PROT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82121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999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04570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Protection Department (PROT)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4" name="Picture 2" descr="G:\01_CMDG\08_PAO\01_PAO_CORPORATE-DESIGN\Department Icons\PROT\20160531_NU_PROT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93849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hevron 15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37855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Standards, Evaluation and Training Department (SET)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 descr="G:\01_CMDG\08_PAO\01_PAO_CORPORATE-DESIGN\Department Icons\SET\20170227_NU_SET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84000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7182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2" descr="G:\01_CMDG\08_PAO\01_PAO_CORPORATE-DESIGN\Department Icons\SET\20170227_NU_SET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1971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2" descr="G:\01_CMDG\08_PAO\01_PAO_CORPORATE-DESIGN\Department Icons\SET\20170227_NU_SET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5815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2" descr="G:\01_CMDG\08_PAO\01_PAO_CORPORATE-DESIGN\Department Icons\SET\20170227_NU_SET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8961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G:\01_CMDG\08_PAO\01_PAO_CORPORATE-DESIGN\Department Icons\SET\20170227_NU_SET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40491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3" r="-61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Standards, Evaluation and Training Department (SET)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 descr="G:\01_CMDG\08_PAO\01_PAO_CORPORATE-DESIGN\Department Icons\SET\20170227_NU_SET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84000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6362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57.xml"/><Relationship Id="rId7" Type="http://schemas.openxmlformats.org/officeDocument/2006/relationships/theme" Target="../theme/theme10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389125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665" r:id="rId2"/>
    <p:sldLayoutId id="2147483774" r:id="rId3"/>
    <p:sldLayoutId id="2147483784" r:id="rId4"/>
    <p:sldLayoutId id="2147483771" r:id="rId5"/>
    <p:sldLayoutId id="2147483826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56263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8" r:id="rId2"/>
    <p:sldLayoutId id="2147483785" r:id="rId3"/>
    <p:sldLayoutId id="2147483795" r:id="rId4"/>
    <p:sldLayoutId id="2147483805" r:id="rId5"/>
    <p:sldLayoutId id="2147483825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0C90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99132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5" r:id="rId2"/>
    <p:sldLayoutId id="2147483786" r:id="rId3"/>
    <p:sldLayoutId id="2147483796" r:id="rId4"/>
    <p:sldLayoutId id="2147483806" r:id="rId5"/>
    <p:sldLayoutId id="2147483827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1D7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23846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30" r:id="rId2"/>
    <p:sldLayoutId id="2147483787" r:id="rId3"/>
    <p:sldLayoutId id="2147483797" r:id="rId4"/>
    <p:sldLayoutId id="2147483807" r:id="rId5"/>
    <p:sldLayoutId id="2147483828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B5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73237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40" r:id="rId2"/>
    <p:sldLayoutId id="2147483788" r:id="rId3"/>
    <p:sldLayoutId id="2147483798" r:id="rId4"/>
    <p:sldLayoutId id="2147483808" r:id="rId5"/>
    <p:sldLayoutId id="2147483829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B63A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483277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5" r:id="rId2"/>
    <p:sldLayoutId id="2147483789" r:id="rId3"/>
    <p:sldLayoutId id="2147483799" r:id="rId4"/>
    <p:sldLayoutId id="2147483809" r:id="rId5"/>
    <p:sldLayoutId id="2147483830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036919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50" r:id="rId2"/>
    <p:sldLayoutId id="2147483790" r:id="rId3"/>
    <p:sldLayoutId id="2147483800" r:id="rId4"/>
    <p:sldLayoutId id="2147483810" r:id="rId5"/>
    <p:sldLayoutId id="2147483831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24770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5" r:id="rId2"/>
    <p:sldLayoutId id="2147483791" r:id="rId3"/>
    <p:sldLayoutId id="2147483801" r:id="rId4"/>
    <p:sldLayoutId id="2147483811" r:id="rId5"/>
    <p:sldLayoutId id="2147483832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875460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60" r:id="rId2"/>
    <p:sldLayoutId id="2147483793" r:id="rId3"/>
    <p:sldLayoutId id="2147483803" r:id="rId4"/>
    <p:sldLayoutId id="2147483813" r:id="rId5"/>
    <p:sldLayoutId id="2147483833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17373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5" r:id="rId2"/>
    <p:sldLayoutId id="2147483794" r:id="rId3"/>
    <p:sldLayoutId id="2147483804" r:id="rId4"/>
    <p:sldLayoutId id="2147483814" r:id="rId5"/>
    <p:sldLayoutId id="2147483834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so.nato.int/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NATO (Logistics) Operational Doctrine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NATO UNCLASSIFIED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400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NATO UNCLASSIFIED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sz="2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Introduction, Allied </a:t>
            </a:r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Joint Doctrine Architecture</a:t>
            </a:r>
          </a:p>
          <a:p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Roles &amp; responsibilities</a:t>
            </a:r>
          </a:p>
          <a:p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NATO </a:t>
            </a:r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Doctrine </a:t>
            </a:r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Lifecycle</a:t>
            </a:r>
          </a:p>
          <a:p>
            <a:r>
              <a:rPr lang="en-US" sz="2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Logistics doctrine</a:t>
            </a:r>
          </a:p>
          <a:p>
            <a:r>
              <a:rPr lang="en-US" sz="2000" dirty="0"/>
              <a:t>NATO </a:t>
            </a:r>
            <a:r>
              <a:rPr lang="en-US" sz="2000" dirty="0" smtClean="0"/>
              <a:t>Standardization Office (NSO) portal</a:t>
            </a:r>
            <a:endParaRPr lang="en-US" sz="2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2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162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Doctrine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NATO UNCLASSIFIED</a:t>
            </a:r>
            <a:endParaRPr lang="en-GB" dirty="0"/>
          </a:p>
        </p:txBody>
      </p:sp>
      <p:grpSp>
        <p:nvGrpSpPr>
          <p:cNvPr id="15" name="Group 14"/>
          <p:cNvGrpSpPr/>
          <p:nvPr/>
        </p:nvGrpSpPr>
        <p:grpSpPr>
          <a:xfrm>
            <a:off x="6516216" y="2352448"/>
            <a:ext cx="2341517" cy="2228227"/>
            <a:chOff x="6156176" y="2467859"/>
            <a:chExt cx="2341517" cy="2228227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56176" y="2721009"/>
              <a:ext cx="1872208" cy="1975077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59075" y="2467859"/>
              <a:ext cx="938618" cy="893728"/>
            </a:xfrm>
            <a:prstGeom prst="rect">
              <a:avLst/>
            </a:prstGeom>
          </p:spPr>
        </p:pic>
      </p:grp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0277" y="1057054"/>
            <a:ext cx="2520280" cy="13694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1248" y="796385"/>
            <a:ext cx="1422840" cy="2010887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6444208" y="192628"/>
            <a:ext cx="2413525" cy="2087433"/>
            <a:chOff x="6084168" y="480547"/>
            <a:chExt cx="2413525" cy="208743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84168" y="915566"/>
              <a:ext cx="2046976" cy="1652414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59075" y="480547"/>
              <a:ext cx="938618" cy="893728"/>
            </a:xfrm>
            <a:prstGeom prst="rect">
              <a:avLst/>
            </a:prstGeom>
          </p:spPr>
        </p:pic>
      </p:grpSp>
      <p:sp>
        <p:nvSpPr>
          <p:cNvPr id="25" name="TextBox 24"/>
          <p:cNvSpPr txBox="1"/>
          <p:nvPr/>
        </p:nvSpPr>
        <p:spPr>
          <a:xfrm>
            <a:off x="340033" y="3075806"/>
            <a:ext cx="587818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“Fundamental principles by which the military forces guide their actions in support of objectives.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It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is authoritative but requires judgement in application.”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(NATO Term)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→  </a:t>
            </a:r>
            <a:r>
              <a:rPr lang="en-US" sz="20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Doctrine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focuses on </a:t>
            </a:r>
            <a:r>
              <a:rPr lang="en-US" sz="2000" i="1" dirty="0">
                <a:solidFill>
                  <a:srgbClr val="FF0000"/>
                </a:solidFill>
              </a:rPr>
              <a:t>how</a:t>
            </a:r>
            <a:r>
              <a:rPr lang="en-US" sz="2000" i="1" dirty="0"/>
              <a:t>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 think, not </a:t>
            </a:r>
            <a:r>
              <a:rPr lang="en-US" sz="2000" i="1" dirty="0">
                <a:solidFill>
                  <a:srgbClr val="FF0000"/>
                </a:solidFill>
              </a:rPr>
              <a:t>what</a:t>
            </a:r>
            <a:r>
              <a:rPr lang="en-US" sz="2000" i="1" dirty="0"/>
              <a:t>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 think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194593" y="1653243"/>
            <a:ext cx="43204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ight Arrow 25"/>
          <p:cNvSpPr/>
          <p:nvPr/>
        </p:nvSpPr>
        <p:spPr>
          <a:xfrm>
            <a:off x="5688124" y="1374671"/>
            <a:ext cx="43204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ight Arrow 26"/>
          <p:cNvSpPr/>
          <p:nvPr/>
        </p:nvSpPr>
        <p:spPr>
          <a:xfrm rot="1974856">
            <a:off x="5699051" y="2256805"/>
            <a:ext cx="43204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719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Doctrine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NATO UNCLASSIFIED</a:t>
            </a:r>
            <a:endParaRPr lang="en-GB" dirty="0"/>
          </a:p>
        </p:txBody>
      </p:sp>
      <p:sp>
        <p:nvSpPr>
          <p:cNvPr id="25" name="TextBox 24"/>
          <p:cNvSpPr txBox="1"/>
          <p:nvPr/>
        </p:nvSpPr>
        <p:spPr>
          <a:xfrm>
            <a:off x="340033" y="915566"/>
            <a:ext cx="574413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Allied joint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doctrine:</a:t>
            </a:r>
          </a:p>
          <a:p>
            <a:pPr marL="800100" lvl="1" indent="-342900"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enhances the </a:t>
            </a:r>
            <a:r>
              <a:rPr lang="en-US" sz="2000" dirty="0" smtClean="0">
                <a:solidFill>
                  <a:srgbClr val="FF0000"/>
                </a:solidFill>
              </a:rPr>
              <a:t>interoperability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of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b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Alliance forces</a:t>
            </a:r>
            <a:endParaRPr lang="en-US" sz="20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800100" lvl="1" indent="-342900"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promotes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</a:t>
            </a:r>
            <a:r>
              <a:rPr lang="en-US" sz="2000" dirty="0">
                <a:solidFill>
                  <a:srgbClr val="FF0000"/>
                </a:solidFill>
              </a:rPr>
              <a:t>common perspective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b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from which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plan, train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and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b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conduct operations</a:t>
            </a:r>
          </a:p>
          <a:p>
            <a:pPr marL="800100" lvl="1" indent="-342900"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provides </a:t>
            </a:r>
            <a:r>
              <a:rPr lang="en-US" sz="2000" dirty="0">
                <a:solidFill>
                  <a:srgbClr val="FF0000"/>
                </a:solidFill>
              </a:rPr>
              <a:t>insights and wisdom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b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gained from operations.</a:t>
            </a:r>
            <a:endParaRPr lang="en-US" sz="20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Allied joint doctrine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is based on </a:t>
            </a:r>
            <a:r>
              <a:rPr lang="en-US" sz="2000" dirty="0" smtClean="0">
                <a:solidFill>
                  <a:srgbClr val="FF0000"/>
                </a:solidFill>
              </a:rPr>
              <a:t>extant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capabilities, </a:t>
            </a:r>
            <a:r>
              <a:rPr lang="en-US" sz="2000" dirty="0" smtClean="0">
                <a:solidFill>
                  <a:srgbClr val="FF0000"/>
                </a:solidFill>
              </a:rPr>
              <a:t>current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force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structures,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b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equipment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b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endParaRPr lang="en-US" sz="10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Clr>
                <a:srgbClr val="003B5B"/>
              </a:buClr>
              <a:buFont typeface="Calibri" panose="020F0502020204030204" pitchFamily="34" charset="0"/>
              <a:buChar char="→"/>
            </a:pPr>
            <a:r>
              <a:rPr lang="en-US" sz="2000" dirty="0" smtClean="0">
                <a:solidFill>
                  <a:srgbClr val="FF0000"/>
                </a:solidFill>
              </a:rPr>
              <a:t>AAP-47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and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AAP-03)</a:t>
            </a:r>
            <a:endParaRPr lang="en-GB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Clr>
                <a:srgbClr val="003B5B"/>
              </a:buClr>
            </a:pP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l="17705" r="21393" b="6362"/>
          <a:stretch/>
        </p:blipFill>
        <p:spPr>
          <a:xfrm>
            <a:off x="4932040" y="915567"/>
            <a:ext cx="3830020" cy="3312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612" y="4165074"/>
            <a:ext cx="23548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Joint force development cycle</a:t>
            </a:r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16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Allied Joint Doctrine </a:t>
            </a:r>
            <a:r>
              <a:rPr lang="en-GB" dirty="0" smtClean="0"/>
              <a:t>Architecture</a:t>
            </a:r>
            <a:endParaRPr lang="en-GB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533400" y="4769736"/>
            <a:ext cx="8610600" cy="359667"/>
          </a:xfrm>
        </p:spPr>
        <p:txBody>
          <a:bodyPr/>
          <a:lstStyle/>
          <a:p>
            <a:r>
              <a:rPr lang="en-US" dirty="0"/>
              <a:t>NATO UNCLASSIFIED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29"/>
          <a:stretch/>
        </p:blipFill>
        <p:spPr bwMode="auto">
          <a:xfrm>
            <a:off x="1403648" y="680287"/>
            <a:ext cx="6408712" cy="40894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270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6CF92F4A-7466-1E42-AC65-0DA26E8FB9BF}"/>
              </a:ext>
            </a:extLst>
          </p:cNvPr>
          <p:cNvSpPr txBox="1">
            <a:spLocks/>
          </p:cNvSpPr>
          <p:nvPr/>
        </p:nvSpPr>
        <p:spPr>
          <a:xfrm>
            <a:off x="319916" y="865867"/>
            <a:ext cx="8068508" cy="458620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GB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Allied Command Transformation (ACT)</a:t>
            </a:r>
          </a:p>
          <a:p>
            <a:pPr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GB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Allied Command Operations (ACO)</a:t>
            </a:r>
          </a:p>
          <a:p>
            <a:pPr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GB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Military Committee Joint Standardization Board (MCJSB)</a:t>
            </a:r>
          </a:p>
          <a:p>
            <a:pPr marL="628650" lvl="1" indent="-273050"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GB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Allied Joint Operations Doctrine Working Group (AJOD WG)</a:t>
            </a:r>
          </a:p>
          <a:p>
            <a:pPr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GB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NATO Standardization Office (NSO)</a:t>
            </a:r>
          </a:p>
          <a:p>
            <a:pPr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GB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Nations</a:t>
            </a:r>
          </a:p>
          <a:p>
            <a:pPr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Centres of Excellence (COE)</a:t>
            </a:r>
          </a:p>
          <a:p>
            <a:pPr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GB" sz="2000" dirty="0" smtClean="0">
                <a:solidFill>
                  <a:srgbClr val="FF0000"/>
                </a:solidFill>
              </a:rPr>
              <a:t>Custodians</a:t>
            </a:r>
          </a:p>
          <a:p>
            <a:pPr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GB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International Military Staff doctrine sponsors</a:t>
            </a:r>
            <a:endParaRPr lang="en-GB" sz="20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Roles &amp; responsibilities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NATO UNCLASSIFIED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689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6CF92F4A-7466-1E42-AC65-0DA26E8FB9BF}"/>
              </a:ext>
            </a:extLst>
          </p:cNvPr>
          <p:cNvSpPr txBox="1">
            <a:spLocks/>
          </p:cNvSpPr>
          <p:nvPr/>
        </p:nvSpPr>
        <p:spPr>
          <a:xfrm>
            <a:off x="319917" y="1225907"/>
            <a:ext cx="3205440" cy="458620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5 year lifecycle</a:t>
            </a:r>
          </a:p>
          <a:p>
            <a:pPr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Detailed in the </a:t>
            </a:r>
            <a:b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2000" dirty="0" smtClean="0">
                <a:solidFill>
                  <a:srgbClr val="FF0000"/>
                </a:solidFill>
              </a:rPr>
              <a:t>Allied Joint Doctrine Campaign Plan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(AJDCP)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NATO Doctrine Lifecycle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NATO UNCLASSIFIED</a:t>
            </a:r>
            <a:endParaRPr lang="en-GB" dirty="0"/>
          </a:p>
        </p:txBody>
      </p:sp>
      <p:graphicFrame>
        <p:nvGraphicFramePr>
          <p:cNvPr id="38" name="Chart 37"/>
          <p:cNvGraphicFramePr/>
          <p:nvPr>
            <p:extLst>
              <p:ext uri="{D42A27DB-BD31-4B8C-83A1-F6EECF244321}">
                <p14:modId xmlns:p14="http://schemas.microsoft.com/office/powerpoint/2010/main" val="795909231"/>
              </p:ext>
            </p:extLst>
          </p:nvPr>
        </p:nvGraphicFramePr>
        <p:xfrm>
          <a:off x="3885113" y="1563638"/>
          <a:ext cx="4935359" cy="329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5260280" y="3039046"/>
            <a:ext cx="303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552472"/>
              </p:ext>
            </p:extLst>
          </p:nvPr>
        </p:nvGraphicFramePr>
        <p:xfrm>
          <a:off x="3616133" y="833304"/>
          <a:ext cx="917052" cy="56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052">
                  <a:extLst>
                    <a:ext uri="{9D8B030D-6E8A-4147-A177-3AD203B41FA5}">
                      <a16:colId xmlns:a16="http://schemas.microsoft.com/office/drawing/2014/main" val="3803543873"/>
                    </a:ext>
                  </a:extLst>
                </a:gridCol>
              </a:tblGrid>
              <a:tr h="1761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accent5"/>
                          </a:solidFill>
                        </a:rPr>
                        <a:t>Originator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1731"/>
                  </a:ext>
                </a:extLst>
              </a:tr>
              <a:tr h="218762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/>
                        <a:t>New Doctrine</a:t>
                      </a:r>
                      <a:br>
                        <a:rPr lang="en-US" sz="1000" dirty="0" smtClean="0"/>
                      </a:br>
                      <a:r>
                        <a:rPr lang="en-US" sz="1000" dirty="0" smtClean="0"/>
                        <a:t>proposal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81941"/>
                  </a:ext>
                </a:extLst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607078"/>
              </p:ext>
            </p:extLst>
          </p:nvPr>
        </p:nvGraphicFramePr>
        <p:xfrm>
          <a:off x="7231060" y="827912"/>
          <a:ext cx="917052" cy="4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052">
                  <a:extLst>
                    <a:ext uri="{9D8B030D-6E8A-4147-A177-3AD203B41FA5}">
                      <a16:colId xmlns:a16="http://schemas.microsoft.com/office/drawing/2014/main" val="3803543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AJOD WG/MCJSB</a:t>
                      </a:r>
                      <a:endParaRPr lang="en-US" sz="8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/>
                        <a:t>Cancellation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81941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428432"/>
              </p:ext>
            </p:extLst>
          </p:nvPr>
        </p:nvGraphicFramePr>
        <p:xfrm>
          <a:off x="6301804" y="4650628"/>
          <a:ext cx="1096794" cy="43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794">
                  <a:extLst>
                    <a:ext uri="{9D8B030D-6E8A-4147-A177-3AD203B41FA5}">
                      <a16:colId xmlns:a16="http://schemas.microsoft.com/office/drawing/2014/main" val="3803543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MCJSB</a:t>
                      </a:r>
                      <a:endParaRPr lang="en-US" sz="10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/>
                        <a:t>Ratification Draft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81941"/>
                  </a:ext>
                </a:extLst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645278"/>
              </p:ext>
            </p:extLst>
          </p:nvPr>
        </p:nvGraphicFramePr>
        <p:xfrm>
          <a:off x="4166450" y="2464681"/>
          <a:ext cx="996617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17">
                  <a:extLst>
                    <a:ext uri="{9D8B030D-6E8A-4147-A177-3AD203B41FA5}">
                      <a16:colId xmlns:a16="http://schemas.microsoft.com/office/drawing/2014/main" val="3803543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NATO/Nations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1731"/>
                  </a:ext>
                </a:extLst>
              </a:tr>
              <a:tr h="157656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/>
                        <a:t>Educate, Train, Exercise</a:t>
                      </a:r>
                      <a:r>
                        <a:rPr lang="en-US" sz="1000" baseline="0" dirty="0" smtClean="0"/>
                        <a:t> and </a:t>
                      </a:r>
                      <a:r>
                        <a:rPr lang="en-US" sz="1000" b="0" baseline="0" dirty="0" smtClean="0">
                          <a:solidFill>
                            <a:srgbClr val="FF0000"/>
                          </a:solidFill>
                        </a:rPr>
                        <a:t>Assess</a:t>
                      </a:r>
                      <a:endParaRPr 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81941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562390"/>
              </p:ext>
            </p:extLst>
          </p:nvPr>
        </p:nvGraphicFramePr>
        <p:xfrm>
          <a:off x="4645620" y="4081676"/>
          <a:ext cx="917052" cy="43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052">
                  <a:extLst>
                    <a:ext uri="{9D8B030D-6E8A-4147-A177-3AD203B41FA5}">
                      <a16:colId xmlns:a16="http://schemas.microsoft.com/office/drawing/2014/main" val="3803543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NSO</a:t>
                      </a:r>
                      <a:endParaRPr lang="en-US" sz="1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/>
                        <a:t>Promulgation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81941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090260"/>
              </p:ext>
            </p:extLst>
          </p:nvPr>
        </p:nvGraphicFramePr>
        <p:xfrm>
          <a:off x="4839838" y="843768"/>
          <a:ext cx="917052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052">
                  <a:extLst>
                    <a:ext uri="{9D8B030D-6E8A-4147-A177-3AD203B41FA5}">
                      <a16:colId xmlns:a16="http://schemas.microsoft.com/office/drawing/2014/main" val="3803543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4A4002"/>
                          </a:solidFill>
                        </a:rPr>
                        <a:t>ACT</a:t>
                      </a:r>
                      <a:endParaRPr lang="en-US" sz="1000" dirty="0">
                        <a:solidFill>
                          <a:srgbClr val="4A400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1731"/>
                  </a:ext>
                </a:extLst>
              </a:tr>
              <a:tr h="153388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/>
                        <a:t>Review doctrine proposal and issue RFI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81941"/>
                  </a:ext>
                </a:extLst>
              </a:tr>
            </a:tbl>
          </a:graphicData>
        </a:graphic>
      </p:graphicFrame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542669"/>
              </p:ext>
            </p:extLst>
          </p:nvPr>
        </p:nvGraphicFramePr>
        <p:xfrm>
          <a:off x="7256960" y="1782371"/>
          <a:ext cx="917052" cy="56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052">
                  <a:extLst>
                    <a:ext uri="{9D8B030D-6E8A-4147-A177-3AD203B41FA5}">
                      <a16:colId xmlns:a16="http://schemas.microsoft.com/office/drawing/2014/main" val="3803543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4A4002"/>
                          </a:solidFill>
                        </a:rPr>
                        <a:t>ACT</a:t>
                      </a:r>
                      <a:endParaRPr lang="en-US" sz="1000" dirty="0">
                        <a:solidFill>
                          <a:srgbClr val="4A400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/>
                        <a:t>Draft</a:t>
                      </a:r>
                      <a:br>
                        <a:rPr lang="en-US" sz="1000" dirty="0" smtClean="0"/>
                      </a:br>
                      <a:r>
                        <a:rPr lang="en-US" sz="1000" dirty="0" smtClean="0"/>
                        <a:t>Doctrine Task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81941"/>
                  </a:ext>
                </a:extLst>
              </a:tr>
            </a:tbl>
          </a:graphicData>
        </a:graphic>
      </p:graphicFrame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599759"/>
              </p:ext>
            </p:extLst>
          </p:nvPr>
        </p:nvGraphicFramePr>
        <p:xfrm>
          <a:off x="6048399" y="1426015"/>
          <a:ext cx="917052" cy="43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052">
                  <a:extLst>
                    <a:ext uri="{9D8B030D-6E8A-4147-A177-3AD203B41FA5}">
                      <a16:colId xmlns:a16="http://schemas.microsoft.com/office/drawing/2014/main" val="3803543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4A4002"/>
                          </a:solidFill>
                        </a:rPr>
                        <a:t>ACT</a:t>
                      </a:r>
                      <a:endParaRPr lang="en-US" sz="1000" dirty="0">
                        <a:solidFill>
                          <a:srgbClr val="4A400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/>
                        <a:t>Data</a:t>
                      </a:r>
                      <a:r>
                        <a:rPr lang="en-US" sz="1000" baseline="0" dirty="0" smtClean="0"/>
                        <a:t> Fusion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81941"/>
                  </a:ext>
                </a:extLst>
              </a:tr>
            </a:tbl>
          </a:graphicData>
        </a:graphic>
      </p:graphicFrame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648313"/>
              </p:ext>
            </p:extLst>
          </p:nvPr>
        </p:nvGraphicFramePr>
        <p:xfrm>
          <a:off x="4669435" y="1694771"/>
          <a:ext cx="1188669" cy="53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669">
                  <a:extLst>
                    <a:ext uri="{9D8B030D-6E8A-4147-A177-3AD203B41FA5}">
                      <a16:colId xmlns:a16="http://schemas.microsoft.com/office/drawing/2014/main" val="3803543873"/>
                    </a:ext>
                  </a:extLst>
                </a:gridCol>
              </a:tblGrid>
              <a:tr h="203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4A4002"/>
                          </a:solidFill>
                        </a:rPr>
                        <a:t>ACT</a:t>
                      </a:r>
                      <a:endParaRPr lang="en-US" sz="1000" dirty="0">
                        <a:solidFill>
                          <a:srgbClr val="4A400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1731"/>
                  </a:ext>
                </a:extLst>
              </a:tr>
              <a:tr h="253245"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/>
                        <a:t>Review </a:t>
                      </a:r>
                      <a:r>
                        <a:rPr lang="en-US" sz="1000" dirty="0" err="1" smtClean="0"/>
                        <a:t>iaw</a:t>
                      </a:r>
                      <a:r>
                        <a:rPr lang="en-US" sz="1000" dirty="0" smtClean="0"/>
                        <a:t> AJDCP</a:t>
                      </a:r>
                      <a:br>
                        <a:rPr lang="en-US" sz="1000" dirty="0" smtClean="0"/>
                      </a:br>
                      <a:r>
                        <a:rPr lang="en-US" sz="1000" dirty="0" smtClean="0"/>
                        <a:t>issue</a:t>
                      </a:r>
                      <a:r>
                        <a:rPr lang="en-US" sz="1000" baseline="0" dirty="0" smtClean="0"/>
                        <a:t> RFF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81941"/>
                  </a:ext>
                </a:extLst>
              </a:tr>
            </a:tbl>
          </a:graphicData>
        </a:graphic>
      </p:graphicFrame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74301"/>
              </p:ext>
            </p:extLst>
          </p:nvPr>
        </p:nvGraphicFramePr>
        <p:xfrm>
          <a:off x="7633684" y="2609892"/>
          <a:ext cx="1116393" cy="53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393">
                  <a:extLst>
                    <a:ext uri="{9D8B030D-6E8A-4147-A177-3AD203B41FA5}">
                      <a16:colId xmlns:a16="http://schemas.microsoft.com/office/drawing/2014/main" val="3803543873"/>
                    </a:ext>
                  </a:extLst>
                </a:gridCol>
              </a:tblGrid>
              <a:tr h="179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AJOD WG/MCJSB</a:t>
                      </a:r>
                      <a:endParaRPr lang="en-US" sz="8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1731"/>
                  </a:ext>
                </a:extLst>
              </a:tr>
              <a:tr h="291395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/>
                        <a:t>Endorse/Approve</a:t>
                      </a:r>
                      <a:br>
                        <a:rPr lang="en-US" sz="1000" dirty="0" smtClean="0"/>
                      </a:br>
                      <a:r>
                        <a:rPr lang="en-US" sz="1000" dirty="0" smtClean="0"/>
                        <a:t>Doctrine Task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81941"/>
                  </a:ext>
                </a:extLst>
              </a:tr>
            </a:tbl>
          </a:graphicData>
        </a:graphic>
      </p:graphicFrame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174720"/>
              </p:ext>
            </p:extLst>
          </p:nvPr>
        </p:nvGraphicFramePr>
        <p:xfrm>
          <a:off x="7525940" y="3361465"/>
          <a:ext cx="1059818" cy="4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818">
                  <a:extLst>
                    <a:ext uri="{9D8B030D-6E8A-4147-A177-3AD203B41FA5}">
                      <a16:colId xmlns:a16="http://schemas.microsoft.com/office/drawing/2014/main" val="3803543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AJOD WG/Custodian</a:t>
                      </a:r>
                      <a:endParaRPr lang="en-US" sz="8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/>
                        <a:t>Study Draft(s)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81941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876104"/>
              </p:ext>
            </p:extLst>
          </p:nvPr>
        </p:nvGraphicFramePr>
        <p:xfrm>
          <a:off x="7339743" y="4033416"/>
          <a:ext cx="1059818" cy="53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818">
                  <a:extLst>
                    <a:ext uri="{9D8B030D-6E8A-4147-A177-3AD203B41FA5}">
                      <a16:colId xmlns:a16="http://schemas.microsoft.com/office/drawing/2014/main" val="3803543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AJOD WG/Custodian</a:t>
                      </a:r>
                      <a:endParaRPr lang="en-US" sz="8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/>
                        <a:t>Harmonization Draft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81941"/>
                  </a:ext>
                </a:extLst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766942"/>
              </p:ext>
            </p:extLst>
          </p:nvPr>
        </p:nvGraphicFramePr>
        <p:xfrm>
          <a:off x="3968616" y="3359316"/>
          <a:ext cx="1109053" cy="43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053">
                  <a:extLst>
                    <a:ext uri="{9D8B030D-6E8A-4147-A177-3AD203B41FA5}">
                      <a16:colId xmlns:a16="http://schemas.microsoft.com/office/drawing/2014/main" val="3803543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NATO/Nations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/>
                        <a:t>Implementation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81941"/>
                  </a:ext>
                </a:extLst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02855"/>
              </p:ext>
            </p:extLst>
          </p:nvPr>
        </p:nvGraphicFramePr>
        <p:xfrm>
          <a:off x="5161172" y="4583452"/>
          <a:ext cx="996617" cy="43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17">
                  <a:extLst>
                    <a:ext uri="{9D8B030D-6E8A-4147-A177-3AD203B41FA5}">
                      <a16:colId xmlns:a16="http://schemas.microsoft.com/office/drawing/2014/main" val="3803543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Nations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/>
                        <a:t>Ratification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81941"/>
                  </a:ext>
                </a:extLst>
              </a:tr>
            </a:tbl>
          </a:graphicData>
        </a:graphic>
      </p:graphicFrame>
      <p:cxnSp>
        <p:nvCxnSpPr>
          <p:cNvPr id="54" name="Straight Arrow Connector 53"/>
          <p:cNvCxnSpPr/>
          <p:nvPr/>
        </p:nvCxnSpPr>
        <p:spPr>
          <a:xfrm>
            <a:off x="4564816" y="1031112"/>
            <a:ext cx="256401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5858104" y="1278816"/>
            <a:ext cx="313232" cy="11024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V="1">
            <a:off x="6910428" y="1073810"/>
            <a:ext cx="258322" cy="29939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7036928" y="1578965"/>
            <a:ext cx="194132" cy="1687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7851190" y="2399833"/>
            <a:ext cx="53841" cy="15986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8102005" y="3172529"/>
            <a:ext cx="261" cy="159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7899884" y="3817324"/>
            <a:ext cx="130113" cy="18277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>
            <a:off x="7460883" y="4596557"/>
            <a:ext cx="130113" cy="18277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6160935" y="4873132"/>
            <a:ext cx="129572" cy="0"/>
          </a:xfrm>
          <a:prstGeom prst="straightConnector1">
            <a:avLst/>
          </a:prstGeom>
          <a:ln w="12700">
            <a:solidFill>
              <a:schemeClr val="bg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 flipV="1">
            <a:off x="4958845" y="4559225"/>
            <a:ext cx="171631" cy="13105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H="1" flipV="1">
            <a:off x="4751927" y="3852651"/>
            <a:ext cx="27616" cy="17067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V="1">
            <a:off x="4645620" y="3172529"/>
            <a:ext cx="0" cy="15800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5828367" y="1565865"/>
            <a:ext cx="201660" cy="745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V="1">
            <a:off x="4778402" y="2283718"/>
            <a:ext cx="114823" cy="13319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20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>
            <a:spLocks noChangeAspect="1"/>
          </p:cNvSpPr>
          <p:nvPr/>
        </p:nvSpPr>
        <p:spPr>
          <a:xfrm>
            <a:off x="7332475" y="4324612"/>
            <a:ext cx="648072" cy="427556"/>
          </a:xfrm>
          <a:prstGeom prst="rect">
            <a:avLst/>
          </a:prstGeom>
          <a:solidFill>
            <a:srgbClr val="D7FFAF"/>
          </a:solidFill>
          <a:ln w="12700">
            <a:solidFill>
              <a:srgbClr val="99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solidFill>
                  <a:schemeClr val="tx1"/>
                </a:solidFill>
              </a:rPr>
              <a:t>AJMEDP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36096" y="267494"/>
            <a:ext cx="3414545" cy="803009"/>
          </a:xfrm>
          <a:prstGeom prst="roundRect">
            <a:avLst>
              <a:gd name="adj" fmla="val 5358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533400" y="4804371"/>
            <a:ext cx="8610600" cy="359667"/>
          </a:xfrm>
        </p:spPr>
        <p:txBody>
          <a:bodyPr/>
          <a:lstStyle/>
          <a:p>
            <a:r>
              <a:rPr lang="en-US" dirty="0" smtClean="0"/>
              <a:t>NATO UNCLASSIFIED</a:t>
            </a:r>
            <a:endParaRPr lang="en-GB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854336" y="302443"/>
            <a:ext cx="6984864" cy="460094"/>
          </a:xfrm>
        </p:spPr>
        <p:txBody>
          <a:bodyPr/>
          <a:lstStyle/>
          <a:p>
            <a:r>
              <a:rPr lang="en-US" dirty="0" smtClean="0"/>
              <a:t>Logistics doctrine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251520" y="956924"/>
            <a:ext cx="936104" cy="585077"/>
          </a:xfrm>
          <a:prstGeom prst="rect">
            <a:avLst/>
          </a:prstGeom>
          <a:solidFill>
            <a:srgbClr val="66FF33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AJP-4 (B)</a:t>
            </a:r>
            <a:br>
              <a:rPr lang="en-US" sz="1100" b="1" dirty="0" smtClean="0">
                <a:solidFill>
                  <a:schemeClr val="tx1"/>
                </a:solidFill>
              </a:rPr>
            </a:br>
            <a:r>
              <a:rPr lang="en-US" sz="1100" b="1" dirty="0" smtClean="0">
                <a:solidFill>
                  <a:schemeClr val="tx1"/>
                </a:solidFill>
              </a:rPr>
              <a:t>Logistics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1520" y="1937154"/>
            <a:ext cx="936104" cy="585077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AJP-4.1</a:t>
            </a:r>
            <a:br>
              <a:rPr lang="en-US" sz="1100" b="1" dirty="0" smtClean="0">
                <a:solidFill>
                  <a:schemeClr val="tx1"/>
                </a:solidFill>
              </a:rPr>
            </a:br>
            <a:r>
              <a:rPr lang="en-US" sz="1100" b="1" dirty="0" smtClean="0">
                <a:solidFill>
                  <a:schemeClr val="tx1"/>
                </a:solidFill>
              </a:rPr>
              <a:t>Logistics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520" y="2637895"/>
            <a:ext cx="936104" cy="585077"/>
          </a:xfrm>
          <a:prstGeom prst="rect">
            <a:avLst/>
          </a:prstGeom>
          <a:solidFill>
            <a:srgbClr val="66FF33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AJP-4.3 (A)</a:t>
            </a:r>
            <a:br>
              <a:rPr lang="en-US" sz="1100" b="1" dirty="0" smtClean="0">
                <a:solidFill>
                  <a:schemeClr val="tx1"/>
                </a:solidFill>
              </a:rPr>
            </a:br>
            <a:r>
              <a:rPr lang="en-US" sz="1100" b="1" dirty="0" smtClean="0">
                <a:solidFill>
                  <a:schemeClr val="tx1"/>
                </a:solidFill>
              </a:rPr>
              <a:t>Host Nation Support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1520" y="3357975"/>
            <a:ext cx="936104" cy="585077"/>
          </a:xfrm>
          <a:prstGeom prst="rect">
            <a:avLst/>
          </a:prstGeom>
          <a:solidFill>
            <a:srgbClr val="66FF33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AJP-4.4 (C)</a:t>
            </a:r>
            <a:br>
              <a:rPr lang="en-US" sz="1100" b="1" dirty="0" smtClean="0">
                <a:solidFill>
                  <a:schemeClr val="tx1"/>
                </a:solidFill>
              </a:rPr>
            </a:br>
            <a:r>
              <a:rPr lang="en-US" sz="1100" b="1" dirty="0" smtClean="0">
                <a:solidFill>
                  <a:schemeClr val="tx1"/>
                </a:solidFill>
              </a:rPr>
              <a:t>Movement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1520" y="4074905"/>
            <a:ext cx="936104" cy="585077"/>
          </a:xfrm>
          <a:prstGeom prst="rect">
            <a:avLst/>
          </a:prstGeom>
          <a:solidFill>
            <a:srgbClr val="66FF33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AJP-4.6 (C)</a:t>
            </a:r>
            <a:br>
              <a:rPr lang="en-US" sz="1100" b="1" dirty="0" smtClean="0">
                <a:solidFill>
                  <a:schemeClr val="tx1"/>
                </a:solidFill>
              </a:rPr>
            </a:br>
            <a:r>
              <a:rPr lang="en-US" sz="1100" b="1" dirty="0" smtClean="0">
                <a:solidFill>
                  <a:schemeClr val="tx1"/>
                </a:solidFill>
              </a:rPr>
              <a:t>JLSG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27984" y="1937152"/>
            <a:ext cx="936104" cy="585077"/>
          </a:xfrm>
          <a:prstGeom prst="rect">
            <a:avLst/>
          </a:prstGeom>
          <a:solidFill>
            <a:srgbClr val="66FF33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AJP-4.7 (B)</a:t>
            </a:r>
            <a:br>
              <a:rPr lang="en-US" sz="1100" b="1" dirty="0" smtClean="0">
                <a:solidFill>
                  <a:schemeClr val="tx1"/>
                </a:solidFill>
              </a:rPr>
            </a:br>
            <a:r>
              <a:rPr lang="en-US" sz="1100" b="1" dirty="0" smtClean="0">
                <a:solidFill>
                  <a:schemeClr val="tx1"/>
                </a:solidFill>
              </a:rPr>
              <a:t>Petroleum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27984" y="2637894"/>
            <a:ext cx="936104" cy="585077"/>
          </a:xfrm>
          <a:prstGeom prst="rect">
            <a:avLst/>
          </a:prstGeom>
          <a:solidFill>
            <a:srgbClr val="66FF33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AJP-4.10 (C)</a:t>
            </a:r>
            <a:br>
              <a:rPr lang="en-US" sz="1100" b="1" dirty="0" smtClean="0">
                <a:solidFill>
                  <a:schemeClr val="tx1"/>
                </a:solidFill>
              </a:rPr>
            </a:br>
            <a:r>
              <a:rPr lang="en-US" sz="1100" b="1" dirty="0" smtClean="0">
                <a:solidFill>
                  <a:schemeClr val="tx1"/>
                </a:solidFill>
              </a:rPr>
              <a:t>Medical Support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30836" y="3357975"/>
            <a:ext cx="936104" cy="585077"/>
          </a:xfrm>
          <a:prstGeom prst="rect">
            <a:avLst/>
          </a:prstGeom>
          <a:solidFill>
            <a:srgbClr val="66FF33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AJP-4.11</a:t>
            </a:r>
            <a:br>
              <a:rPr lang="en-US" sz="1100" b="1" dirty="0" smtClean="0">
                <a:solidFill>
                  <a:schemeClr val="tx1"/>
                </a:solidFill>
              </a:rPr>
            </a:br>
            <a:r>
              <a:rPr lang="en-US" sz="1100" b="1" dirty="0" smtClean="0">
                <a:solidFill>
                  <a:schemeClr val="tx1"/>
                </a:solidFill>
              </a:rPr>
              <a:t>Asset Visibility</a:t>
            </a:r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251520" y="1635646"/>
            <a:ext cx="8587680" cy="0"/>
          </a:xfrm>
          <a:prstGeom prst="line">
            <a:avLst/>
          </a:prstGeom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59632" y="2574898"/>
            <a:ext cx="2734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500">
              <a:tabLst>
                <a:tab pos="1343025" algn="l"/>
              </a:tabLst>
            </a:pPr>
            <a:r>
              <a:rPr lang="en-US" sz="1200" b="1" dirty="0" smtClean="0"/>
              <a:t>Promulgation date	: Apr 2021</a:t>
            </a:r>
            <a:br>
              <a:rPr lang="en-US" sz="1200" b="1" dirty="0" smtClean="0"/>
            </a:br>
            <a:r>
              <a:rPr lang="en-US" sz="1200" b="1" dirty="0" smtClean="0"/>
              <a:t>Custodian	: ACT - OF-4 </a:t>
            </a:r>
            <a:r>
              <a:rPr lang="en-US" sz="1200" b="1" dirty="0" err="1" smtClean="0"/>
              <a:t>Rades</a:t>
            </a:r>
            <a:r>
              <a:rPr lang="en-US" sz="1200" b="1" dirty="0" smtClean="0"/>
              <a:t/>
            </a:r>
            <a:br>
              <a:rPr lang="en-US" sz="1200" b="1" dirty="0" smtClean="0"/>
            </a:br>
            <a:r>
              <a:rPr lang="en-US" sz="1200" b="1" dirty="0" smtClean="0">
                <a:solidFill>
                  <a:srgbClr val="FF0000"/>
                </a:solidFill>
              </a:rPr>
              <a:t>Assessed in 2023</a:t>
            </a:r>
            <a:endParaRPr lang="en-GB" sz="1200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59632" y="903229"/>
            <a:ext cx="3727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500">
              <a:tabLst>
                <a:tab pos="1343025" algn="l"/>
              </a:tabLst>
            </a:pPr>
            <a:r>
              <a:rPr lang="en-US" sz="1200" b="1" dirty="0" smtClean="0"/>
              <a:t>Promulgation date	: Dec 2018</a:t>
            </a:r>
            <a:br>
              <a:rPr lang="en-US" sz="1200" b="1" dirty="0" smtClean="0"/>
            </a:br>
            <a:r>
              <a:rPr lang="en-US" sz="1200" b="1" dirty="0" smtClean="0"/>
              <a:t>Custodian	: </a:t>
            </a:r>
            <a:r>
              <a:rPr lang="en-US" sz="1200" b="1" dirty="0"/>
              <a:t>ACT - Mr. </a:t>
            </a:r>
            <a:r>
              <a:rPr lang="en-US" sz="1200" b="1" dirty="0" err="1" smtClean="0"/>
              <a:t>Twose</a:t>
            </a:r>
            <a:r>
              <a:rPr lang="en-US" sz="1200" b="1" dirty="0" smtClean="0"/>
              <a:t/>
            </a:r>
            <a:br>
              <a:rPr lang="en-US" sz="1200" b="1" dirty="0" smtClean="0"/>
            </a:br>
            <a:r>
              <a:rPr lang="en-US" sz="1200" b="1" dirty="0" smtClean="0">
                <a:solidFill>
                  <a:srgbClr val="FF0000"/>
                </a:solidFill>
              </a:rPr>
              <a:t>Will be titled </a:t>
            </a:r>
            <a:r>
              <a:rPr lang="en-US" sz="1200" b="1" u="sng" dirty="0" smtClean="0">
                <a:solidFill>
                  <a:srgbClr val="FF0000"/>
                </a:solidFill>
              </a:rPr>
              <a:t>Sustainment</a:t>
            </a:r>
            <a:r>
              <a:rPr lang="en-US" sz="1200" b="1" dirty="0">
                <a:solidFill>
                  <a:srgbClr val="FF0000"/>
                </a:solidFill>
              </a:rPr>
              <a:t>. </a:t>
            </a:r>
            <a:r>
              <a:rPr lang="en-US" sz="1200" b="1" dirty="0" smtClean="0">
                <a:solidFill>
                  <a:srgbClr val="FF0000"/>
                </a:solidFill>
              </a:rPr>
              <a:t> SD2 </a:t>
            </a:r>
            <a:r>
              <a:rPr lang="en-US" sz="1200" b="1" dirty="0">
                <a:solidFill>
                  <a:srgbClr val="FF0000"/>
                </a:solidFill>
              </a:rPr>
              <a:t>now anticipated Jun 23</a:t>
            </a:r>
            <a:endParaRPr lang="en-GB" sz="12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59632" y="3301399"/>
            <a:ext cx="2839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500">
              <a:tabLst>
                <a:tab pos="1343025" algn="l"/>
              </a:tabLst>
            </a:pPr>
            <a:r>
              <a:rPr lang="en-US" sz="1200" b="1" dirty="0" smtClean="0"/>
              <a:t>Promulgation date	: Sep 2022</a:t>
            </a:r>
            <a:br>
              <a:rPr lang="en-US" sz="1200" b="1" dirty="0" smtClean="0"/>
            </a:br>
            <a:r>
              <a:rPr lang="en-US" sz="1200" b="1" dirty="0" smtClean="0"/>
              <a:t>Custodian	</a:t>
            </a:r>
            <a:r>
              <a:rPr lang="en-US" sz="1200" b="1" dirty="0"/>
              <a:t>: ACT - OF-4 </a:t>
            </a:r>
            <a:r>
              <a:rPr lang="en-US" sz="1200" b="1" dirty="0" err="1" smtClean="0"/>
              <a:t>Vogrin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>
                <a:solidFill>
                  <a:srgbClr val="FF0000"/>
                </a:solidFill>
              </a:rPr>
              <a:t>Assessed in </a:t>
            </a:r>
            <a:r>
              <a:rPr lang="en-US" sz="1200" b="1" dirty="0" smtClean="0">
                <a:solidFill>
                  <a:srgbClr val="FF0000"/>
                </a:solidFill>
              </a:rPr>
              <a:t>2024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59632" y="4003445"/>
            <a:ext cx="26457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500">
              <a:tabLst>
                <a:tab pos="1343025" algn="l"/>
              </a:tabLst>
            </a:pPr>
            <a:r>
              <a:rPr lang="en-US" sz="1200" b="1" dirty="0" smtClean="0"/>
              <a:t>Promulgation date	: Dec 2018</a:t>
            </a:r>
            <a:br>
              <a:rPr lang="en-US" sz="1200" b="1" dirty="0" smtClean="0"/>
            </a:br>
            <a:r>
              <a:rPr lang="en-US" sz="1200" b="1" dirty="0" smtClean="0"/>
              <a:t>Custodian	</a:t>
            </a:r>
            <a:r>
              <a:rPr lang="en-US" sz="1200" b="1" dirty="0"/>
              <a:t>: ACT - Mr. </a:t>
            </a:r>
            <a:r>
              <a:rPr lang="en-US" sz="1200" b="1" dirty="0" err="1"/>
              <a:t>Twose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>
                <a:solidFill>
                  <a:srgbClr val="FF0000"/>
                </a:solidFill>
              </a:rPr>
              <a:t>On hold to be subsumed into AJP-4.1</a:t>
            </a:r>
            <a:endParaRPr lang="en-GB" sz="1200" b="1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36096" y="1892646"/>
            <a:ext cx="2897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500">
              <a:tabLst>
                <a:tab pos="1343025" algn="l"/>
              </a:tabLst>
            </a:pPr>
            <a:r>
              <a:rPr lang="en-US" sz="1200" b="1" dirty="0" smtClean="0"/>
              <a:t>Promulgation date	: Oct 2017</a:t>
            </a:r>
            <a:br>
              <a:rPr lang="en-US" sz="1200" b="1" dirty="0" smtClean="0"/>
            </a:br>
            <a:r>
              <a:rPr lang="en-US" sz="1200" b="1" dirty="0" smtClean="0"/>
              <a:t>Custodian	</a:t>
            </a:r>
            <a:r>
              <a:rPr lang="en-US" sz="1200" b="1" dirty="0"/>
              <a:t>: ACT - OF-4 </a:t>
            </a:r>
            <a:r>
              <a:rPr lang="en-US" sz="1200" b="1" dirty="0" err="1" smtClean="0"/>
              <a:t>Billerey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>
                <a:solidFill>
                  <a:srgbClr val="FF0000"/>
                </a:solidFill>
              </a:rPr>
              <a:t>On hold to be subsumed into AJP-4.1</a:t>
            </a:r>
            <a:endParaRPr lang="en-GB" sz="12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36096" y="2574898"/>
            <a:ext cx="3302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500">
              <a:tabLst>
                <a:tab pos="1343025" algn="l"/>
              </a:tabLst>
            </a:pPr>
            <a:r>
              <a:rPr lang="en-US" sz="1200" b="1" dirty="0" smtClean="0"/>
              <a:t>Promulgation date	: Sep 2019</a:t>
            </a:r>
            <a:br>
              <a:rPr lang="en-US" sz="1200" b="1" dirty="0" smtClean="0"/>
            </a:br>
            <a:r>
              <a:rPr lang="en-US" sz="1200" b="1" dirty="0" smtClean="0"/>
              <a:t>Custodian	</a:t>
            </a:r>
            <a:r>
              <a:rPr lang="en-US" sz="1200" b="1" dirty="0"/>
              <a:t>: ACT </a:t>
            </a:r>
            <a:r>
              <a:rPr lang="en-US" sz="1200" b="1" dirty="0" smtClean="0"/>
              <a:t>- OF-4 Sell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 smtClean="0">
                <a:solidFill>
                  <a:srgbClr val="FF0000"/>
                </a:solidFill>
              </a:rPr>
              <a:t>Renumbering </a:t>
            </a:r>
            <a:r>
              <a:rPr lang="en-US" sz="1200" b="1" dirty="0">
                <a:solidFill>
                  <a:srgbClr val="FF0000"/>
                </a:solidFill>
              </a:rPr>
              <a:t>to AJP-4.2. </a:t>
            </a:r>
            <a:r>
              <a:rPr lang="en-US" sz="1200" b="1" dirty="0" smtClean="0">
                <a:solidFill>
                  <a:srgbClr val="FF0000"/>
                </a:solidFill>
              </a:rPr>
              <a:t> SD1 anticipated Q3 </a:t>
            </a:r>
            <a:r>
              <a:rPr lang="en-US" sz="1200" b="1" dirty="0">
                <a:solidFill>
                  <a:srgbClr val="FF0000"/>
                </a:solidFill>
              </a:rPr>
              <a:t>23</a:t>
            </a:r>
            <a:endParaRPr lang="en-GB" sz="12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36096" y="3357975"/>
            <a:ext cx="36005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500">
              <a:tabLst>
                <a:tab pos="1343025" algn="l"/>
              </a:tabLst>
            </a:pPr>
            <a:r>
              <a:rPr lang="en-US" sz="1200" b="1" dirty="0" smtClean="0"/>
              <a:t>Promulgation date	: Feb 2011</a:t>
            </a:r>
            <a:br>
              <a:rPr lang="en-US" sz="1200" b="1" dirty="0" smtClean="0"/>
            </a:br>
            <a:r>
              <a:rPr lang="en-US" sz="1200" b="1" dirty="0" smtClean="0"/>
              <a:t>Custodian	: </a:t>
            </a:r>
            <a:r>
              <a:rPr lang="en-US" sz="1200" b="1" dirty="0"/>
              <a:t>ACT - OF-4 </a:t>
            </a:r>
            <a:r>
              <a:rPr lang="en-US" sz="1200" b="1" dirty="0" smtClean="0"/>
              <a:t>Macias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>
                <a:solidFill>
                  <a:srgbClr val="FF0000"/>
                </a:solidFill>
              </a:rPr>
              <a:t>On hold </a:t>
            </a:r>
            <a:r>
              <a:rPr lang="en-US" sz="1200" b="1" dirty="0" smtClean="0">
                <a:solidFill>
                  <a:srgbClr val="FF0000"/>
                </a:solidFill>
              </a:rPr>
              <a:t>- </a:t>
            </a:r>
            <a:r>
              <a:rPr lang="en-US" sz="1200" b="1" dirty="0">
                <a:solidFill>
                  <a:srgbClr val="FF0000"/>
                </a:solidFill>
              </a:rPr>
              <a:t>Review of level of doctrine possible level </a:t>
            </a:r>
            <a:r>
              <a:rPr lang="en-US" sz="1200" b="1" dirty="0" smtClean="0">
                <a:solidFill>
                  <a:srgbClr val="FF0000"/>
                </a:solidFill>
              </a:rPr>
              <a:t>3</a:t>
            </a:r>
            <a:endParaRPr lang="en-GB" sz="1200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59630" y="1745027"/>
            <a:ext cx="31683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79500">
              <a:tabLst>
                <a:tab pos="1343025" algn="l"/>
              </a:tabLst>
            </a:pPr>
            <a:r>
              <a:rPr lang="en-US" sz="1200" b="1" dirty="0" smtClean="0"/>
              <a:t>Custodian	</a:t>
            </a:r>
            <a:r>
              <a:rPr lang="en-US" sz="1200" b="1" dirty="0"/>
              <a:t>: ACT - Mr. </a:t>
            </a:r>
            <a:r>
              <a:rPr lang="en-US" sz="1200" b="1" dirty="0" err="1" smtClean="0"/>
              <a:t>Twose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>
                <a:solidFill>
                  <a:srgbClr val="FF0000"/>
                </a:solidFill>
              </a:rPr>
              <a:t>New Level 2 Logistic </a:t>
            </a:r>
            <a:r>
              <a:rPr lang="en-US" sz="1200" b="1" dirty="0" smtClean="0">
                <a:solidFill>
                  <a:srgbClr val="FF0000"/>
                </a:solidFill>
              </a:rPr>
              <a:t>publication</a:t>
            </a:r>
            <a:br>
              <a:rPr lang="en-US" sz="1200" b="1" dirty="0" smtClean="0">
                <a:solidFill>
                  <a:srgbClr val="FF0000"/>
                </a:solidFill>
              </a:rPr>
            </a:br>
            <a:r>
              <a:rPr lang="en-US" sz="1200" b="1" dirty="0" smtClean="0">
                <a:solidFill>
                  <a:srgbClr val="FF0000"/>
                </a:solidFill>
              </a:rPr>
              <a:t>DFW </a:t>
            </a:r>
            <a:r>
              <a:rPr lang="en-US" sz="1200" b="1" dirty="0">
                <a:solidFill>
                  <a:srgbClr val="FF0000"/>
                </a:solidFill>
              </a:rPr>
              <a:t>delayed </a:t>
            </a:r>
            <a:r>
              <a:rPr lang="en-US" sz="1200" b="1" dirty="0" smtClean="0">
                <a:solidFill>
                  <a:srgbClr val="FF0000"/>
                </a:solidFill>
              </a:rPr>
              <a:t>due </a:t>
            </a:r>
            <a:r>
              <a:rPr lang="en-US" sz="1200" b="1" dirty="0">
                <a:solidFill>
                  <a:srgbClr val="FF0000"/>
                </a:solidFill>
              </a:rPr>
              <a:t>to </a:t>
            </a:r>
            <a:r>
              <a:rPr lang="en-US" sz="1200" b="1" dirty="0" smtClean="0">
                <a:solidFill>
                  <a:srgbClr val="FF0000"/>
                </a:solidFill>
              </a:rPr>
              <a:t>delay </a:t>
            </a:r>
            <a:r>
              <a:rPr lang="en-US" sz="1200" b="1" dirty="0">
                <a:solidFill>
                  <a:srgbClr val="FF0000"/>
                </a:solidFill>
              </a:rPr>
              <a:t>MC 0319/4</a:t>
            </a:r>
            <a:br>
              <a:rPr lang="en-US" sz="1200" b="1" dirty="0">
                <a:solidFill>
                  <a:srgbClr val="FF0000"/>
                </a:solidFill>
              </a:rPr>
            </a:br>
            <a:r>
              <a:rPr lang="en-US" sz="1200" b="1" dirty="0">
                <a:solidFill>
                  <a:srgbClr val="FF0000"/>
                </a:solidFill>
              </a:rPr>
              <a:t>SD1 anticipated </a:t>
            </a:r>
            <a:r>
              <a:rPr lang="en-US" sz="1200" b="1" dirty="0" smtClean="0">
                <a:solidFill>
                  <a:srgbClr val="FF0000"/>
                </a:solidFill>
              </a:rPr>
              <a:t>Q4 </a:t>
            </a:r>
            <a:r>
              <a:rPr lang="en-US" sz="1200" b="1" dirty="0">
                <a:solidFill>
                  <a:srgbClr val="FF0000"/>
                </a:solidFill>
              </a:rPr>
              <a:t>23</a:t>
            </a:r>
          </a:p>
          <a:p>
            <a:pPr defTabSz="1079500">
              <a:tabLst>
                <a:tab pos="1343025" algn="l"/>
              </a:tabLst>
            </a:pPr>
            <a:endParaRPr lang="en-GB" sz="1200" b="1" dirty="0">
              <a:solidFill>
                <a:srgbClr val="FF0000"/>
              </a:solidFill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4244311" y="4146584"/>
            <a:ext cx="4666895" cy="0"/>
          </a:xfrm>
          <a:prstGeom prst="line">
            <a:avLst/>
          </a:prstGeom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>
            <a:spLocks noChangeAspect="1"/>
          </p:cNvSpPr>
          <p:nvPr/>
        </p:nvSpPr>
        <p:spPr>
          <a:xfrm>
            <a:off x="4427984" y="4304434"/>
            <a:ext cx="648072" cy="427556"/>
          </a:xfrm>
          <a:prstGeom prst="rect">
            <a:avLst/>
          </a:prstGeom>
          <a:solidFill>
            <a:srgbClr val="D7FFAF"/>
          </a:solidFill>
          <a:ln w="12700">
            <a:solidFill>
              <a:srgbClr val="99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solidFill>
                  <a:schemeClr val="tx1"/>
                </a:solidFill>
              </a:rPr>
              <a:t>ALP-1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>
            <a:spLocks noChangeAspect="1"/>
          </p:cNvSpPr>
          <p:nvPr/>
        </p:nvSpPr>
        <p:spPr>
          <a:xfrm>
            <a:off x="5148064" y="4298204"/>
            <a:ext cx="648072" cy="427556"/>
          </a:xfrm>
          <a:prstGeom prst="rect">
            <a:avLst/>
          </a:prstGeom>
          <a:solidFill>
            <a:srgbClr val="D7FFAF"/>
          </a:solidFill>
          <a:ln w="12700">
            <a:solidFill>
              <a:srgbClr val="99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solidFill>
                  <a:schemeClr val="tx1"/>
                </a:solidFill>
              </a:rPr>
              <a:t>ALP-4.2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>
            <a:spLocks noChangeAspect="1"/>
          </p:cNvSpPr>
          <p:nvPr/>
        </p:nvSpPr>
        <p:spPr>
          <a:xfrm>
            <a:off x="5868144" y="4298204"/>
            <a:ext cx="648072" cy="427556"/>
          </a:xfrm>
          <a:prstGeom prst="rect">
            <a:avLst/>
          </a:prstGeom>
          <a:solidFill>
            <a:srgbClr val="D7FFAF"/>
          </a:solidFill>
          <a:ln w="12700">
            <a:solidFill>
              <a:srgbClr val="99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solidFill>
                  <a:schemeClr val="tx1"/>
                </a:solidFill>
              </a:rPr>
              <a:t>ALP-4.3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>
            <a:spLocks noChangeAspect="1"/>
          </p:cNvSpPr>
          <p:nvPr/>
        </p:nvSpPr>
        <p:spPr>
          <a:xfrm>
            <a:off x="6588224" y="4298204"/>
            <a:ext cx="648072" cy="427556"/>
          </a:xfrm>
          <a:prstGeom prst="rect">
            <a:avLst/>
          </a:prstGeom>
          <a:solidFill>
            <a:srgbClr val="D7FFAF"/>
          </a:solidFill>
          <a:ln w="12700">
            <a:solidFill>
              <a:srgbClr val="99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solidFill>
                  <a:schemeClr val="tx1"/>
                </a:solidFill>
              </a:rPr>
              <a:t>ALP-4.16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62285" y="1336642"/>
            <a:ext cx="748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0070C0"/>
                </a:solidFill>
              </a:rPr>
              <a:t>LEVEL 1</a:t>
            </a:r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62283" y="1632808"/>
            <a:ext cx="748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0070C0"/>
                </a:solidFill>
              </a:rPr>
              <a:t>LEVEL 2</a:t>
            </a:r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43557" y="4141052"/>
            <a:ext cx="7489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0070C0"/>
                </a:solidFill>
              </a:rPr>
              <a:t>LEVEL </a:t>
            </a:r>
            <a:r>
              <a:rPr lang="en-US" sz="1400" b="1" dirty="0" smtClean="0">
                <a:solidFill>
                  <a:srgbClr val="0070C0"/>
                </a:solidFill>
              </a:rPr>
              <a:t>3</a:t>
            </a:r>
            <a:br>
              <a:rPr lang="en-US" sz="1400" b="1" dirty="0" smtClean="0">
                <a:solidFill>
                  <a:srgbClr val="0070C0"/>
                </a:solidFill>
              </a:rPr>
            </a:br>
            <a:r>
              <a:rPr lang="en-US" sz="1400" b="1" dirty="0" smtClean="0">
                <a:solidFill>
                  <a:srgbClr val="0070C0"/>
                </a:solidFill>
              </a:rPr>
              <a:t>(APs)</a:t>
            </a:r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38" name="Rectangle 37"/>
          <p:cNvSpPr>
            <a:spLocks noChangeAspect="1"/>
          </p:cNvSpPr>
          <p:nvPr/>
        </p:nvSpPr>
        <p:spPr>
          <a:xfrm>
            <a:off x="5557722" y="339502"/>
            <a:ext cx="598454" cy="427556"/>
          </a:xfrm>
          <a:prstGeom prst="rect">
            <a:avLst/>
          </a:prstGeom>
          <a:solidFill>
            <a:srgbClr val="E8F4F8"/>
          </a:solidFill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>
                    <a:lumMod val="65000"/>
                  </a:schemeClr>
                </a:solidFill>
              </a:rPr>
              <a:t>MC </a:t>
            </a:r>
            <a:r>
              <a:rPr lang="en-US" sz="1000" b="1" dirty="0" smtClean="0">
                <a:solidFill>
                  <a:schemeClr val="bg1">
                    <a:lumMod val="65000"/>
                  </a:schemeClr>
                </a:solidFill>
              </a:rPr>
              <a:t>0319</a:t>
            </a:r>
            <a:endParaRPr lang="en-GB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9" name="Rectangle 38"/>
          <p:cNvSpPr>
            <a:spLocks noChangeAspect="1"/>
          </p:cNvSpPr>
          <p:nvPr/>
        </p:nvSpPr>
        <p:spPr>
          <a:xfrm>
            <a:off x="6205794" y="343144"/>
            <a:ext cx="598454" cy="427556"/>
          </a:xfrm>
          <a:prstGeom prst="rect">
            <a:avLst/>
          </a:prstGeom>
          <a:solidFill>
            <a:srgbClr val="E8F4F8"/>
          </a:solidFill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>
                    <a:lumMod val="65000"/>
                  </a:schemeClr>
                </a:solidFill>
              </a:rPr>
              <a:t>MC </a:t>
            </a:r>
            <a:r>
              <a:rPr lang="en-US" sz="1000" b="1" dirty="0" smtClean="0">
                <a:solidFill>
                  <a:schemeClr val="bg1">
                    <a:lumMod val="65000"/>
                  </a:schemeClr>
                </a:solidFill>
              </a:rPr>
              <a:t>0326</a:t>
            </a:r>
            <a:endParaRPr lang="en-GB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0" name="Rectangle 39"/>
          <p:cNvSpPr>
            <a:spLocks noChangeAspect="1"/>
          </p:cNvSpPr>
          <p:nvPr/>
        </p:nvSpPr>
        <p:spPr>
          <a:xfrm>
            <a:off x="6853866" y="343144"/>
            <a:ext cx="598454" cy="427556"/>
          </a:xfrm>
          <a:prstGeom prst="rect">
            <a:avLst/>
          </a:prstGeom>
          <a:solidFill>
            <a:srgbClr val="E8F4F8"/>
          </a:solidFill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>
                    <a:lumMod val="65000"/>
                  </a:schemeClr>
                </a:solidFill>
              </a:rPr>
              <a:t>MC </a:t>
            </a:r>
            <a:r>
              <a:rPr lang="en-US" sz="1000" b="1" dirty="0" smtClean="0">
                <a:solidFill>
                  <a:schemeClr val="bg1">
                    <a:lumMod val="65000"/>
                  </a:schemeClr>
                </a:solidFill>
              </a:rPr>
              <a:t>0334</a:t>
            </a:r>
            <a:endParaRPr lang="en-GB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1" name="Rectangle 40"/>
          <p:cNvSpPr>
            <a:spLocks noChangeAspect="1"/>
          </p:cNvSpPr>
          <p:nvPr/>
        </p:nvSpPr>
        <p:spPr>
          <a:xfrm>
            <a:off x="7501938" y="343144"/>
            <a:ext cx="598454" cy="427556"/>
          </a:xfrm>
          <a:prstGeom prst="rect">
            <a:avLst/>
          </a:prstGeom>
          <a:solidFill>
            <a:srgbClr val="E8F4F8"/>
          </a:solidFill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>
                    <a:lumMod val="65000"/>
                  </a:schemeClr>
                </a:solidFill>
              </a:rPr>
              <a:t>MC </a:t>
            </a:r>
            <a:r>
              <a:rPr lang="en-US" sz="1000" b="1" dirty="0" smtClean="0">
                <a:solidFill>
                  <a:schemeClr val="bg1">
                    <a:lumMod val="65000"/>
                  </a:schemeClr>
                </a:solidFill>
              </a:rPr>
              <a:t>0336</a:t>
            </a:r>
            <a:endParaRPr lang="en-GB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895445" y="782583"/>
            <a:ext cx="901914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GB" sz="1200" dirty="0" smtClean="0">
                <a:solidFill>
                  <a:schemeClr val="bg1">
                    <a:lumMod val="65000"/>
                  </a:schemeClr>
                </a:solidFill>
              </a:rPr>
              <a:t>DIRECTIVES</a:t>
            </a:r>
            <a:endParaRPr lang="en-GB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5" name="Rectangle 34"/>
          <p:cNvSpPr>
            <a:spLocks noChangeAspect="1"/>
          </p:cNvSpPr>
          <p:nvPr/>
        </p:nvSpPr>
        <p:spPr>
          <a:xfrm>
            <a:off x="8150010" y="343144"/>
            <a:ext cx="598454" cy="427556"/>
          </a:xfrm>
          <a:prstGeom prst="rect">
            <a:avLst/>
          </a:prstGeom>
          <a:solidFill>
            <a:srgbClr val="E8F4F8"/>
          </a:solidFill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>
                    <a:lumMod val="65000"/>
                  </a:schemeClr>
                </a:solidFill>
              </a:rPr>
              <a:t>MC </a:t>
            </a:r>
            <a:r>
              <a:rPr lang="en-US" sz="1000" b="1" dirty="0" smtClean="0">
                <a:solidFill>
                  <a:schemeClr val="bg1">
                    <a:lumMod val="65000"/>
                  </a:schemeClr>
                </a:solidFill>
              </a:rPr>
              <a:t>0473</a:t>
            </a:r>
            <a:endParaRPr lang="en-GB" sz="10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2" name="Rectangle 41"/>
          <p:cNvSpPr>
            <a:spLocks noChangeAspect="1"/>
          </p:cNvSpPr>
          <p:nvPr/>
        </p:nvSpPr>
        <p:spPr>
          <a:xfrm>
            <a:off x="7308304" y="4298204"/>
            <a:ext cx="648072" cy="427556"/>
          </a:xfrm>
          <a:prstGeom prst="rect">
            <a:avLst/>
          </a:prstGeom>
          <a:solidFill>
            <a:srgbClr val="D7FFAF"/>
          </a:solidFill>
          <a:ln w="12700">
            <a:solidFill>
              <a:srgbClr val="99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solidFill>
                  <a:schemeClr val="tx1"/>
                </a:solidFill>
              </a:rPr>
              <a:t>AJMEDP</a:t>
            </a:r>
            <a:endParaRPr lang="en-GB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06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1520" y="1059582"/>
            <a:ext cx="2490763" cy="35319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Logistics doctrine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NATO UNCLASSIFIED</a:t>
            </a:r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35896" y="1073299"/>
            <a:ext cx="2524199" cy="35163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Right Arrow 8"/>
          <p:cNvSpPr/>
          <p:nvPr/>
        </p:nvSpPr>
        <p:spPr>
          <a:xfrm>
            <a:off x="2843808" y="2409372"/>
            <a:ext cx="720080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355432" y="1074104"/>
            <a:ext cx="2609056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Clr>
                <a:srgbClr val="003B5B"/>
              </a:buClr>
              <a:tabLst>
                <a:tab pos="628650" algn="l"/>
                <a:tab pos="6172200" algn="r"/>
              </a:tabLst>
            </a:pPr>
            <a:r>
              <a:rPr lang="en-GB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Sustainment </a:t>
            </a:r>
            <a:r>
              <a:rPr lang="en-GB" u="sng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activities</a:t>
            </a:r>
            <a:r>
              <a:rPr lang="en-GB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br>
              <a:rPr lang="en-GB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GB" sz="8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spcAft>
                <a:spcPts val="0"/>
              </a:spcAft>
              <a:buClr>
                <a:srgbClr val="003B5B"/>
              </a:buClr>
              <a:buFont typeface="Wingdings" panose="05000000000000000000" pitchFamily="2" charset="2"/>
              <a:buChar char="§"/>
              <a:tabLst>
                <a:tab pos="628650" algn="l"/>
                <a:tab pos="6172200" algn="r"/>
              </a:tabLst>
            </a:pPr>
            <a:r>
              <a:rPr lang="en-GB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Personnel support</a:t>
            </a:r>
          </a:p>
          <a:p>
            <a:pPr marL="285750" indent="-285750">
              <a:spcAft>
                <a:spcPts val="0"/>
              </a:spcAft>
              <a:buClr>
                <a:srgbClr val="003B5B"/>
              </a:buClr>
              <a:buFont typeface="Wingdings" panose="05000000000000000000" pitchFamily="2" charset="2"/>
              <a:buChar char="§"/>
              <a:tabLst>
                <a:tab pos="628650" algn="l"/>
                <a:tab pos="6172200" algn="r"/>
              </a:tabLst>
            </a:pPr>
            <a:r>
              <a:rPr lang="en-GB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Logistics</a:t>
            </a:r>
            <a:endParaRPr lang="en-GB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0"/>
              </a:spcAft>
              <a:buClr>
                <a:srgbClr val="003B5B"/>
              </a:buClr>
              <a:buFont typeface="Wingdings" panose="05000000000000000000" pitchFamily="2" charset="2"/>
              <a:buChar char="§"/>
              <a:tabLst>
                <a:tab pos="628650" algn="l"/>
                <a:tab pos="6172200" algn="r"/>
              </a:tabLst>
            </a:pPr>
            <a:r>
              <a:rPr lang="en-GB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Medical support</a:t>
            </a:r>
            <a:endParaRPr lang="en-GB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0"/>
              </a:spcAft>
              <a:buClr>
                <a:srgbClr val="003B5B"/>
              </a:buClr>
              <a:buFont typeface="Wingdings" panose="05000000000000000000" pitchFamily="2" charset="2"/>
              <a:buChar char="§"/>
              <a:tabLst>
                <a:tab pos="628650" algn="l"/>
                <a:tab pos="6172200" algn="r"/>
              </a:tabLst>
            </a:pPr>
            <a:r>
              <a:rPr lang="en-GB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Military engineering</a:t>
            </a:r>
            <a:endParaRPr lang="en-GB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0"/>
              </a:spcAft>
              <a:buClr>
                <a:srgbClr val="003B5B"/>
              </a:buClr>
              <a:buFont typeface="Wingdings" panose="05000000000000000000" pitchFamily="2" charset="2"/>
              <a:buChar char="§"/>
              <a:tabLst>
                <a:tab pos="628650" algn="l"/>
                <a:tab pos="6172200" algn="r"/>
              </a:tabLst>
            </a:pPr>
            <a:r>
              <a:rPr lang="en-GB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Finance</a:t>
            </a:r>
            <a:endParaRPr lang="en-GB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GB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Contracts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2409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Clr>
                <a:srgbClr val="003B5B"/>
              </a:buClr>
            </a:pPr>
            <a:r>
              <a:rPr lang="en-US" dirty="0" smtClean="0"/>
              <a:t>NSO portal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NATO UNCLASSIFIED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5673" t="9434" r="17236" b="4063"/>
          <a:stretch/>
        </p:blipFill>
        <p:spPr>
          <a:xfrm>
            <a:off x="3854301" y="1143496"/>
            <a:ext cx="5011190" cy="363438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CF92F4A-7466-1E42-AC65-0DA26E8FB9BF}"/>
              </a:ext>
            </a:extLst>
          </p:cNvPr>
          <p:cNvSpPr txBox="1">
            <a:spLocks/>
          </p:cNvSpPr>
          <p:nvPr/>
        </p:nvSpPr>
        <p:spPr>
          <a:xfrm>
            <a:off x="319917" y="1225907"/>
            <a:ext cx="3205440" cy="329005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hlinkClick r:id="rId3"/>
              </a:rPr>
              <a:t>https://nso.nato.int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hlinkClick r:id="rId3"/>
              </a:rPr>
              <a:t>/</a:t>
            </a:r>
            <a:endParaRPr lang="en-US" sz="20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Promulgated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standards</a:t>
            </a:r>
          </a:p>
          <a:p>
            <a:pPr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Custodians</a:t>
            </a:r>
          </a:p>
          <a:p>
            <a:pPr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AJDCP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Forums to join</a:t>
            </a:r>
          </a:p>
          <a:p>
            <a:pPr>
              <a:buClr>
                <a:srgbClr val="003B5B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Custodian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Support Forum</a:t>
            </a:r>
          </a:p>
        </p:txBody>
      </p:sp>
      <p:sp>
        <p:nvSpPr>
          <p:cNvPr id="7" name="Oval 6"/>
          <p:cNvSpPr/>
          <p:nvPr/>
        </p:nvSpPr>
        <p:spPr>
          <a:xfrm>
            <a:off x="6976026" y="1995686"/>
            <a:ext cx="1728192" cy="93610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992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NATO UNCLASSIFIED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120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025a PPTMaster_16by9">
  <a:themeElements>
    <a:clrScheme name="NSO Startpage">
      <a:dk1>
        <a:sysClr val="windowText" lastClr="000000"/>
      </a:dk1>
      <a:lt1>
        <a:sysClr val="window" lastClr="FFFFFF"/>
      </a:lt1>
      <a:dk2>
        <a:srgbClr val="003B5B"/>
      </a:dk2>
      <a:lt2>
        <a:srgbClr val="003B5B"/>
      </a:lt2>
      <a:accent1>
        <a:srgbClr val="003B5B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NCOPD">
  <a:themeElements>
    <a:clrScheme name="NCOPD">
      <a:dk1>
        <a:sysClr val="windowText" lastClr="000000"/>
      </a:dk1>
      <a:lt1>
        <a:sysClr val="window" lastClr="FFFFFF"/>
      </a:lt1>
      <a:dk2>
        <a:srgbClr val="1F497D"/>
      </a:dk2>
      <a:lt2>
        <a:srgbClr val="817A7D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SEC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0C909D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DL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1D707C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HIED">
  <a:themeElements>
    <a:clrScheme name="HIED">
      <a:dk1>
        <a:sysClr val="windowText" lastClr="000000"/>
      </a:dk1>
      <a:lt1>
        <a:sysClr val="window" lastClr="FFFFFF"/>
      </a:lt1>
      <a:dk2>
        <a:srgbClr val="1F497D"/>
      </a:dk2>
      <a:lt2>
        <a:srgbClr val="B5823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INTEL">
  <a:themeElements>
    <a:clrScheme name="INTEL">
      <a:dk1>
        <a:sysClr val="windowText" lastClr="000000"/>
      </a:dk1>
      <a:lt1>
        <a:sysClr val="window" lastClr="FFFFFF"/>
      </a:lt1>
      <a:dk2>
        <a:srgbClr val="1F497D"/>
      </a:dk2>
      <a:lt2>
        <a:srgbClr val="B63A19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JPOD">
  <a:themeElements>
    <a:clrScheme name="JPOD">
      <a:dk1>
        <a:sysClr val="windowText" lastClr="000000"/>
      </a:dk1>
      <a:lt1>
        <a:sysClr val="window" lastClr="FFFFFF"/>
      </a:lt1>
      <a:dk2>
        <a:srgbClr val="1F497D"/>
      </a:dk2>
      <a:lt2>
        <a:srgbClr val="60814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JTIC">
  <a:themeElements>
    <a:clrScheme name="JTIC">
      <a:dk1>
        <a:sysClr val="windowText" lastClr="000000"/>
      </a:dk1>
      <a:lt1>
        <a:sysClr val="window" lastClr="FFFFFF"/>
      </a:lt1>
      <a:dk2>
        <a:srgbClr val="1F497D"/>
      </a:dk2>
      <a:lt2>
        <a:srgbClr val="BF1618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PROT">
  <a:themeElements>
    <a:clrScheme name="Custom 3">
      <a:dk1>
        <a:sysClr val="windowText" lastClr="000000"/>
      </a:dk1>
      <a:lt1>
        <a:sysClr val="window" lastClr="FFFFFF"/>
      </a:lt1>
      <a:dk2>
        <a:srgbClr val="1F497D"/>
      </a:dk2>
      <a:lt2>
        <a:srgbClr val="00000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SET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003B5B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5B27A65603CCE4286BCFAF569B13952" ma:contentTypeVersion="12" ma:contentTypeDescription="Criar um novo documento." ma:contentTypeScope="" ma:versionID="e8ed86e5e11f9f02dcb9587e66bef5b7">
  <xsd:schema xmlns:xsd="http://www.w3.org/2001/XMLSchema" xmlns:xs="http://www.w3.org/2001/XMLSchema" xmlns:p="http://schemas.microsoft.com/office/2006/metadata/properties" xmlns:ns2="1c3fb4c2-0da0-4d0a-ba1a-d31282cddde4" xmlns:ns3="768ec260-3609-4363-825e-a27f12258866" targetNamespace="http://schemas.microsoft.com/office/2006/metadata/properties" ma:root="true" ma:fieldsID="e12a2af26451616c9c41a45c543fea80" ns2:_="" ns3:_="">
    <xsd:import namespace="1c3fb4c2-0da0-4d0a-ba1a-d31282cddde4"/>
    <xsd:import namespace="768ec260-3609-4363-825e-a27f122588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3fb4c2-0da0-4d0a-ba1a-d31282cddd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m" ma:readOnly="false" ma:fieldId="{5cf76f15-5ced-4ddc-b409-7134ff3c332f}" ma:taxonomyMulti="true" ma:sspId="f8f0716f-eab5-442c-b43b-7dcdbaec42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8ec260-3609-4363-825e-a27f1225886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62ef64b-3660-49a0-8a9d-71bfcb2a4adc}" ma:internalName="TaxCatchAll" ma:showField="CatchAllData" ma:web="768ec260-3609-4363-825e-a27f122588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3fb4c2-0da0-4d0a-ba1a-d31282cddde4">
      <Terms xmlns="http://schemas.microsoft.com/office/infopath/2007/PartnerControls"/>
    </lcf76f155ced4ddcb4097134ff3c332f>
    <TaxCatchAll xmlns="768ec260-3609-4363-825e-a27f12258866" xsi:nil="true"/>
  </documentManagement>
</p:properties>
</file>

<file path=customXml/itemProps1.xml><?xml version="1.0" encoding="utf-8"?>
<ds:datastoreItem xmlns:ds="http://schemas.openxmlformats.org/officeDocument/2006/customXml" ds:itemID="{8FC54836-5A82-4BCA-A395-7E3BF5B55ACB}"/>
</file>

<file path=customXml/itemProps2.xml><?xml version="1.0" encoding="utf-8"?>
<ds:datastoreItem xmlns:ds="http://schemas.openxmlformats.org/officeDocument/2006/customXml" ds:itemID="{81672673-C042-4E71-8B74-17FF1152430E}"/>
</file>

<file path=customXml/itemProps3.xml><?xml version="1.0" encoding="utf-8"?>
<ds:datastoreItem xmlns:ds="http://schemas.openxmlformats.org/officeDocument/2006/customXml" ds:itemID="{6430ADB5-4D82-4BE4-AFF5-D98A02E1B147}"/>
</file>

<file path=docProps/app.xml><?xml version="1.0" encoding="utf-8"?>
<Properties xmlns="http://schemas.openxmlformats.org/officeDocument/2006/extended-properties" xmlns:vt="http://schemas.openxmlformats.org/officeDocument/2006/docPropsVTypes">
  <Template>025a PPTMaster_16by9</Template>
  <TotalTime>4189</TotalTime>
  <Words>591</Words>
  <Application>Microsoft Office PowerPoint</Application>
  <PresentationFormat>On-screen Show (16:9)</PresentationFormat>
  <Paragraphs>123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10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025a PPTMaster_16by9</vt:lpstr>
      <vt:lpstr>1_NCOPD</vt:lpstr>
      <vt:lpstr>COSEC</vt:lpstr>
      <vt:lpstr>DL</vt:lpstr>
      <vt:lpstr>HIED</vt:lpstr>
      <vt:lpstr>INTEL</vt:lpstr>
      <vt:lpstr>JPOD</vt:lpstr>
      <vt:lpstr>JTIC</vt:lpstr>
      <vt:lpstr>PROT</vt:lpstr>
      <vt:lpstr>SET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NATO School Oberammergau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 Waal, Johannes (OF-3, NLD-A)</dc:creator>
  <cp:lastModifiedBy>JWC ETI TRANSFDELIV DOCTRINE Jan BOS OF-4</cp:lastModifiedBy>
  <cp:revision>131</cp:revision>
  <cp:lastPrinted>2018-03-23T13:39:48Z</cp:lastPrinted>
  <dcterms:created xsi:type="dcterms:W3CDTF">2022-05-10T10:15:58Z</dcterms:created>
  <dcterms:modified xsi:type="dcterms:W3CDTF">2023-02-25T19:42:18Z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0x01010065B27A65603CCE4286BCFAF569B13952</vt:lpwstr>
  </property>
</Properties>
</file>